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Speaker Notes:
- Welcome team. Today we present the End-to-End Model Pruning Optimization Framework.
- Rather than viewing model pruning as a simple one-off heuristic (like naive magnitude thresholding), this architecture treats pruning as a formal constrained optimization problem.
- We balance model efficiency (FLOPs, memory, latency) against task performance constraints (accuracy, mAP) across a structured, top-down execution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Speaker Notes:
- To keep technical presentations clean, we avoid cluttering a single slide with 10 sequential flow boxes.
- Instead, the entire end-to-end framework maps to 4 modular layers: Configuration, Analysis, Optimization, and Deployment.
- Data flows top-down, with an iterative feedback loop between Optimization and Configuration whenever constraints are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Speaker Notes:
- Phase 1 defines the optimization space before running any pruning execution.
- Key Insight: Step 1 &amp; 2 do NOT fix the final pruned model structure immediately. Instead, they define a 3D Search Space = Granularity x Criterion x Target Scope.
- This formulation allows our framework to explore structured vs unstructured compression based on target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Speaker Notes:
- Phase 2 is the technical heart of the framework. It runs 3 complementary analysis engines:
  1. Dependency Analysis ensures we don't break neural network architecture (e.g. channel alignment across residual connections).
  2. Importance Analysis scores every component to decide what is least valuable.
  3. Sensitivity Analysis profiles how fragile each layer is under parameter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Speaker Notes:
- Importance estimation evaluates which parameters can be pruned with minimal task loss.
- We group criteria into 3 tiers: Weight-based (fast static), Gradient/Taylor (loss-aware dynamic), and Second-order (curvature aware like Hessian/Fisher).
- Higher-order metrics yield superior accuracy retention at ultra-high sparsity (&gt;80%).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Speaker Notes:
- Sensitivity analysis proves why equal per-layer pruning ratio is an anti-pattern in deep learning.
- First layers and final classifier heads are often highly sensitive to pruning, whereas middle feature layers contain heavy redundancy.
- Non-uniform pruning ratios derived from sensitivity curves preserve model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Speaker Notes:
- Phase 3 converts all prior analysis into a single, concrete Pruning Policy P.
- The output defines exact parameters: per-layer ratios, exact components to prune, iteration schedule, and target hardware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Speaker Notes:
- Phase 4 executes weight removal under one of 3 primary paradigms:
  1. Unstructured Pruning: maximum compression, sparse matrices.
  2. Semi-Structured N:M Pruning: optimized for NVIDIA Tensor Cores.
  3. Structured Pruning: shrinks tensor dimensions directly for immediate latency reduction on any standard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Speaker Notes:
- Never benchmark immediately after weight deletion without model recovery! Fine-tuning or distillation is essential to recover lost accuracy.
- Benchmarking must be multi-dimensional: we measure Task Accuracy, Computational FLOPs, and Real Hardware Latency/FPS.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Speaker Notes:
- Mathematically, pruning is a constrained optimization problem seeking policy P to minimize task loss subject to hardware latency &amp; accuracy bounds.
- When validation targets are satisfied, we finalize the model, export to ONNX/TensorRT, verify numerical precision, and deliver production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E5FF"/>
          </a:solidFill>
          <a:ln/>
        </p:spPr>
      </p:sp>
      <p:sp>
        <p:nvSpPr>
          <p:cNvPr id="3" name="Shape 1"/>
          <p:cNvSpPr/>
          <p:nvPr/>
        </p:nvSpPr>
        <p:spPr>
          <a:xfrm>
            <a:off x="731520" y="1097280"/>
            <a:ext cx="2926080" cy="320040"/>
          </a:xfrm>
          <a:prstGeom prst="roundRect">
            <a:avLst>
              <a:gd name="adj" fmla="val 28571"/>
            </a:avLst>
          </a:prstGeom>
          <a:solidFill>
            <a:srgbClr val="1E293B"/>
          </a:solidFill>
          <a:ln w="12700">
            <a:solidFill>
              <a:srgbClr val="00E5FF"/>
            </a:solidFill>
            <a:prstDash val="solid"/>
          </a:ln>
        </p:spPr>
      </p:sp>
      <p:sp>
        <p:nvSpPr>
          <p:cNvPr id="4" name="Text 2"/>
          <p:cNvSpPr/>
          <p:nvPr/>
        </p:nvSpPr>
        <p:spPr>
          <a:xfrm>
            <a:off x="731520" y="1097280"/>
            <a:ext cx="2926080" cy="320040"/>
          </a:xfrm>
          <a:prstGeom prst="rect">
            <a:avLst/>
          </a:prstGeom>
          <a:noFill/>
          <a:ln/>
        </p:spPr>
        <p:txBody>
          <a:bodyPr wrap="square" rtlCol="0" anchor="ctr"/>
          <a:lstStyle/>
          <a:p>
            <a:pPr algn="ctr" indent="0" marL="0">
              <a:buNone/>
            </a:pPr>
            <a:r>
              <a:rPr lang="en-US" sz="1000" b="1" dirty="0">
                <a:solidFill>
                  <a:srgbClr val="00E5FF"/>
                </a:solidFill>
                <a:latin typeface="Arial" pitchFamily="34" charset="0"/>
                <a:ea typeface="Arial" pitchFamily="34" charset="-122"/>
                <a:cs typeface="Arial" pitchFamily="34" charset="-120"/>
              </a:rPr>
              <a:t>ENGINEERING &amp; RESEARCH DECK</a:t>
            </a:r>
            <a:endParaRPr lang="en-US" sz="1000" dirty="0"/>
          </a:p>
        </p:txBody>
      </p:sp>
      <p:sp>
        <p:nvSpPr>
          <p:cNvPr id="5" name="Text 3"/>
          <p:cNvSpPr/>
          <p:nvPr/>
        </p:nvSpPr>
        <p:spPr>
          <a:xfrm>
            <a:off x="731520" y="1645920"/>
            <a:ext cx="7680960" cy="1371600"/>
          </a:xfrm>
          <a:prstGeom prst="rect">
            <a:avLst/>
          </a:prstGeom>
          <a:noFill/>
          <a:ln/>
        </p:spPr>
        <p:txBody>
          <a:bodyPr wrap="square" rtlCol="0" anchor="ctr"/>
          <a:lstStyle/>
          <a:p>
            <a:pPr indent="0" marL="0">
              <a:lnSpc>
                <a:spcPts val="4000"/>
              </a:lnSpc>
              <a:buNone/>
            </a:pPr>
            <a:r>
              <a:rPr lang="en-US" sz="3400" b="1" dirty="0">
                <a:solidFill>
                  <a:srgbClr val="F8FAFC"/>
                </a:solidFill>
                <a:latin typeface="Arial" pitchFamily="34" charset="0"/>
                <a:ea typeface="Arial" pitchFamily="34" charset="-122"/>
                <a:cs typeface="Arial" pitchFamily="34" charset="-120"/>
              </a:rPr>
              <a:t>End-to-End Model Pruning</a:t>
            </a:r>
            <a:endParaRPr lang="en-US" sz="3400" dirty="0"/>
          </a:p>
          <a:p>
            <a:pPr indent="0" marL="0">
              <a:lnSpc>
                <a:spcPts val="4000"/>
              </a:lnSpc>
              <a:buNone/>
            </a:pPr>
            <a:r>
              <a:rPr lang="en-US" sz="3400" b="1" dirty="0">
                <a:solidFill>
                  <a:srgbClr val="F8FAFC"/>
                </a:solidFill>
                <a:latin typeface="Arial" pitchFamily="34" charset="0"/>
                <a:ea typeface="Arial" pitchFamily="34" charset="-122"/>
                <a:cs typeface="Arial" pitchFamily="34" charset="-120"/>
              </a:rPr>
              <a:t>Optimization Framework</a:t>
            </a:r>
            <a:endParaRPr lang="en-US" sz="3400" dirty="0"/>
          </a:p>
        </p:txBody>
      </p:sp>
      <p:sp>
        <p:nvSpPr>
          <p:cNvPr id="6" name="Text 4"/>
          <p:cNvSpPr/>
          <p:nvPr/>
        </p:nvSpPr>
        <p:spPr>
          <a:xfrm>
            <a:off x="731520" y="3108960"/>
            <a:ext cx="7315200" cy="548640"/>
          </a:xfrm>
          <a:prstGeom prst="rect">
            <a:avLst/>
          </a:prstGeom>
          <a:noFill/>
          <a:ln/>
        </p:spPr>
        <p:txBody>
          <a:bodyPr wrap="square" rtlCol="0" anchor="ctr"/>
          <a:lstStyle/>
          <a:p>
            <a:pPr indent="0" marL="0">
              <a:buNone/>
            </a:pPr>
            <a:r>
              <a:rPr lang="en-US" sz="1500" dirty="0">
                <a:solidFill>
                  <a:srgbClr val="94A3B8"/>
                </a:solidFill>
                <a:latin typeface="Calibri" pitchFamily="34" charset="0"/>
                <a:ea typeface="Calibri" pitchFamily="34" charset="-122"/>
                <a:cs typeface="Calibri" pitchFamily="34" charset="-120"/>
              </a:rPr>
              <a:t>A Top-Down Architecture for Neural Network Compression, Sensitivity Analysis &amp; Constrained Policy Search</a:t>
            </a:r>
            <a:endParaRPr lang="en-US" sz="1500" dirty="0"/>
          </a:p>
        </p:txBody>
      </p:sp>
      <p:sp>
        <p:nvSpPr>
          <p:cNvPr id="7" name="Shape 5"/>
          <p:cNvSpPr/>
          <p:nvPr/>
        </p:nvSpPr>
        <p:spPr>
          <a:xfrm>
            <a:off x="731520" y="3794760"/>
            <a:ext cx="7680960" cy="0"/>
          </a:xfrm>
          <a:prstGeom prst="line">
            <a:avLst/>
          </a:prstGeom>
          <a:noFill/>
          <a:ln w="19050">
            <a:solidFill>
              <a:srgbClr val="2D3B59"/>
            </a:solidFill>
            <a:prstDash val="solid"/>
          </a:ln>
        </p:spPr>
      </p:sp>
      <p:sp>
        <p:nvSpPr>
          <p:cNvPr id="8" name="Text 6"/>
          <p:cNvSpPr/>
          <p:nvPr/>
        </p:nvSpPr>
        <p:spPr>
          <a:xfrm>
            <a:off x="731520" y="3977640"/>
            <a:ext cx="2468880" cy="228600"/>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APPROACH</a:t>
            </a:r>
            <a:endParaRPr lang="en-US" sz="900" dirty="0"/>
          </a:p>
        </p:txBody>
      </p:sp>
      <p:sp>
        <p:nvSpPr>
          <p:cNvPr id="9" name="Text 7"/>
          <p:cNvSpPr/>
          <p:nvPr/>
        </p:nvSpPr>
        <p:spPr>
          <a:xfrm>
            <a:off x="731520" y="4206240"/>
            <a:ext cx="2468880" cy="365760"/>
          </a:xfrm>
          <a:prstGeom prst="rect">
            <a:avLst/>
          </a:prstGeom>
          <a:noFill/>
          <a:ln/>
        </p:spPr>
        <p:txBody>
          <a:bodyPr wrap="square" rtlCol="0" anchor="ctr"/>
          <a:lstStyle/>
          <a:p>
            <a:pPr indent="0" marL="0">
              <a:buNone/>
            </a:pPr>
            <a:r>
              <a:rPr lang="en-US" sz="1200" dirty="0">
                <a:solidFill>
                  <a:srgbClr val="F8FAFC"/>
                </a:solidFill>
                <a:latin typeface="Calibri" pitchFamily="34" charset="0"/>
                <a:ea typeface="Calibri" pitchFamily="34" charset="-122"/>
                <a:cs typeface="Calibri" pitchFamily="34" charset="-120"/>
              </a:rPr>
              <a:t>Constrained Search Loop</a:t>
            </a:r>
            <a:endParaRPr lang="en-US" sz="1200" dirty="0"/>
          </a:p>
        </p:txBody>
      </p:sp>
      <p:sp>
        <p:nvSpPr>
          <p:cNvPr id="10" name="Text 8"/>
          <p:cNvSpPr/>
          <p:nvPr/>
        </p:nvSpPr>
        <p:spPr>
          <a:xfrm>
            <a:off x="3337560" y="3977640"/>
            <a:ext cx="2468880" cy="228600"/>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ANALYSIS</a:t>
            </a:r>
            <a:endParaRPr lang="en-US" sz="900" dirty="0"/>
          </a:p>
        </p:txBody>
      </p:sp>
      <p:sp>
        <p:nvSpPr>
          <p:cNvPr id="11" name="Text 9"/>
          <p:cNvSpPr/>
          <p:nvPr/>
        </p:nvSpPr>
        <p:spPr>
          <a:xfrm>
            <a:off x="3337560" y="4206240"/>
            <a:ext cx="2468880" cy="365760"/>
          </a:xfrm>
          <a:prstGeom prst="rect">
            <a:avLst/>
          </a:prstGeom>
          <a:noFill/>
          <a:ln/>
        </p:spPr>
        <p:txBody>
          <a:bodyPr wrap="square" rtlCol="0" anchor="ctr"/>
          <a:lstStyle/>
          <a:p>
            <a:pPr indent="0" marL="0">
              <a:buNone/>
            </a:pPr>
            <a:r>
              <a:rPr lang="en-US" sz="1200" dirty="0">
                <a:solidFill>
                  <a:srgbClr val="F8FAFC"/>
                </a:solidFill>
                <a:latin typeface="Calibri" pitchFamily="34" charset="0"/>
                <a:ea typeface="Calibri" pitchFamily="34" charset="-122"/>
                <a:cs typeface="Calibri" pitchFamily="34" charset="-120"/>
              </a:rPr>
              <a:t>Dependency + Importance + Sensitivity</a:t>
            </a:r>
            <a:endParaRPr lang="en-US" sz="1200" dirty="0"/>
          </a:p>
        </p:txBody>
      </p:sp>
      <p:sp>
        <p:nvSpPr>
          <p:cNvPr id="12" name="Text 10"/>
          <p:cNvSpPr/>
          <p:nvPr/>
        </p:nvSpPr>
        <p:spPr>
          <a:xfrm>
            <a:off x="5943600" y="3977640"/>
            <a:ext cx="2468880" cy="228600"/>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EXECUTION</a:t>
            </a:r>
            <a:endParaRPr lang="en-US" sz="900" dirty="0"/>
          </a:p>
        </p:txBody>
      </p:sp>
      <p:sp>
        <p:nvSpPr>
          <p:cNvPr id="13" name="Text 11"/>
          <p:cNvSpPr/>
          <p:nvPr/>
        </p:nvSpPr>
        <p:spPr>
          <a:xfrm>
            <a:off x="5943600" y="4206240"/>
            <a:ext cx="2468880" cy="365760"/>
          </a:xfrm>
          <a:prstGeom prst="rect">
            <a:avLst/>
          </a:prstGeom>
          <a:noFill/>
          <a:ln/>
        </p:spPr>
        <p:txBody>
          <a:bodyPr wrap="square" rtlCol="0" anchor="ctr"/>
          <a:lstStyle/>
          <a:p>
            <a:pPr indent="0" marL="0">
              <a:buNone/>
            </a:pPr>
            <a:r>
              <a:rPr lang="en-US" sz="1200" dirty="0">
                <a:solidFill>
                  <a:srgbClr val="F8FAFC"/>
                </a:solidFill>
                <a:latin typeface="Calibri" pitchFamily="34" charset="0"/>
                <a:ea typeface="Calibri" pitchFamily="34" charset="-122"/>
                <a:cs typeface="Calibri" pitchFamily="34" charset="-120"/>
              </a:rPr>
              <a:t>Structured / N:M / Unstructured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FRAMEWORK ARCHITECTURE</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4-Layer System Architecture Overview</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1965960" cy="2926080"/>
          </a:xfrm>
          <a:prstGeom prst="roundRect">
            <a:avLst>
              <a:gd name="adj" fmla="val 3721"/>
            </a:avLst>
          </a:prstGeom>
          <a:solidFill>
            <a:srgbClr val="161F33"/>
          </a:solidFill>
          <a:ln w="12700">
            <a:solidFill>
              <a:srgbClr val="2D3B59"/>
            </a:solidFill>
            <a:prstDash val="solid"/>
          </a:ln>
        </p:spPr>
      </p:sp>
      <p:sp>
        <p:nvSpPr>
          <p:cNvPr id="9" name="Shape 7"/>
          <p:cNvSpPr/>
          <p:nvPr/>
        </p:nvSpPr>
        <p:spPr>
          <a:xfrm>
            <a:off x="594360" y="1417320"/>
            <a:ext cx="320040" cy="320040"/>
          </a:xfrm>
          <a:prstGeom prst="rect">
            <a:avLst/>
          </a:prstGeom>
          <a:solidFill>
            <a:srgbClr val="00E5FF"/>
          </a:solidFill>
          <a:ln/>
        </p:spPr>
      </p:sp>
      <p:sp>
        <p:nvSpPr>
          <p:cNvPr id="10" name="Text 8"/>
          <p:cNvSpPr/>
          <p:nvPr/>
        </p:nvSpPr>
        <p:spPr>
          <a:xfrm>
            <a:off x="594360" y="1417320"/>
            <a:ext cx="320040" cy="320040"/>
          </a:xfrm>
          <a:prstGeom prst="rect">
            <a:avLst/>
          </a:prstGeom>
          <a:noFill/>
          <a:ln/>
        </p:spPr>
        <p:txBody>
          <a:bodyPr wrap="square" rtlCol="0" anchor="ctr"/>
          <a:lstStyle/>
          <a:p>
            <a:pPr algn="ctr" indent="0" marL="0">
              <a:buNone/>
            </a:pPr>
            <a:r>
              <a:rPr lang="en-US" sz="1200" b="1" dirty="0">
                <a:solidFill>
                  <a:srgbClr val="0B0F19"/>
                </a:solidFill>
                <a:latin typeface="Arial" pitchFamily="34" charset="0"/>
                <a:ea typeface="Arial" pitchFamily="34" charset="-122"/>
                <a:cs typeface="Arial" pitchFamily="34" charset="-120"/>
              </a:rPr>
              <a:t>01</a:t>
            </a:r>
            <a:endParaRPr lang="en-US" sz="1200" dirty="0"/>
          </a:p>
        </p:txBody>
      </p:sp>
      <p:sp>
        <p:nvSpPr>
          <p:cNvPr id="11" name="Text 9"/>
          <p:cNvSpPr/>
          <p:nvPr/>
        </p:nvSpPr>
        <p:spPr>
          <a:xfrm>
            <a:off x="594360" y="1828800"/>
            <a:ext cx="1691640" cy="411480"/>
          </a:xfrm>
          <a:prstGeom prst="rect">
            <a:avLst/>
          </a:prstGeom>
          <a:noFill/>
          <a:ln/>
        </p:spPr>
        <p:txBody>
          <a:bodyPr wrap="square" rtlCol="0" anchor="ctr"/>
          <a:lstStyle/>
          <a:p>
            <a:pPr indent="0" marL="0">
              <a:buNone/>
            </a:pPr>
            <a:r>
              <a:rPr lang="en-US" sz="1200" b="1" dirty="0">
                <a:solidFill>
                  <a:srgbClr val="F8FAFC"/>
                </a:solidFill>
                <a:latin typeface="Arial" pitchFamily="34" charset="0"/>
                <a:ea typeface="Arial" pitchFamily="34" charset="-122"/>
                <a:cs typeface="Arial" pitchFamily="34" charset="-120"/>
              </a:rPr>
              <a:t>CONFIGURATION LAYER</a:t>
            </a:r>
            <a:endParaRPr lang="en-US" sz="1200" dirty="0"/>
          </a:p>
        </p:txBody>
      </p:sp>
      <p:sp>
        <p:nvSpPr>
          <p:cNvPr id="12" name="Text 10"/>
          <p:cNvSpPr/>
          <p:nvPr/>
        </p:nvSpPr>
        <p:spPr>
          <a:xfrm>
            <a:off x="594360" y="2240280"/>
            <a:ext cx="1691640" cy="228600"/>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Input &amp; Search Space</a:t>
            </a:r>
            <a:endParaRPr lang="en-US" sz="900" dirty="0"/>
          </a:p>
        </p:txBody>
      </p:sp>
      <p:sp>
        <p:nvSpPr>
          <p:cNvPr id="13" name="Shape 11"/>
          <p:cNvSpPr/>
          <p:nvPr/>
        </p:nvSpPr>
        <p:spPr>
          <a:xfrm>
            <a:off x="594360" y="2514600"/>
            <a:ext cx="1691640" cy="0"/>
          </a:xfrm>
          <a:prstGeom prst="line">
            <a:avLst/>
          </a:prstGeom>
          <a:noFill/>
          <a:ln w="12700">
            <a:solidFill>
              <a:srgbClr val="2D3B59"/>
            </a:solidFill>
            <a:prstDash val="solid"/>
          </a:ln>
        </p:spPr>
      </p:sp>
      <p:sp>
        <p:nvSpPr>
          <p:cNvPr id="14" name="Text 12"/>
          <p:cNvSpPr/>
          <p:nvPr/>
        </p:nvSpPr>
        <p:spPr>
          <a:xfrm>
            <a:off x="594360" y="2606040"/>
            <a:ext cx="1691640" cy="1417320"/>
          </a:xfrm>
          <a:prstGeom prst="rect">
            <a:avLst/>
          </a:prstGeom>
          <a:noFill/>
          <a:ln/>
        </p:spPr>
        <p:txBody>
          <a:bodyPr wrap="square" rtlCol="0" anchor="ctr"/>
          <a:lstStyle/>
          <a:p>
            <a:pPr indent="0" marL="0">
              <a:lnSpc>
                <a:spcPts val="1400"/>
              </a:lnSpc>
              <a:buNone/>
            </a:pPr>
            <a:r>
              <a:rPr lang="en-US" sz="1000" dirty="0">
                <a:solidFill>
                  <a:srgbClr val="94A3B8"/>
                </a:solidFill>
                <a:latin typeface="Calibri" pitchFamily="34" charset="0"/>
                <a:ea typeface="Calibri" pitchFamily="34" charset="-122"/>
                <a:cs typeface="Calibri" pitchFamily="34" charset="-120"/>
              </a:rPr>
              <a:t>Defines dense model weights, task dataset, target accuracy/latency constraints, and the 3D search space (Granularity × Criterion × Scope).</a:t>
            </a:r>
            <a:endParaRPr lang="en-US" sz="1000" dirty="0"/>
          </a:p>
        </p:txBody>
      </p:sp>
      <p:sp>
        <p:nvSpPr>
          <p:cNvPr id="15" name="Shape 13"/>
          <p:cNvSpPr/>
          <p:nvPr/>
        </p:nvSpPr>
        <p:spPr>
          <a:xfrm>
            <a:off x="2514600" y="1234440"/>
            <a:ext cx="1965960" cy="2926080"/>
          </a:xfrm>
          <a:prstGeom prst="roundRect">
            <a:avLst>
              <a:gd name="adj" fmla="val 3721"/>
            </a:avLst>
          </a:prstGeom>
          <a:solidFill>
            <a:srgbClr val="161F33"/>
          </a:solidFill>
          <a:ln w="12700">
            <a:solidFill>
              <a:srgbClr val="2D3B59"/>
            </a:solidFill>
            <a:prstDash val="solid"/>
          </a:ln>
        </p:spPr>
      </p:sp>
      <p:sp>
        <p:nvSpPr>
          <p:cNvPr id="16" name="Shape 14"/>
          <p:cNvSpPr/>
          <p:nvPr/>
        </p:nvSpPr>
        <p:spPr>
          <a:xfrm>
            <a:off x="2651760" y="1417320"/>
            <a:ext cx="320040" cy="320040"/>
          </a:xfrm>
          <a:prstGeom prst="rect">
            <a:avLst/>
          </a:prstGeom>
          <a:solidFill>
            <a:srgbClr val="A855F7"/>
          </a:solidFill>
          <a:ln/>
        </p:spPr>
      </p:sp>
      <p:sp>
        <p:nvSpPr>
          <p:cNvPr id="17" name="Text 15"/>
          <p:cNvSpPr/>
          <p:nvPr/>
        </p:nvSpPr>
        <p:spPr>
          <a:xfrm>
            <a:off x="2651760" y="1417320"/>
            <a:ext cx="320040" cy="320040"/>
          </a:xfrm>
          <a:prstGeom prst="rect">
            <a:avLst/>
          </a:prstGeom>
          <a:noFill/>
          <a:ln/>
        </p:spPr>
        <p:txBody>
          <a:bodyPr wrap="square" rtlCol="0" anchor="ctr"/>
          <a:lstStyle/>
          <a:p>
            <a:pPr algn="ctr" indent="0" marL="0">
              <a:buNone/>
            </a:pPr>
            <a:r>
              <a:rPr lang="en-US" sz="1200" b="1" dirty="0">
                <a:solidFill>
                  <a:srgbClr val="0B0F19"/>
                </a:solidFill>
                <a:latin typeface="Arial" pitchFamily="34" charset="0"/>
                <a:ea typeface="Arial" pitchFamily="34" charset="-122"/>
                <a:cs typeface="Arial" pitchFamily="34" charset="-120"/>
              </a:rPr>
              <a:t>02</a:t>
            </a:r>
            <a:endParaRPr lang="en-US" sz="1200" dirty="0"/>
          </a:p>
        </p:txBody>
      </p:sp>
      <p:sp>
        <p:nvSpPr>
          <p:cNvPr id="18" name="Text 16"/>
          <p:cNvSpPr/>
          <p:nvPr/>
        </p:nvSpPr>
        <p:spPr>
          <a:xfrm>
            <a:off x="2651760" y="1828800"/>
            <a:ext cx="1691640" cy="411480"/>
          </a:xfrm>
          <a:prstGeom prst="rect">
            <a:avLst/>
          </a:prstGeom>
          <a:noFill/>
          <a:ln/>
        </p:spPr>
        <p:txBody>
          <a:bodyPr wrap="square" rtlCol="0" anchor="ctr"/>
          <a:lstStyle/>
          <a:p>
            <a:pPr indent="0" marL="0">
              <a:buNone/>
            </a:pPr>
            <a:r>
              <a:rPr lang="en-US" sz="1200" b="1" dirty="0">
                <a:solidFill>
                  <a:srgbClr val="F8FAFC"/>
                </a:solidFill>
                <a:latin typeface="Arial" pitchFamily="34" charset="0"/>
                <a:ea typeface="Arial" pitchFamily="34" charset="-122"/>
                <a:cs typeface="Arial" pitchFamily="34" charset="-120"/>
              </a:rPr>
              <a:t>MODEL ANALYSIS ENGINE</a:t>
            </a:r>
            <a:endParaRPr lang="en-US" sz="1200" dirty="0"/>
          </a:p>
        </p:txBody>
      </p:sp>
      <p:sp>
        <p:nvSpPr>
          <p:cNvPr id="19" name="Text 17"/>
          <p:cNvSpPr/>
          <p:nvPr/>
        </p:nvSpPr>
        <p:spPr>
          <a:xfrm>
            <a:off x="2651760" y="2240280"/>
            <a:ext cx="1691640" cy="228600"/>
          </a:xfrm>
          <a:prstGeom prst="rect">
            <a:avLst/>
          </a:prstGeom>
          <a:noFill/>
          <a:ln/>
        </p:spPr>
        <p:txBody>
          <a:bodyPr wrap="square" rtlCol="0" anchor="ctr"/>
          <a:lstStyle/>
          <a:p>
            <a:pPr indent="0" marL="0">
              <a:buNone/>
            </a:pPr>
            <a:r>
              <a:rPr lang="en-US" sz="900" b="1" dirty="0">
                <a:solidFill>
                  <a:srgbClr val="A855F7"/>
                </a:solidFill>
                <a:latin typeface="Arial" pitchFamily="34" charset="0"/>
                <a:ea typeface="Arial" pitchFamily="34" charset="-122"/>
                <a:cs typeface="Arial" pitchFamily="34" charset="-120"/>
              </a:rPr>
              <a:t>Structural Intelligence</a:t>
            </a:r>
            <a:endParaRPr lang="en-US" sz="900" dirty="0"/>
          </a:p>
        </p:txBody>
      </p:sp>
      <p:sp>
        <p:nvSpPr>
          <p:cNvPr id="20" name="Shape 18"/>
          <p:cNvSpPr/>
          <p:nvPr/>
        </p:nvSpPr>
        <p:spPr>
          <a:xfrm>
            <a:off x="2651760" y="2514600"/>
            <a:ext cx="1691640" cy="0"/>
          </a:xfrm>
          <a:prstGeom prst="line">
            <a:avLst/>
          </a:prstGeom>
          <a:noFill/>
          <a:ln w="12700">
            <a:solidFill>
              <a:srgbClr val="2D3B59"/>
            </a:solidFill>
            <a:prstDash val="solid"/>
          </a:ln>
        </p:spPr>
      </p:sp>
      <p:sp>
        <p:nvSpPr>
          <p:cNvPr id="21" name="Text 19"/>
          <p:cNvSpPr/>
          <p:nvPr/>
        </p:nvSpPr>
        <p:spPr>
          <a:xfrm>
            <a:off x="2651760" y="2606040"/>
            <a:ext cx="1691640" cy="1417320"/>
          </a:xfrm>
          <a:prstGeom prst="rect">
            <a:avLst/>
          </a:prstGeom>
          <a:noFill/>
          <a:ln/>
        </p:spPr>
        <p:txBody>
          <a:bodyPr wrap="square" rtlCol="0" anchor="ctr"/>
          <a:lstStyle/>
          <a:p>
            <a:pPr indent="0" marL="0">
              <a:lnSpc>
                <a:spcPts val="1400"/>
              </a:lnSpc>
              <a:buNone/>
            </a:pPr>
            <a:r>
              <a:rPr lang="en-US" sz="1000" dirty="0">
                <a:solidFill>
                  <a:srgbClr val="94A3B8"/>
                </a:solidFill>
                <a:latin typeface="Calibri" pitchFamily="34" charset="0"/>
                <a:ea typeface="Calibri" pitchFamily="34" charset="-122"/>
                <a:cs typeface="Calibri" pitchFamily="34" charset="-120"/>
              </a:rPr>
              <a:t>Executes parallel Dependency Graph Analysis, Importance Scoring (L1/Taylor/Fisher), and Layer Sensitivity Probing.</a:t>
            </a:r>
            <a:endParaRPr lang="en-US" sz="1000" dirty="0"/>
          </a:p>
        </p:txBody>
      </p:sp>
      <p:sp>
        <p:nvSpPr>
          <p:cNvPr id="22" name="Shape 20"/>
          <p:cNvSpPr/>
          <p:nvPr/>
        </p:nvSpPr>
        <p:spPr>
          <a:xfrm>
            <a:off x="4572000" y="1234440"/>
            <a:ext cx="1965960" cy="2926080"/>
          </a:xfrm>
          <a:prstGeom prst="roundRect">
            <a:avLst>
              <a:gd name="adj" fmla="val 3721"/>
            </a:avLst>
          </a:prstGeom>
          <a:solidFill>
            <a:srgbClr val="161F33"/>
          </a:solidFill>
          <a:ln w="12700">
            <a:solidFill>
              <a:srgbClr val="2D3B59"/>
            </a:solidFill>
            <a:prstDash val="solid"/>
          </a:ln>
        </p:spPr>
      </p:sp>
      <p:sp>
        <p:nvSpPr>
          <p:cNvPr id="23" name="Shape 21"/>
          <p:cNvSpPr/>
          <p:nvPr/>
        </p:nvSpPr>
        <p:spPr>
          <a:xfrm>
            <a:off x="4709160" y="1417320"/>
            <a:ext cx="320040" cy="320040"/>
          </a:xfrm>
          <a:prstGeom prst="rect">
            <a:avLst/>
          </a:prstGeom>
          <a:solidFill>
            <a:srgbClr val="10B981"/>
          </a:solidFill>
          <a:ln/>
        </p:spPr>
      </p:sp>
      <p:sp>
        <p:nvSpPr>
          <p:cNvPr id="24" name="Text 22"/>
          <p:cNvSpPr/>
          <p:nvPr/>
        </p:nvSpPr>
        <p:spPr>
          <a:xfrm>
            <a:off x="4709160" y="1417320"/>
            <a:ext cx="320040" cy="320040"/>
          </a:xfrm>
          <a:prstGeom prst="rect">
            <a:avLst/>
          </a:prstGeom>
          <a:noFill/>
          <a:ln/>
        </p:spPr>
        <p:txBody>
          <a:bodyPr wrap="square" rtlCol="0" anchor="ctr"/>
          <a:lstStyle/>
          <a:p>
            <a:pPr algn="ctr" indent="0" marL="0">
              <a:buNone/>
            </a:pPr>
            <a:r>
              <a:rPr lang="en-US" sz="1200" b="1" dirty="0">
                <a:solidFill>
                  <a:srgbClr val="0B0F19"/>
                </a:solidFill>
                <a:latin typeface="Arial" pitchFamily="34" charset="0"/>
                <a:ea typeface="Arial" pitchFamily="34" charset="-122"/>
                <a:cs typeface="Arial" pitchFamily="34" charset="-120"/>
              </a:rPr>
              <a:t>03</a:t>
            </a:r>
            <a:endParaRPr lang="en-US" sz="1200" dirty="0"/>
          </a:p>
        </p:txBody>
      </p:sp>
      <p:sp>
        <p:nvSpPr>
          <p:cNvPr id="25" name="Text 23"/>
          <p:cNvSpPr/>
          <p:nvPr/>
        </p:nvSpPr>
        <p:spPr>
          <a:xfrm>
            <a:off x="4709160" y="1828800"/>
            <a:ext cx="1691640" cy="411480"/>
          </a:xfrm>
          <a:prstGeom prst="rect">
            <a:avLst/>
          </a:prstGeom>
          <a:noFill/>
          <a:ln/>
        </p:spPr>
        <p:txBody>
          <a:bodyPr wrap="square" rtlCol="0" anchor="ctr"/>
          <a:lstStyle/>
          <a:p>
            <a:pPr indent="0" marL="0">
              <a:buNone/>
            </a:pPr>
            <a:r>
              <a:rPr lang="en-US" sz="1200" b="1" dirty="0">
                <a:solidFill>
                  <a:srgbClr val="F8FAFC"/>
                </a:solidFill>
                <a:latin typeface="Arial" pitchFamily="34" charset="0"/>
                <a:ea typeface="Arial" pitchFamily="34" charset="-122"/>
                <a:cs typeface="Arial" pitchFamily="34" charset="-120"/>
              </a:rPr>
              <a:t>PRUNING OPTIMIZER LOOP</a:t>
            </a:r>
            <a:endParaRPr lang="en-US" sz="1200" dirty="0"/>
          </a:p>
        </p:txBody>
      </p:sp>
      <p:sp>
        <p:nvSpPr>
          <p:cNvPr id="26" name="Text 24"/>
          <p:cNvSpPr/>
          <p:nvPr/>
        </p:nvSpPr>
        <p:spPr>
          <a:xfrm>
            <a:off x="4709160" y="2240280"/>
            <a:ext cx="1691640" cy="22860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Policy Execution &amp; Recovery</a:t>
            </a:r>
            <a:endParaRPr lang="en-US" sz="900" dirty="0"/>
          </a:p>
        </p:txBody>
      </p:sp>
      <p:sp>
        <p:nvSpPr>
          <p:cNvPr id="27" name="Shape 25"/>
          <p:cNvSpPr/>
          <p:nvPr/>
        </p:nvSpPr>
        <p:spPr>
          <a:xfrm>
            <a:off x="4709160" y="2514600"/>
            <a:ext cx="1691640" cy="0"/>
          </a:xfrm>
          <a:prstGeom prst="line">
            <a:avLst/>
          </a:prstGeom>
          <a:noFill/>
          <a:ln w="12700">
            <a:solidFill>
              <a:srgbClr val="2D3B59"/>
            </a:solidFill>
            <a:prstDash val="solid"/>
          </a:ln>
        </p:spPr>
      </p:sp>
      <p:sp>
        <p:nvSpPr>
          <p:cNvPr id="28" name="Text 26"/>
          <p:cNvSpPr/>
          <p:nvPr/>
        </p:nvSpPr>
        <p:spPr>
          <a:xfrm>
            <a:off x="4709160" y="2606040"/>
            <a:ext cx="1691640" cy="1417320"/>
          </a:xfrm>
          <a:prstGeom prst="rect">
            <a:avLst/>
          </a:prstGeom>
          <a:noFill/>
          <a:ln/>
        </p:spPr>
        <p:txBody>
          <a:bodyPr wrap="square" rtlCol="0" anchor="ctr"/>
          <a:lstStyle/>
          <a:p>
            <a:pPr indent="0" marL="0">
              <a:lnSpc>
                <a:spcPts val="1400"/>
              </a:lnSpc>
              <a:buNone/>
            </a:pPr>
            <a:r>
              <a:rPr lang="en-US" sz="1000" dirty="0">
                <a:solidFill>
                  <a:srgbClr val="94A3B8"/>
                </a:solidFill>
                <a:latin typeface="Calibri" pitchFamily="34" charset="0"/>
                <a:ea typeface="Calibri" pitchFamily="34" charset="-122"/>
                <a:cs typeface="Calibri" pitchFamily="34" charset="-120"/>
              </a:rPr>
              <a:t>Formulates actionable Pruning Policy, applies weight/channel removal, recovers via Fine-Tuning/Distillation, &amp; benchmarks constraints.</a:t>
            </a:r>
            <a:endParaRPr lang="en-US" sz="1000" dirty="0"/>
          </a:p>
        </p:txBody>
      </p:sp>
      <p:sp>
        <p:nvSpPr>
          <p:cNvPr id="29" name="Shape 27"/>
          <p:cNvSpPr/>
          <p:nvPr/>
        </p:nvSpPr>
        <p:spPr>
          <a:xfrm>
            <a:off x="6629400" y="1234440"/>
            <a:ext cx="1965960" cy="2926080"/>
          </a:xfrm>
          <a:prstGeom prst="roundRect">
            <a:avLst>
              <a:gd name="adj" fmla="val 3721"/>
            </a:avLst>
          </a:prstGeom>
          <a:solidFill>
            <a:srgbClr val="161F33"/>
          </a:solidFill>
          <a:ln w="12700">
            <a:solidFill>
              <a:srgbClr val="2D3B59"/>
            </a:solidFill>
            <a:prstDash val="solid"/>
          </a:ln>
        </p:spPr>
      </p:sp>
      <p:sp>
        <p:nvSpPr>
          <p:cNvPr id="30" name="Shape 28"/>
          <p:cNvSpPr/>
          <p:nvPr/>
        </p:nvSpPr>
        <p:spPr>
          <a:xfrm>
            <a:off x="6766560" y="1417320"/>
            <a:ext cx="320040" cy="320040"/>
          </a:xfrm>
          <a:prstGeom prst="rect">
            <a:avLst/>
          </a:prstGeom>
          <a:solidFill>
            <a:srgbClr val="F59E0B"/>
          </a:solidFill>
          <a:ln/>
        </p:spPr>
      </p:sp>
      <p:sp>
        <p:nvSpPr>
          <p:cNvPr id="31" name="Text 29"/>
          <p:cNvSpPr/>
          <p:nvPr/>
        </p:nvSpPr>
        <p:spPr>
          <a:xfrm>
            <a:off x="6766560" y="1417320"/>
            <a:ext cx="320040" cy="320040"/>
          </a:xfrm>
          <a:prstGeom prst="rect">
            <a:avLst/>
          </a:prstGeom>
          <a:noFill/>
          <a:ln/>
        </p:spPr>
        <p:txBody>
          <a:bodyPr wrap="square" rtlCol="0" anchor="ctr"/>
          <a:lstStyle/>
          <a:p>
            <a:pPr algn="ctr" indent="0" marL="0">
              <a:buNone/>
            </a:pPr>
            <a:r>
              <a:rPr lang="en-US" sz="1200" b="1" dirty="0">
                <a:solidFill>
                  <a:srgbClr val="0B0F19"/>
                </a:solidFill>
                <a:latin typeface="Arial" pitchFamily="34" charset="0"/>
                <a:ea typeface="Arial" pitchFamily="34" charset="-122"/>
                <a:cs typeface="Arial" pitchFamily="34" charset="-120"/>
              </a:rPr>
              <a:t>04</a:t>
            </a:r>
            <a:endParaRPr lang="en-US" sz="1200" dirty="0"/>
          </a:p>
        </p:txBody>
      </p:sp>
      <p:sp>
        <p:nvSpPr>
          <p:cNvPr id="32" name="Text 30"/>
          <p:cNvSpPr/>
          <p:nvPr/>
        </p:nvSpPr>
        <p:spPr>
          <a:xfrm>
            <a:off x="6766560" y="1828800"/>
            <a:ext cx="1691640" cy="411480"/>
          </a:xfrm>
          <a:prstGeom prst="rect">
            <a:avLst/>
          </a:prstGeom>
          <a:noFill/>
          <a:ln/>
        </p:spPr>
        <p:txBody>
          <a:bodyPr wrap="square" rtlCol="0" anchor="ctr"/>
          <a:lstStyle/>
          <a:p>
            <a:pPr indent="0" marL="0">
              <a:buNone/>
            </a:pPr>
            <a:r>
              <a:rPr lang="en-US" sz="1200" b="1" dirty="0">
                <a:solidFill>
                  <a:srgbClr val="F8FAFC"/>
                </a:solidFill>
                <a:latin typeface="Arial" pitchFamily="34" charset="0"/>
                <a:ea typeface="Arial" pitchFamily="34" charset="-122"/>
                <a:cs typeface="Arial" pitchFamily="34" charset="-120"/>
              </a:rPr>
              <a:t>DEPLOYMENT LAYER</a:t>
            </a:r>
            <a:endParaRPr lang="en-US" sz="1200" dirty="0"/>
          </a:p>
        </p:txBody>
      </p:sp>
      <p:sp>
        <p:nvSpPr>
          <p:cNvPr id="33" name="Text 31"/>
          <p:cNvSpPr/>
          <p:nvPr/>
        </p:nvSpPr>
        <p:spPr>
          <a:xfrm>
            <a:off x="6766560" y="2240280"/>
            <a:ext cx="169164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Finalization &amp; Export</a:t>
            </a:r>
            <a:endParaRPr lang="en-US" sz="900" dirty="0"/>
          </a:p>
        </p:txBody>
      </p:sp>
      <p:sp>
        <p:nvSpPr>
          <p:cNvPr id="34" name="Shape 32"/>
          <p:cNvSpPr/>
          <p:nvPr/>
        </p:nvSpPr>
        <p:spPr>
          <a:xfrm>
            <a:off x="6766560" y="2514600"/>
            <a:ext cx="1691640" cy="0"/>
          </a:xfrm>
          <a:prstGeom prst="line">
            <a:avLst/>
          </a:prstGeom>
          <a:noFill/>
          <a:ln w="12700">
            <a:solidFill>
              <a:srgbClr val="2D3B59"/>
            </a:solidFill>
            <a:prstDash val="solid"/>
          </a:ln>
        </p:spPr>
      </p:sp>
      <p:sp>
        <p:nvSpPr>
          <p:cNvPr id="35" name="Text 33"/>
          <p:cNvSpPr/>
          <p:nvPr/>
        </p:nvSpPr>
        <p:spPr>
          <a:xfrm>
            <a:off x="6766560" y="2606040"/>
            <a:ext cx="1691640" cy="1417320"/>
          </a:xfrm>
          <a:prstGeom prst="rect">
            <a:avLst/>
          </a:prstGeom>
          <a:noFill/>
          <a:ln/>
        </p:spPr>
        <p:txBody>
          <a:bodyPr wrap="square" rtlCol="0" anchor="ctr"/>
          <a:lstStyle/>
          <a:p>
            <a:pPr indent="0" marL="0">
              <a:lnSpc>
                <a:spcPts val="1400"/>
              </a:lnSpc>
              <a:buNone/>
            </a:pPr>
            <a:r>
              <a:rPr lang="en-US" sz="1000" dirty="0">
                <a:solidFill>
                  <a:srgbClr val="94A3B8"/>
                </a:solidFill>
                <a:latin typeface="Calibri" pitchFamily="34" charset="0"/>
                <a:ea typeface="Calibri" pitchFamily="34" charset="-122"/>
                <a:cs typeface="Calibri" pitchFamily="34" charset="-120"/>
              </a:rPr>
              <a:t>Validates numerical/structural integrity, exports optimized graph (ONNX/TensorRT), and deploys to target edge/server runtime.</a:t>
            </a:r>
            <a:endParaRPr lang="en-US" sz="1000" dirty="0"/>
          </a:p>
        </p:txBody>
      </p:sp>
      <p:sp>
        <p:nvSpPr>
          <p:cNvPr id="36" name="Shape 34"/>
          <p:cNvSpPr/>
          <p:nvPr/>
        </p:nvSpPr>
        <p:spPr>
          <a:xfrm>
            <a:off x="457200" y="4251960"/>
            <a:ext cx="8229600" cy="411480"/>
          </a:xfrm>
          <a:prstGeom prst="roundRect">
            <a:avLst>
              <a:gd name="adj" fmla="val 11111"/>
            </a:avLst>
          </a:prstGeom>
          <a:solidFill>
            <a:srgbClr val="131C2E"/>
          </a:solidFill>
          <a:ln w="12700">
            <a:solidFill>
              <a:srgbClr val="00E5FF"/>
            </a:solidFill>
            <a:prstDash val="solid"/>
          </a:ln>
        </p:spPr>
      </p:sp>
      <p:sp>
        <p:nvSpPr>
          <p:cNvPr id="37" name="Text 35"/>
          <p:cNvSpPr/>
          <p:nvPr/>
        </p:nvSpPr>
        <p:spPr>
          <a:xfrm>
            <a:off x="548640" y="4251960"/>
            <a:ext cx="8046720" cy="411480"/>
          </a:xfrm>
          <a:prstGeom prst="rect">
            <a:avLst/>
          </a:prstGeom>
          <a:noFill/>
          <a:ln/>
        </p:spPr>
        <p:txBody>
          <a:bodyPr wrap="square" rtlCol="0" anchor="ctr"/>
          <a:lstStyle/>
          <a:p>
            <a:pPr algn="ctr" indent="0" marL="0">
              <a:buNone/>
            </a:pPr>
            <a:r>
              <a:rPr lang="en-US" sz="1000" b="1" dirty="0">
                <a:solidFill>
                  <a:srgbClr val="00E5FF"/>
                </a:solidFill>
                <a:latin typeface="Calibri" pitchFamily="34" charset="0"/>
                <a:ea typeface="Calibri" pitchFamily="34" charset="-122"/>
                <a:cs typeface="Calibri" pitchFamily="34" charset="-120"/>
              </a:rPr>
              <a:t>KEY TAKEAWAY: The framework searches for an optimal pruning policy that maximizes model efficiency while strictly satisfying accuracy and deployment constraints.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SEARCH SPACE DEFINITION</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1: Input &amp; Pruning Search Space</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2743200" cy="3429000"/>
          </a:xfrm>
          <a:prstGeom prst="roundRect">
            <a:avLst>
              <a:gd name="adj" fmla="val 2667"/>
            </a:avLst>
          </a:prstGeom>
          <a:solidFill>
            <a:srgbClr val="161F33"/>
          </a:solidFill>
          <a:ln w="12700">
            <a:solidFill>
              <a:srgbClr val="2D3B59"/>
            </a:solidFill>
            <a:prstDash val="solid"/>
          </a:ln>
        </p:spPr>
      </p:sp>
      <p:sp>
        <p:nvSpPr>
          <p:cNvPr id="9" name="Text 7"/>
          <p:cNvSpPr/>
          <p:nvPr/>
        </p:nvSpPr>
        <p:spPr>
          <a:xfrm>
            <a:off x="640080" y="1371600"/>
            <a:ext cx="2377440" cy="274320"/>
          </a:xfrm>
          <a:prstGeom prst="rect">
            <a:avLst/>
          </a:prstGeom>
          <a:noFill/>
          <a:ln/>
        </p:spPr>
        <p:txBody>
          <a:bodyPr wrap="square" rtlCol="0" anchor="ctr"/>
          <a:lstStyle/>
          <a:p>
            <a:pPr indent="0" marL="0">
              <a:buNone/>
            </a:pPr>
            <a:r>
              <a:rPr lang="en-US" sz="1200" b="1" dirty="0">
                <a:solidFill>
                  <a:srgbClr val="00E5FF"/>
                </a:solidFill>
                <a:latin typeface="Arial" pitchFamily="34" charset="0"/>
                <a:ea typeface="Arial" pitchFamily="34" charset="-122"/>
                <a:cs typeface="Arial" pitchFamily="34" charset="-120"/>
              </a:rPr>
              <a:t>INPUT &amp; CONSTRAINTS</a:t>
            </a:r>
            <a:endParaRPr lang="en-US" sz="1200" dirty="0"/>
          </a:p>
        </p:txBody>
      </p:sp>
      <p:sp>
        <p:nvSpPr>
          <p:cNvPr id="10" name="Text 8"/>
          <p:cNvSpPr/>
          <p:nvPr/>
        </p:nvSpPr>
        <p:spPr>
          <a:xfrm>
            <a:off x="640080" y="1737360"/>
            <a:ext cx="237744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Model Artifacts</a:t>
            </a:r>
            <a:endParaRPr lang="en-US" sz="1100" dirty="0"/>
          </a:p>
        </p:txBody>
      </p:sp>
      <p:sp>
        <p:nvSpPr>
          <p:cNvPr id="11" name="Text 9"/>
          <p:cNvSpPr/>
          <p:nvPr/>
        </p:nvSpPr>
        <p:spPr>
          <a:xfrm>
            <a:off x="777240" y="1938528"/>
            <a:ext cx="224028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Pre-trained / dense model weights &amp; architecture graph.</a:t>
            </a:r>
            <a:endParaRPr lang="en-US" sz="950" dirty="0"/>
          </a:p>
        </p:txBody>
      </p:sp>
      <p:sp>
        <p:nvSpPr>
          <p:cNvPr id="12" name="Text 10"/>
          <p:cNvSpPr/>
          <p:nvPr/>
        </p:nvSpPr>
        <p:spPr>
          <a:xfrm>
            <a:off x="640080" y="2423160"/>
            <a:ext cx="237744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Dataset &amp; Task</a:t>
            </a:r>
            <a:endParaRPr lang="en-US" sz="1100" dirty="0"/>
          </a:p>
        </p:txBody>
      </p:sp>
      <p:sp>
        <p:nvSpPr>
          <p:cNvPr id="13" name="Text 11"/>
          <p:cNvSpPr/>
          <p:nvPr/>
        </p:nvSpPr>
        <p:spPr>
          <a:xfrm>
            <a:off x="777240" y="2624328"/>
            <a:ext cx="224028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Validation dataset, task type (Classification, Detection, LLM).</a:t>
            </a:r>
            <a:endParaRPr lang="en-US" sz="950" dirty="0"/>
          </a:p>
        </p:txBody>
      </p:sp>
      <p:sp>
        <p:nvSpPr>
          <p:cNvPr id="14" name="Text 12"/>
          <p:cNvSpPr/>
          <p:nvPr/>
        </p:nvSpPr>
        <p:spPr>
          <a:xfrm>
            <a:off x="640080" y="3108960"/>
            <a:ext cx="237744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Performance Targets</a:t>
            </a:r>
            <a:endParaRPr lang="en-US" sz="1100" dirty="0"/>
          </a:p>
        </p:txBody>
      </p:sp>
      <p:sp>
        <p:nvSpPr>
          <p:cNvPr id="15" name="Text 13"/>
          <p:cNvSpPr/>
          <p:nvPr/>
        </p:nvSpPr>
        <p:spPr>
          <a:xfrm>
            <a:off x="777240" y="3310128"/>
            <a:ext cx="224028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Min Accuracy / mAP threshold, Target Sparsity (e.g. 50%).</a:t>
            </a:r>
            <a:endParaRPr lang="en-US" sz="950" dirty="0"/>
          </a:p>
        </p:txBody>
      </p:sp>
      <p:sp>
        <p:nvSpPr>
          <p:cNvPr id="16" name="Text 14"/>
          <p:cNvSpPr/>
          <p:nvPr/>
        </p:nvSpPr>
        <p:spPr>
          <a:xfrm>
            <a:off x="640080" y="3794760"/>
            <a:ext cx="237744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Hardware Constraints</a:t>
            </a:r>
            <a:endParaRPr lang="en-US" sz="1100" dirty="0"/>
          </a:p>
        </p:txBody>
      </p:sp>
      <p:sp>
        <p:nvSpPr>
          <p:cNvPr id="17" name="Text 15"/>
          <p:cNvSpPr/>
          <p:nvPr/>
        </p:nvSpPr>
        <p:spPr>
          <a:xfrm>
            <a:off x="777240" y="3995928"/>
            <a:ext cx="224028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Max Latency (ms), FPS, Peak VRAM, Memory Bandwidth.</a:t>
            </a:r>
            <a:endParaRPr lang="en-US" sz="950" dirty="0"/>
          </a:p>
        </p:txBody>
      </p:sp>
      <p:sp>
        <p:nvSpPr>
          <p:cNvPr id="18" name="Shape 16"/>
          <p:cNvSpPr/>
          <p:nvPr/>
        </p:nvSpPr>
        <p:spPr>
          <a:xfrm>
            <a:off x="3383280" y="1234440"/>
            <a:ext cx="5303520" cy="3429000"/>
          </a:xfrm>
          <a:prstGeom prst="roundRect">
            <a:avLst>
              <a:gd name="adj" fmla="val 2133"/>
            </a:avLst>
          </a:prstGeom>
          <a:solidFill>
            <a:srgbClr val="161F33"/>
          </a:solidFill>
          <a:ln w="12700">
            <a:solidFill>
              <a:srgbClr val="2D3B59"/>
            </a:solidFill>
            <a:prstDash val="solid"/>
          </a:ln>
        </p:spPr>
      </p:sp>
      <p:sp>
        <p:nvSpPr>
          <p:cNvPr id="19" name="Text 17"/>
          <p:cNvSpPr/>
          <p:nvPr/>
        </p:nvSpPr>
        <p:spPr>
          <a:xfrm>
            <a:off x="3566160" y="1371600"/>
            <a:ext cx="4937760" cy="274320"/>
          </a:xfrm>
          <a:prstGeom prst="rect">
            <a:avLst/>
          </a:prstGeom>
          <a:noFill/>
          <a:ln/>
        </p:spPr>
        <p:txBody>
          <a:bodyPr wrap="square" rtlCol="0" anchor="ctr"/>
          <a:lstStyle/>
          <a:p>
            <a:pPr indent="0" marL="0">
              <a:buNone/>
            </a:pPr>
            <a:r>
              <a:rPr lang="en-US" sz="1200" b="1" dirty="0">
                <a:solidFill>
                  <a:srgbClr val="00E5FF"/>
                </a:solidFill>
                <a:latin typeface="Arial" pitchFamily="34" charset="0"/>
                <a:ea typeface="Arial" pitchFamily="34" charset="-122"/>
                <a:cs typeface="Arial" pitchFamily="34" charset="-120"/>
              </a:rPr>
              <a:t>PRUNING SEARCH SPACE FORMULATION</a:t>
            </a:r>
            <a:endParaRPr lang="en-US" sz="1200" dirty="0"/>
          </a:p>
        </p:txBody>
      </p:sp>
      <p:sp>
        <p:nvSpPr>
          <p:cNvPr id="20" name="Shape 18"/>
          <p:cNvSpPr/>
          <p:nvPr/>
        </p:nvSpPr>
        <p:spPr>
          <a:xfrm>
            <a:off x="3566160" y="1691640"/>
            <a:ext cx="4937760" cy="347472"/>
          </a:xfrm>
          <a:prstGeom prst="rect">
            <a:avLst/>
          </a:prstGeom>
          <a:solidFill>
            <a:srgbClr val="0F172A"/>
          </a:solidFill>
          <a:ln w="12700">
            <a:solidFill>
              <a:srgbClr val="2D3B59"/>
            </a:solidFill>
            <a:prstDash val="solid"/>
          </a:ln>
        </p:spPr>
      </p:sp>
      <p:sp>
        <p:nvSpPr>
          <p:cNvPr id="21" name="Text 19"/>
          <p:cNvSpPr/>
          <p:nvPr/>
        </p:nvSpPr>
        <p:spPr>
          <a:xfrm>
            <a:off x="3566160" y="1691640"/>
            <a:ext cx="4937760" cy="347472"/>
          </a:xfrm>
          <a:prstGeom prst="rect">
            <a:avLst/>
          </a:prstGeom>
          <a:noFill/>
          <a:ln/>
        </p:spPr>
        <p:txBody>
          <a:bodyPr wrap="square"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Search Space  =  Granularity  ×  Importance Criterion  ×  Target Scope</a:t>
            </a:r>
            <a:endParaRPr lang="en-US" sz="1000" dirty="0"/>
          </a:p>
        </p:txBody>
      </p:sp>
      <p:sp>
        <p:nvSpPr>
          <p:cNvPr id="22" name="Shape 20"/>
          <p:cNvSpPr/>
          <p:nvPr/>
        </p:nvSpPr>
        <p:spPr>
          <a:xfrm>
            <a:off x="3566160" y="2148840"/>
            <a:ext cx="4937760" cy="731520"/>
          </a:xfrm>
          <a:prstGeom prst="roundRect">
            <a:avLst>
              <a:gd name="adj" fmla="val 6250"/>
            </a:avLst>
          </a:prstGeom>
          <a:solidFill>
            <a:srgbClr val="1E293B"/>
          </a:solidFill>
          <a:ln w="12700">
            <a:solidFill>
              <a:srgbClr val="2D3B59"/>
            </a:solidFill>
            <a:prstDash val="solid"/>
          </a:ln>
        </p:spPr>
      </p:sp>
      <p:sp>
        <p:nvSpPr>
          <p:cNvPr id="23" name="Text 21"/>
          <p:cNvSpPr/>
          <p:nvPr/>
        </p:nvSpPr>
        <p:spPr>
          <a:xfrm>
            <a:off x="3703320" y="2221992"/>
            <a:ext cx="201168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A. GRANULARITY</a:t>
            </a:r>
            <a:endParaRPr lang="en-US" sz="1050" dirty="0"/>
          </a:p>
        </p:txBody>
      </p:sp>
      <p:sp>
        <p:nvSpPr>
          <p:cNvPr id="24" name="Text 22"/>
          <p:cNvSpPr/>
          <p:nvPr/>
        </p:nvSpPr>
        <p:spPr>
          <a:xfrm>
            <a:off x="5760720" y="2221992"/>
            <a:ext cx="2560320" cy="201168"/>
          </a:xfrm>
          <a:prstGeom prst="rect">
            <a:avLst/>
          </a:prstGeom>
          <a:noFill/>
          <a:ln/>
        </p:spPr>
        <p:txBody>
          <a:bodyPr wrap="square" rtlCol="0" anchor="ctr"/>
          <a:lstStyle/>
          <a:p>
            <a:pPr algn="r" indent="0" marL="0">
              <a:buNone/>
            </a:pPr>
            <a:r>
              <a:rPr lang="en-US" sz="950" b="1" dirty="0">
                <a:solidFill>
                  <a:srgbClr val="00E5FF"/>
                </a:solidFill>
                <a:latin typeface="Arial" pitchFamily="34" charset="0"/>
                <a:ea typeface="Arial" pitchFamily="34" charset="-122"/>
                <a:cs typeface="Arial" pitchFamily="34" charset="-120"/>
              </a:rPr>
              <a:t>What to prune?</a:t>
            </a:r>
            <a:endParaRPr lang="en-US" sz="950" dirty="0"/>
          </a:p>
        </p:txBody>
      </p:sp>
      <p:sp>
        <p:nvSpPr>
          <p:cNvPr id="25" name="Text 23"/>
          <p:cNvSpPr/>
          <p:nvPr/>
        </p:nvSpPr>
        <p:spPr>
          <a:xfrm>
            <a:off x="3703320" y="2496312"/>
            <a:ext cx="4663440" cy="3200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Unstructured: Individual Weights  •  Semi-Structured: N:M (2:4, 4:8)  •  Structured: Channels, Filters, Layers</a:t>
            </a:r>
            <a:endParaRPr lang="en-US" sz="950" dirty="0"/>
          </a:p>
        </p:txBody>
      </p:sp>
      <p:sp>
        <p:nvSpPr>
          <p:cNvPr id="26" name="Shape 24"/>
          <p:cNvSpPr/>
          <p:nvPr/>
        </p:nvSpPr>
        <p:spPr>
          <a:xfrm>
            <a:off x="3566160" y="2953512"/>
            <a:ext cx="4937760" cy="731520"/>
          </a:xfrm>
          <a:prstGeom prst="roundRect">
            <a:avLst>
              <a:gd name="adj" fmla="val 6250"/>
            </a:avLst>
          </a:prstGeom>
          <a:solidFill>
            <a:srgbClr val="1E293B"/>
          </a:solidFill>
          <a:ln w="12700">
            <a:solidFill>
              <a:srgbClr val="2D3B59"/>
            </a:solidFill>
            <a:prstDash val="solid"/>
          </a:ln>
        </p:spPr>
      </p:sp>
      <p:sp>
        <p:nvSpPr>
          <p:cNvPr id="27" name="Text 25"/>
          <p:cNvSpPr/>
          <p:nvPr/>
        </p:nvSpPr>
        <p:spPr>
          <a:xfrm>
            <a:off x="3703320" y="3026664"/>
            <a:ext cx="201168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B. CRITERION</a:t>
            </a:r>
            <a:endParaRPr lang="en-US" sz="1050" dirty="0"/>
          </a:p>
        </p:txBody>
      </p:sp>
      <p:sp>
        <p:nvSpPr>
          <p:cNvPr id="28" name="Text 26"/>
          <p:cNvSpPr/>
          <p:nvPr/>
        </p:nvSpPr>
        <p:spPr>
          <a:xfrm>
            <a:off x="5760720" y="3026664"/>
            <a:ext cx="2560320" cy="201168"/>
          </a:xfrm>
          <a:prstGeom prst="rect">
            <a:avLst/>
          </a:prstGeom>
          <a:noFill/>
          <a:ln/>
        </p:spPr>
        <p:txBody>
          <a:bodyPr wrap="square" rtlCol="0" anchor="ctr"/>
          <a:lstStyle/>
          <a:p>
            <a:pPr algn="r" indent="0" marL="0">
              <a:buNone/>
            </a:pPr>
            <a:r>
              <a:rPr lang="en-US" sz="950" b="1" dirty="0">
                <a:solidFill>
                  <a:srgbClr val="00E5FF"/>
                </a:solidFill>
                <a:latin typeface="Arial" pitchFamily="34" charset="0"/>
                <a:ea typeface="Arial" pitchFamily="34" charset="-122"/>
                <a:cs typeface="Arial" pitchFamily="34" charset="-120"/>
              </a:rPr>
              <a:t>How to measure importance?</a:t>
            </a:r>
            <a:endParaRPr lang="en-US" sz="950" dirty="0"/>
          </a:p>
        </p:txBody>
      </p:sp>
      <p:sp>
        <p:nvSpPr>
          <p:cNvPr id="29" name="Text 27"/>
          <p:cNvSpPr/>
          <p:nvPr/>
        </p:nvSpPr>
        <p:spPr>
          <a:xfrm>
            <a:off x="3703320" y="3300984"/>
            <a:ext cx="4663440" cy="3200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Magnitude: L1 / L2 Norm  •  Gradient: First-order Taylor, Movement  •  Advanced: Fisher, Hessian, SNIP, SynFlow</a:t>
            </a:r>
            <a:endParaRPr lang="en-US" sz="950" dirty="0"/>
          </a:p>
        </p:txBody>
      </p:sp>
      <p:sp>
        <p:nvSpPr>
          <p:cNvPr id="30" name="Shape 28"/>
          <p:cNvSpPr/>
          <p:nvPr/>
        </p:nvSpPr>
        <p:spPr>
          <a:xfrm>
            <a:off x="3566160" y="3758184"/>
            <a:ext cx="4937760" cy="731520"/>
          </a:xfrm>
          <a:prstGeom prst="roundRect">
            <a:avLst>
              <a:gd name="adj" fmla="val 6250"/>
            </a:avLst>
          </a:prstGeom>
          <a:solidFill>
            <a:srgbClr val="1E293B"/>
          </a:solidFill>
          <a:ln w="12700">
            <a:solidFill>
              <a:srgbClr val="2D3B59"/>
            </a:solidFill>
            <a:prstDash val="solid"/>
          </a:ln>
        </p:spPr>
      </p:sp>
      <p:sp>
        <p:nvSpPr>
          <p:cNvPr id="31" name="Text 29"/>
          <p:cNvSpPr/>
          <p:nvPr/>
        </p:nvSpPr>
        <p:spPr>
          <a:xfrm>
            <a:off x="3703320" y="3831336"/>
            <a:ext cx="201168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C. TARGET SCOPE</a:t>
            </a:r>
            <a:endParaRPr lang="en-US" sz="1050" dirty="0"/>
          </a:p>
        </p:txBody>
      </p:sp>
      <p:sp>
        <p:nvSpPr>
          <p:cNvPr id="32" name="Text 30"/>
          <p:cNvSpPr/>
          <p:nvPr/>
        </p:nvSpPr>
        <p:spPr>
          <a:xfrm>
            <a:off x="5760720" y="3831336"/>
            <a:ext cx="2560320" cy="201168"/>
          </a:xfrm>
          <a:prstGeom prst="rect">
            <a:avLst/>
          </a:prstGeom>
          <a:noFill/>
          <a:ln/>
        </p:spPr>
        <p:txBody>
          <a:bodyPr wrap="square" rtlCol="0" anchor="ctr"/>
          <a:lstStyle/>
          <a:p>
            <a:pPr algn="r" indent="0" marL="0">
              <a:buNone/>
            </a:pPr>
            <a:r>
              <a:rPr lang="en-US" sz="950" b="1" dirty="0">
                <a:solidFill>
                  <a:srgbClr val="00E5FF"/>
                </a:solidFill>
                <a:latin typeface="Arial" pitchFamily="34" charset="0"/>
                <a:ea typeface="Arial" pitchFamily="34" charset="-122"/>
                <a:cs typeface="Arial" pitchFamily="34" charset="-120"/>
              </a:rPr>
              <a:t>Where to prune?</a:t>
            </a:r>
            <a:endParaRPr lang="en-US" sz="950" dirty="0"/>
          </a:p>
        </p:txBody>
      </p:sp>
      <p:sp>
        <p:nvSpPr>
          <p:cNvPr id="33" name="Text 31"/>
          <p:cNvSpPr/>
          <p:nvPr/>
        </p:nvSpPr>
        <p:spPr>
          <a:xfrm>
            <a:off x="3703320" y="4105656"/>
            <a:ext cx="4663440" cy="3200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Global Scope (Whole network)  •  Per-Layer / Per-Module Scope  •  Exclusion Rules (Sensitive layers)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ANALYSIS TRIPLE ENGINE</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2: Model Analysis Engine</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2606040" cy="3429000"/>
          </a:xfrm>
          <a:prstGeom prst="roundRect">
            <a:avLst>
              <a:gd name="adj" fmla="val 2807"/>
            </a:avLst>
          </a:prstGeom>
          <a:solidFill>
            <a:srgbClr val="161F33"/>
          </a:solidFill>
          <a:ln w="12700">
            <a:solidFill>
              <a:srgbClr val="2D3B59"/>
            </a:solidFill>
            <a:prstDash val="solid"/>
          </a:ln>
        </p:spPr>
      </p:sp>
      <p:sp>
        <p:nvSpPr>
          <p:cNvPr id="9" name="Shape 7"/>
          <p:cNvSpPr/>
          <p:nvPr/>
        </p:nvSpPr>
        <p:spPr>
          <a:xfrm>
            <a:off x="594360" y="1371600"/>
            <a:ext cx="2331720" cy="320040"/>
          </a:xfrm>
          <a:prstGeom prst="rect">
            <a:avLst/>
          </a:prstGeom>
          <a:solidFill>
            <a:srgbClr val="0F172A"/>
          </a:solidFill>
          <a:ln w="12700">
            <a:solidFill>
              <a:srgbClr val="A855F7"/>
            </a:solidFill>
            <a:prstDash val="solid"/>
          </a:ln>
        </p:spPr>
      </p:sp>
      <p:sp>
        <p:nvSpPr>
          <p:cNvPr id="10" name="Text 8"/>
          <p:cNvSpPr/>
          <p:nvPr/>
        </p:nvSpPr>
        <p:spPr>
          <a:xfrm>
            <a:off x="594360" y="1371600"/>
            <a:ext cx="2331720" cy="320040"/>
          </a:xfrm>
          <a:prstGeom prst="rect">
            <a:avLst/>
          </a:prstGeom>
          <a:noFill/>
          <a:ln/>
        </p:spPr>
        <p:txBody>
          <a:bodyPr wrap="square" rtlCol="0" anchor="ctr"/>
          <a:lstStyle/>
          <a:p>
            <a:pPr algn="ctr" indent="0" marL="0">
              <a:buNone/>
            </a:pPr>
            <a:r>
              <a:rPr lang="en-US" sz="1000" b="1" dirty="0">
                <a:solidFill>
                  <a:srgbClr val="A855F7"/>
                </a:solidFill>
                <a:latin typeface="Arial" pitchFamily="34" charset="0"/>
                <a:ea typeface="Arial" pitchFamily="34" charset="-122"/>
                <a:cs typeface="Arial" pitchFamily="34" charset="-120"/>
              </a:rPr>
              <a:t>3A. DEPENDENCY ANALYSIS</a:t>
            </a:r>
            <a:endParaRPr lang="en-US" sz="1000" dirty="0"/>
          </a:p>
        </p:txBody>
      </p:sp>
      <p:sp>
        <p:nvSpPr>
          <p:cNvPr id="11" name="Text 9"/>
          <p:cNvSpPr/>
          <p:nvPr/>
        </p:nvSpPr>
        <p:spPr>
          <a:xfrm>
            <a:off x="594360" y="1783080"/>
            <a:ext cx="2331720" cy="502920"/>
          </a:xfrm>
          <a:prstGeom prst="rect">
            <a:avLst/>
          </a:prstGeom>
          <a:noFill/>
          <a:ln/>
        </p:spPr>
        <p:txBody>
          <a:bodyPr wrap="square" rtlCol="0" anchor="ctr"/>
          <a:lstStyle/>
          <a:p>
            <a:pPr indent="0" marL="0">
              <a:lnSpc>
                <a:spcPts val="1400"/>
              </a:lnSpc>
              <a:buNone/>
            </a:pPr>
            <a:r>
              <a:rPr lang="en-US" sz="1000" b="1" dirty="0">
                <a:solidFill>
                  <a:srgbClr val="F8FAFC"/>
                </a:solidFill>
                <a:latin typeface="Calibri" pitchFamily="34" charset="0"/>
                <a:ea typeface="Calibri" pitchFamily="34" charset="-122"/>
                <a:cs typeface="Calibri" pitchFamily="34" charset="-120"/>
              </a:rPr>
              <a:t>Which components MUST be pruned together?</a:t>
            </a:r>
            <a:endParaRPr lang="en-US" sz="1000" dirty="0"/>
          </a:p>
        </p:txBody>
      </p:sp>
      <p:sp>
        <p:nvSpPr>
          <p:cNvPr id="12" name="Shape 10"/>
          <p:cNvSpPr/>
          <p:nvPr/>
        </p:nvSpPr>
        <p:spPr>
          <a:xfrm>
            <a:off x="594360" y="2377440"/>
            <a:ext cx="2331720" cy="0"/>
          </a:xfrm>
          <a:prstGeom prst="line">
            <a:avLst/>
          </a:prstGeom>
          <a:noFill/>
          <a:ln w="12700">
            <a:solidFill>
              <a:srgbClr val="2D3B59"/>
            </a:solidFill>
            <a:prstDash val="solid"/>
          </a:ln>
        </p:spPr>
      </p:sp>
      <p:sp>
        <p:nvSpPr>
          <p:cNvPr id="13" name="Text 11"/>
          <p:cNvSpPr/>
          <p:nvPr/>
        </p:nvSpPr>
        <p:spPr>
          <a:xfrm>
            <a:off x="594360" y="251460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Builds internal computational graph &amp; tensor shapes.</a:t>
            </a:r>
            <a:endParaRPr lang="en-US" sz="950" dirty="0"/>
          </a:p>
        </p:txBody>
      </p:sp>
      <p:sp>
        <p:nvSpPr>
          <p:cNvPr id="14" name="Text 12"/>
          <p:cNvSpPr/>
          <p:nvPr/>
        </p:nvSpPr>
        <p:spPr>
          <a:xfrm>
            <a:off x="59436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Identifies coupled layers (e.g. Conv A → BN → ReLU → Conv B).</a:t>
            </a:r>
            <a:endParaRPr lang="en-US" sz="950" dirty="0"/>
          </a:p>
        </p:txBody>
      </p:sp>
      <p:sp>
        <p:nvSpPr>
          <p:cNvPr id="15" name="Text 13"/>
          <p:cNvSpPr/>
          <p:nvPr/>
        </p:nvSpPr>
        <p:spPr>
          <a:xfrm>
            <a:off x="59436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Prevents dimension mismatch errors across residual connections.</a:t>
            </a:r>
            <a:endParaRPr lang="en-US" sz="950" dirty="0"/>
          </a:p>
        </p:txBody>
      </p:sp>
      <p:sp>
        <p:nvSpPr>
          <p:cNvPr id="16" name="Text 14"/>
          <p:cNvSpPr/>
          <p:nvPr/>
        </p:nvSpPr>
        <p:spPr>
          <a:xfrm>
            <a:off x="59436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Output: Grouped Pruning Constraints.</a:t>
            </a:r>
            <a:endParaRPr lang="en-US" sz="950" dirty="0"/>
          </a:p>
        </p:txBody>
      </p:sp>
      <p:sp>
        <p:nvSpPr>
          <p:cNvPr id="17" name="Shape 15"/>
          <p:cNvSpPr/>
          <p:nvPr/>
        </p:nvSpPr>
        <p:spPr>
          <a:xfrm>
            <a:off x="3246120" y="1234440"/>
            <a:ext cx="2606040" cy="3429000"/>
          </a:xfrm>
          <a:prstGeom prst="roundRect">
            <a:avLst>
              <a:gd name="adj" fmla="val 2807"/>
            </a:avLst>
          </a:prstGeom>
          <a:solidFill>
            <a:srgbClr val="161F33"/>
          </a:solidFill>
          <a:ln w="12700">
            <a:solidFill>
              <a:srgbClr val="2D3B59"/>
            </a:solidFill>
            <a:prstDash val="solid"/>
          </a:ln>
        </p:spPr>
      </p:sp>
      <p:sp>
        <p:nvSpPr>
          <p:cNvPr id="18" name="Shape 16"/>
          <p:cNvSpPr/>
          <p:nvPr/>
        </p:nvSpPr>
        <p:spPr>
          <a:xfrm>
            <a:off x="3383280" y="1371600"/>
            <a:ext cx="2331720" cy="320040"/>
          </a:xfrm>
          <a:prstGeom prst="rect">
            <a:avLst/>
          </a:prstGeom>
          <a:solidFill>
            <a:srgbClr val="0F172A"/>
          </a:solidFill>
          <a:ln w="12700">
            <a:solidFill>
              <a:srgbClr val="00E5FF"/>
            </a:solidFill>
            <a:prstDash val="solid"/>
          </a:ln>
        </p:spPr>
      </p:sp>
      <p:sp>
        <p:nvSpPr>
          <p:cNvPr id="19" name="Text 17"/>
          <p:cNvSpPr/>
          <p:nvPr/>
        </p:nvSpPr>
        <p:spPr>
          <a:xfrm>
            <a:off x="3383280" y="1371600"/>
            <a:ext cx="2331720" cy="320040"/>
          </a:xfrm>
          <a:prstGeom prst="rect">
            <a:avLst/>
          </a:prstGeom>
          <a:noFill/>
          <a:ln/>
        </p:spPr>
        <p:txBody>
          <a:bodyPr wrap="square" rtlCol="0" anchor="ctr"/>
          <a:lstStyle/>
          <a:p>
            <a:pPr algn="ctr" indent="0" marL="0">
              <a:buNone/>
            </a:pPr>
            <a:r>
              <a:rPr lang="en-US" sz="1000" b="1" dirty="0">
                <a:solidFill>
                  <a:srgbClr val="00E5FF"/>
                </a:solidFill>
                <a:latin typeface="Arial" pitchFamily="34" charset="0"/>
                <a:ea typeface="Arial" pitchFamily="34" charset="-122"/>
                <a:cs typeface="Arial" pitchFamily="34" charset="-120"/>
              </a:rPr>
              <a:t>3B. IMPORTANCE ANALYSIS</a:t>
            </a:r>
            <a:endParaRPr lang="en-US" sz="1000" dirty="0"/>
          </a:p>
        </p:txBody>
      </p:sp>
      <p:sp>
        <p:nvSpPr>
          <p:cNvPr id="20" name="Text 18"/>
          <p:cNvSpPr/>
          <p:nvPr/>
        </p:nvSpPr>
        <p:spPr>
          <a:xfrm>
            <a:off x="3383280" y="1783080"/>
            <a:ext cx="2331720" cy="502920"/>
          </a:xfrm>
          <a:prstGeom prst="rect">
            <a:avLst/>
          </a:prstGeom>
          <a:noFill/>
          <a:ln/>
        </p:spPr>
        <p:txBody>
          <a:bodyPr wrap="square" rtlCol="0" anchor="ctr"/>
          <a:lstStyle/>
          <a:p>
            <a:pPr indent="0" marL="0">
              <a:lnSpc>
                <a:spcPts val="1400"/>
              </a:lnSpc>
              <a:buNone/>
            </a:pPr>
            <a:r>
              <a:rPr lang="en-US" sz="1000" b="1" dirty="0">
                <a:solidFill>
                  <a:srgbClr val="F8FAFC"/>
                </a:solidFill>
                <a:latin typeface="Calibri" pitchFamily="34" charset="0"/>
                <a:ea typeface="Calibri" pitchFamily="34" charset="-122"/>
                <a:cs typeface="Calibri" pitchFamily="34" charset="-120"/>
              </a:rPr>
              <a:t>Which weights/channels contribute least to task performance?</a:t>
            </a:r>
            <a:endParaRPr lang="en-US" sz="1000" dirty="0"/>
          </a:p>
        </p:txBody>
      </p:sp>
      <p:sp>
        <p:nvSpPr>
          <p:cNvPr id="21" name="Shape 19"/>
          <p:cNvSpPr/>
          <p:nvPr/>
        </p:nvSpPr>
        <p:spPr>
          <a:xfrm>
            <a:off x="3383280" y="2377440"/>
            <a:ext cx="2331720" cy="0"/>
          </a:xfrm>
          <a:prstGeom prst="line">
            <a:avLst/>
          </a:prstGeom>
          <a:noFill/>
          <a:ln w="12700">
            <a:solidFill>
              <a:srgbClr val="2D3B59"/>
            </a:solidFill>
            <a:prstDash val="solid"/>
          </a:ln>
        </p:spPr>
      </p:sp>
      <p:sp>
        <p:nvSpPr>
          <p:cNvPr id="22" name="Text 20"/>
          <p:cNvSpPr/>
          <p:nvPr/>
        </p:nvSpPr>
        <p:spPr>
          <a:xfrm>
            <a:off x="3383280" y="251460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Calculates importance score per weight/channel/layer.</a:t>
            </a:r>
            <a:endParaRPr lang="en-US" sz="950" dirty="0"/>
          </a:p>
        </p:txBody>
      </p:sp>
      <p:sp>
        <p:nvSpPr>
          <p:cNvPr id="23" name="Text 21"/>
          <p:cNvSpPr/>
          <p:nvPr/>
        </p:nvSpPr>
        <p:spPr>
          <a:xfrm>
            <a:off x="338328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Supports Magnitude, Gradient-based, &amp; Second-order metrics.</a:t>
            </a:r>
            <a:endParaRPr lang="en-US" sz="950" dirty="0"/>
          </a:p>
        </p:txBody>
      </p:sp>
      <p:sp>
        <p:nvSpPr>
          <p:cNvPr id="24" name="Text 22"/>
          <p:cNvSpPr/>
          <p:nvPr/>
        </p:nvSpPr>
        <p:spPr>
          <a:xfrm>
            <a:off x="338328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Ranks candidate components globally or per layer.</a:t>
            </a:r>
            <a:endParaRPr lang="en-US" sz="950" dirty="0"/>
          </a:p>
        </p:txBody>
      </p:sp>
      <p:sp>
        <p:nvSpPr>
          <p:cNvPr id="25" name="Text 23"/>
          <p:cNvSpPr/>
          <p:nvPr/>
        </p:nvSpPr>
        <p:spPr>
          <a:xfrm>
            <a:off x="338328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Output: Component Importance Ranking.</a:t>
            </a:r>
            <a:endParaRPr lang="en-US" sz="950" dirty="0"/>
          </a:p>
        </p:txBody>
      </p:sp>
      <p:sp>
        <p:nvSpPr>
          <p:cNvPr id="26" name="Shape 24"/>
          <p:cNvSpPr/>
          <p:nvPr/>
        </p:nvSpPr>
        <p:spPr>
          <a:xfrm>
            <a:off x="6035040" y="1234440"/>
            <a:ext cx="2606040" cy="3429000"/>
          </a:xfrm>
          <a:prstGeom prst="roundRect">
            <a:avLst>
              <a:gd name="adj" fmla="val 2807"/>
            </a:avLst>
          </a:prstGeom>
          <a:solidFill>
            <a:srgbClr val="161F33"/>
          </a:solidFill>
          <a:ln w="12700">
            <a:solidFill>
              <a:srgbClr val="2D3B59"/>
            </a:solidFill>
            <a:prstDash val="solid"/>
          </a:ln>
        </p:spPr>
      </p:sp>
      <p:sp>
        <p:nvSpPr>
          <p:cNvPr id="27" name="Shape 25"/>
          <p:cNvSpPr/>
          <p:nvPr/>
        </p:nvSpPr>
        <p:spPr>
          <a:xfrm>
            <a:off x="6172200" y="1371600"/>
            <a:ext cx="2331720" cy="320040"/>
          </a:xfrm>
          <a:prstGeom prst="rect">
            <a:avLst/>
          </a:prstGeom>
          <a:solidFill>
            <a:srgbClr val="0F172A"/>
          </a:solidFill>
          <a:ln w="12700">
            <a:solidFill>
              <a:srgbClr val="10B981"/>
            </a:solidFill>
            <a:prstDash val="solid"/>
          </a:ln>
        </p:spPr>
      </p:sp>
      <p:sp>
        <p:nvSpPr>
          <p:cNvPr id="28" name="Text 26"/>
          <p:cNvSpPr/>
          <p:nvPr/>
        </p:nvSpPr>
        <p:spPr>
          <a:xfrm>
            <a:off x="6172200" y="1371600"/>
            <a:ext cx="2331720" cy="320040"/>
          </a:xfrm>
          <a:prstGeom prst="rect">
            <a:avLst/>
          </a:prstGeom>
          <a:noFill/>
          <a:ln/>
        </p:spPr>
        <p:txBody>
          <a:bodyPr wrap="square"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3C. SENSITIVITY ANALYSIS</a:t>
            </a:r>
            <a:endParaRPr lang="en-US" sz="1000" dirty="0"/>
          </a:p>
        </p:txBody>
      </p:sp>
      <p:sp>
        <p:nvSpPr>
          <p:cNvPr id="29" name="Text 27"/>
          <p:cNvSpPr/>
          <p:nvPr/>
        </p:nvSpPr>
        <p:spPr>
          <a:xfrm>
            <a:off x="6172200" y="1783080"/>
            <a:ext cx="2331720" cy="502920"/>
          </a:xfrm>
          <a:prstGeom prst="rect">
            <a:avLst/>
          </a:prstGeom>
          <a:noFill/>
          <a:ln/>
        </p:spPr>
        <p:txBody>
          <a:bodyPr wrap="square" rtlCol="0" anchor="ctr"/>
          <a:lstStyle/>
          <a:p>
            <a:pPr indent="0" marL="0">
              <a:lnSpc>
                <a:spcPts val="1400"/>
              </a:lnSpc>
              <a:buNone/>
            </a:pPr>
            <a:r>
              <a:rPr lang="en-US" sz="1000" b="1" dirty="0">
                <a:solidFill>
                  <a:srgbClr val="F8FAFC"/>
                </a:solidFill>
                <a:latin typeface="Calibri" pitchFamily="34" charset="0"/>
                <a:ea typeface="Calibri" pitchFamily="34" charset="-122"/>
                <a:cs typeface="Calibri" pitchFamily="34" charset="-120"/>
              </a:rPr>
              <a:t>How much pruning can each layer tolerate before accuracy drops?</a:t>
            </a:r>
            <a:endParaRPr lang="en-US" sz="1000" dirty="0"/>
          </a:p>
        </p:txBody>
      </p:sp>
      <p:sp>
        <p:nvSpPr>
          <p:cNvPr id="30" name="Shape 28"/>
          <p:cNvSpPr/>
          <p:nvPr/>
        </p:nvSpPr>
        <p:spPr>
          <a:xfrm>
            <a:off x="6172200" y="2377440"/>
            <a:ext cx="2331720" cy="0"/>
          </a:xfrm>
          <a:prstGeom prst="line">
            <a:avLst/>
          </a:prstGeom>
          <a:noFill/>
          <a:ln w="12700">
            <a:solidFill>
              <a:srgbClr val="2D3B59"/>
            </a:solidFill>
            <a:prstDash val="solid"/>
          </a:ln>
        </p:spPr>
      </p:sp>
      <p:sp>
        <p:nvSpPr>
          <p:cNvPr id="31" name="Text 29"/>
          <p:cNvSpPr/>
          <p:nvPr/>
        </p:nvSpPr>
        <p:spPr>
          <a:xfrm>
            <a:off x="6172200" y="251460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Probes layer response by applying temporary pruning ratios.</a:t>
            </a:r>
            <a:endParaRPr lang="en-US" sz="950" dirty="0"/>
          </a:p>
        </p:txBody>
      </p:sp>
      <p:sp>
        <p:nvSpPr>
          <p:cNvPr id="32" name="Text 30"/>
          <p:cNvSpPr/>
          <p:nvPr/>
        </p:nvSpPr>
        <p:spPr>
          <a:xfrm>
            <a:off x="617220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Evaluates validation accuracy / loss degradation curve.</a:t>
            </a:r>
            <a:endParaRPr lang="en-US" sz="950" dirty="0"/>
          </a:p>
        </p:txBody>
      </p:sp>
      <p:sp>
        <p:nvSpPr>
          <p:cNvPr id="33" name="Text 31"/>
          <p:cNvSpPr/>
          <p:nvPr/>
        </p:nvSpPr>
        <p:spPr>
          <a:xfrm>
            <a:off x="617220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Identifies robust vs sensitive layers.</a:t>
            </a:r>
            <a:endParaRPr lang="en-US" sz="950" dirty="0"/>
          </a:p>
        </p:txBody>
      </p:sp>
      <p:sp>
        <p:nvSpPr>
          <p:cNvPr id="34" name="Text 32"/>
          <p:cNvSpPr/>
          <p:nvPr/>
        </p:nvSpPr>
        <p:spPr>
          <a:xfrm>
            <a:off x="617220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Output: Layer Sensitivity Curves &amp; Thresholds.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IMPORTANCE METRICS</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Deep Dive: Importance Estimation &amp; Candidate Ranking</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2606040" cy="3429000"/>
          </a:xfrm>
          <a:prstGeom prst="roundRect">
            <a:avLst>
              <a:gd name="adj" fmla="val 2807"/>
            </a:avLst>
          </a:prstGeom>
          <a:solidFill>
            <a:srgbClr val="161F33"/>
          </a:solidFill>
          <a:ln w="12700">
            <a:solidFill>
              <a:srgbClr val="2D3B59"/>
            </a:solidFill>
            <a:prstDash val="solid"/>
          </a:ln>
        </p:spPr>
      </p:sp>
      <p:sp>
        <p:nvSpPr>
          <p:cNvPr id="9" name="Text 7"/>
          <p:cNvSpPr/>
          <p:nvPr/>
        </p:nvSpPr>
        <p:spPr>
          <a:xfrm>
            <a:off x="594360" y="1371600"/>
            <a:ext cx="2331720" cy="228600"/>
          </a:xfrm>
          <a:prstGeom prst="rect">
            <a:avLst/>
          </a:prstGeom>
          <a:noFill/>
          <a:ln/>
        </p:spPr>
        <p:txBody>
          <a:bodyPr wrap="square" rtlCol="0" anchor="ctr"/>
          <a:lstStyle/>
          <a:p>
            <a:pPr indent="0" marL="0">
              <a:buNone/>
            </a:pPr>
            <a:r>
              <a:rPr lang="en-US" sz="1100" b="1" dirty="0">
                <a:solidFill>
                  <a:srgbClr val="00E5FF"/>
                </a:solidFill>
                <a:latin typeface="Arial" pitchFamily="34" charset="0"/>
                <a:ea typeface="Arial" pitchFamily="34" charset="-122"/>
                <a:cs typeface="Arial" pitchFamily="34" charset="-120"/>
              </a:rPr>
              <a:t>WEIGHT-BASED METRICS</a:t>
            </a:r>
            <a:endParaRPr lang="en-US" sz="1100" dirty="0"/>
          </a:p>
        </p:txBody>
      </p:sp>
      <p:sp>
        <p:nvSpPr>
          <p:cNvPr id="10" name="Text 8"/>
          <p:cNvSpPr/>
          <p:nvPr/>
        </p:nvSpPr>
        <p:spPr>
          <a:xfrm>
            <a:off x="594360" y="1600200"/>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Static / Heuristic Evaluation</a:t>
            </a:r>
            <a:endParaRPr lang="en-US" sz="900" dirty="0"/>
          </a:p>
        </p:txBody>
      </p:sp>
      <p:sp>
        <p:nvSpPr>
          <p:cNvPr id="11" name="Shape 9"/>
          <p:cNvSpPr/>
          <p:nvPr/>
        </p:nvSpPr>
        <p:spPr>
          <a:xfrm>
            <a:off x="594360" y="1828800"/>
            <a:ext cx="2331720" cy="0"/>
          </a:xfrm>
          <a:prstGeom prst="line">
            <a:avLst/>
          </a:prstGeom>
          <a:noFill/>
          <a:ln w="12700">
            <a:solidFill>
              <a:srgbClr val="2D3B59"/>
            </a:solidFill>
            <a:prstDash val="solid"/>
          </a:ln>
        </p:spPr>
      </p:sp>
      <p:sp>
        <p:nvSpPr>
          <p:cNvPr id="12" name="Shape 10"/>
          <p:cNvSpPr/>
          <p:nvPr/>
        </p:nvSpPr>
        <p:spPr>
          <a:xfrm>
            <a:off x="594360" y="1965960"/>
            <a:ext cx="2331720" cy="1234440"/>
          </a:xfrm>
          <a:prstGeom prst="roundRect">
            <a:avLst>
              <a:gd name="adj" fmla="val 3704"/>
            </a:avLst>
          </a:prstGeom>
          <a:solidFill>
            <a:srgbClr val="1E293B"/>
          </a:solidFill>
          <a:ln w="12700">
            <a:solidFill>
              <a:srgbClr val="2D3B59"/>
            </a:solidFill>
            <a:prstDash val="solid"/>
          </a:ln>
        </p:spPr>
      </p:sp>
      <p:sp>
        <p:nvSpPr>
          <p:cNvPr id="13" name="Text 11"/>
          <p:cNvSpPr/>
          <p:nvPr/>
        </p:nvSpPr>
        <p:spPr>
          <a:xfrm>
            <a:off x="685800" y="203911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L1 / L2 Magnitude</a:t>
            </a:r>
            <a:endParaRPr lang="en-US" sz="1000" dirty="0"/>
          </a:p>
        </p:txBody>
      </p:sp>
      <p:sp>
        <p:nvSpPr>
          <p:cNvPr id="14" name="Text 12"/>
          <p:cNvSpPr/>
          <p:nvPr/>
        </p:nvSpPr>
        <p:spPr>
          <a:xfrm>
            <a:off x="685800" y="2240280"/>
            <a:ext cx="2148840" cy="201168"/>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||W||_1 = \sum |w_i|</a:t>
            </a:r>
            <a:endParaRPr lang="en-US" sz="900" dirty="0"/>
          </a:p>
        </p:txBody>
      </p:sp>
      <p:sp>
        <p:nvSpPr>
          <p:cNvPr id="15" name="Text 13"/>
          <p:cNvSpPr/>
          <p:nvPr/>
        </p:nvSpPr>
        <p:spPr>
          <a:xfrm>
            <a:off x="685800" y="246888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Fast &amp; simple. Assumes small weights contribute negligible signal.</a:t>
            </a:r>
            <a:endParaRPr lang="en-US" sz="900" dirty="0"/>
          </a:p>
        </p:txBody>
      </p:sp>
      <p:sp>
        <p:nvSpPr>
          <p:cNvPr id="16" name="Shape 14"/>
          <p:cNvSpPr/>
          <p:nvPr/>
        </p:nvSpPr>
        <p:spPr>
          <a:xfrm>
            <a:off x="594360" y="3291840"/>
            <a:ext cx="2331720" cy="1234440"/>
          </a:xfrm>
          <a:prstGeom prst="roundRect">
            <a:avLst>
              <a:gd name="adj" fmla="val 3704"/>
            </a:avLst>
          </a:prstGeom>
          <a:solidFill>
            <a:srgbClr val="1E293B"/>
          </a:solidFill>
          <a:ln w="12700">
            <a:solidFill>
              <a:srgbClr val="2D3B59"/>
            </a:solidFill>
            <a:prstDash val="solid"/>
          </a:ln>
        </p:spPr>
      </p:sp>
      <p:sp>
        <p:nvSpPr>
          <p:cNvPr id="17" name="Text 15"/>
          <p:cNvSpPr/>
          <p:nvPr/>
        </p:nvSpPr>
        <p:spPr>
          <a:xfrm>
            <a:off x="685800" y="336499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BN Scaling Factor (Gamma)</a:t>
            </a:r>
            <a:endParaRPr lang="en-US" sz="1000" dirty="0"/>
          </a:p>
        </p:txBody>
      </p:sp>
      <p:sp>
        <p:nvSpPr>
          <p:cNvPr id="18" name="Text 16"/>
          <p:cNvSpPr/>
          <p:nvPr/>
        </p:nvSpPr>
        <p:spPr>
          <a:xfrm>
            <a:off x="685800" y="3566160"/>
            <a:ext cx="2148840" cy="201168"/>
          </a:xfrm>
          <a:prstGeom prst="rect">
            <a:avLst/>
          </a:prstGeom>
          <a:noFill/>
          <a:ln/>
        </p:spPr>
        <p:txBody>
          <a:bodyPr wrap="square" rtlCol="0" anchor="ctr"/>
          <a:lstStyle/>
          <a:p>
            <a:pPr indent="0" marL="0">
              <a:buNone/>
            </a:pPr>
            <a:r>
              <a:rPr lang="en-US" sz="900" b="1" dirty="0">
                <a:solidFill>
                  <a:srgbClr val="00E5FF"/>
                </a:solidFill>
                <a:latin typeface="Arial" pitchFamily="34" charset="0"/>
                <a:ea typeface="Arial" pitchFamily="34" charset="-122"/>
                <a:cs typeface="Arial" pitchFamily="34" charset="-120"/>
              </a:rPr>
              <a:t>\gamma \in \text{BatchNorm}</a:t>
            </a:r>
            <a:endParaRPr lang="en-US" sz="900" dirty="0"/>
          </a:p>
        </p:txBody>
      </p:sp>
      <p:sp>
        <p:nvSpPr>
          <p:cNvPr id="19" name="Text 17"/>
          <p:cNvSpPr/>
          <p:nvPr/>
        </p:nvSpPr>
        <p:spPr>
          <a:xfrm>
            <a:off x="685800" y="379476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Evaluates channel importance via BatchNorm scale parameters.</a:t>
            </a:r>
            <a:endParaRPr lang="en-US" sz="900" dirty="0"/>
          </a:p>
        </p:txBody>
      </p:sp>
      <p:sp>
        <p:nvSpPr>
          <p:cNvPr id="20" name="Shape 18"/>
          <p:cNvSpPr/>
          <p:nvPr/>
        </p:nvSpPr>
        <p:spPr>
          <a:xfrm>
            <a:off x="3246120" y="1234440"/>
            <a:ext cx="2606040" cy="3429000"/>
          </a:xfrm>
          <a:prstGeom prst="roundRect">
            <a:avLst>
              <a:gd name="adj" fmla="val 2807"/>
            </a:avLst>
          </a:prstGeom>
          <a:solidFill>
            <a:srgbClr val="161F33"/>
          </a:solidFill>
          <a:ln w="12700">
            <a:solidFill>
              <a:srgbClr val="2D3B59"/>
            </a:solidFill>
            <a:prstDash val="solid"/>
          </a:ln>
        </p:spPr>
      </p:sp>
      <p:sp>
        <p:nvSpPr>
          <p:cNvPr id="21" name="Text 19"/>
          <p:cNvSpPr/>
          <p:nvPr/>
        </p:nvSpPr>
        <p:spPr>
          <a:xfrm>
            <a:off x="3383280" y="1371600"/>
            <a:ext cx="2331720" cy="22860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GRADIENT &amp; TAYLOR EXPANSION</a:t>
            </a:r>
            <a:endParaRPr lang="en-US" sz="1100" dirty="0"/>
          </a:p>
        </p:txBody>
      </p:sp>
      <p:sp>
        <p:nvSpPr>
          <p:cNvPr id="22" name="Text 20"/>
          <p:cNvSpPr/>
          <p:nvPr/>
        </p:nvSpPr>
        <p:spPr>
          <a:xfrm>
            <a:off x="3383280" y="1600200"/>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Loss-Aware Sensitivity</a:t>
            </a:r>
            <a:endParaRPr lang="en-US" sz="900" dirty="0"/>
          </a:p>
        </p:txBody>
      </p:sp>
      <p:sp>
        <p:nvSpPr>
          <p:cNvPr id="23" name="Shape 21"/>
          <p:cNvSpPr/>
          <p:nvPr/>
        </p:nvSpPr>
        <p:spPr>
          <a:xfrm>
            <a:off x="3383280" y="1828800"/>
            <a:ext cx="2331720" cy="0"/>
          </a:xfrm>
          <a:prstGeom prst="line">
            <a:avLst/>
          </a:prstGeom>
          <a:noFill/>
          <a:ln w="12700">
            <a:solidFill>
              <a:srgbClr val="2D3B59"/>
            </a:solidFill>
            <a:prstDash val="solid"/>
          </a:ln>
        </p:spPr>
      </p:sp>
      <p:sp>
        <p:nvSpPr>
          <p:cNvPr id="24" name="Shape 22"/>
          <p:cNvSpPr/>
          <p:nvPr/>
        </p:nvSpPr>
        <p:spPr>
          <a:xfrm>
            <a:off x="3383280" y="1965960"/>
            <a:ext cx="2331720" cy="1234440"/>
          </a:xfrm>
          <a:prstGeom prst="roundRect">
            <a:avLst>
              <a:gd name="adj" fmla="val 3704"/>
            </a:avLst>
          </a:prstGeom>
          <a:solidFill>
            <a:srgbClr val="1E293B"/>
          </a:solidFill>
          <a:ln w="12700">
            <a:solidFill>
              <a:srgbClr val="2D3B59"/>
            </a:solidFill>
            <a:prstDash val="solid"/>
          </a:ln>
        </p:spPr>
      </p:sp>
      <p:sp>
        <p:nvSpPr>
          <p:cNvPr id="25" name="Text 23"/>
          <p:cNvSpPr/>
          <p:nvPr/>
        </p:nvSpPr>
        <p:spPr>
          <a:xfrm>
            <a:off x="3474720" y="203911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First-Order Taylor</a:t>
            </a:r>
            <a:endParaRPr lang="en-US" sz="1000" dirty="0"/>
          </a:p>
        </p:txBody>
      </p:sp>
      <p:sp>
        <p:nvSpPr>
          <p:cNvPr id="26" name="Text 24"/>
          <p:cNvSpPr/>
          <p:nvPr/>
        </p:nvSpPr>
        <p:spPr>
          <a:xfrm>
            <a:off x="3474720" y="2240280"/>
            <a:ext cx="2148840" cy="201168"/>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I_i = | \frac{\partial L}{\partial w_i} \cdot w_i |</a:t>
            </a:r>
            <a:endParaRPr lang="en-US" sz="900" dirty="0"/>
          </a:p>
        </p:txBody>
      </p:sp>
      <p:sp>
        <p:nvSpPr>
          <p:cNvPr id="27" name="Text 25"/>
          <p:cNvSpPr/>
          <p:nvPr/>
        </p:nvSpPr>
        <p:spPr>
          <a:xfrm>
            <a:off x="3474720" y="246888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Measures exact first-order change in loss when removing weight w_i.</a:t>
            </a:r>
            <a:endParaRPr lang="en-US" sz="900" dirty="0"/>
          </a:p>
        </p:txBody>
      </p:sp>
      <p:sp>
        <p:nvSpPr>
          <p:cNvPr id="28" name="Shape 26"/>
          <p:cNvSpPr/>
          <p:nvPr/>
        </p:nvSpPr>
        <p:spPr>
          <a:xfrm>
            <a:off x="3383280" y="3291840"/>
            <a:ext cx="2331720" cy="1234440"/>
          </a:xfrm>
          <a:prstGeom prst="roundRect">
            <a:avLst>
              <a:gd name="adj" fmla="val 3704"/>
            </a:avLst>
          </a:prstGeom>
          <a:solidFill>
            <a:srgbClr val="1E293B"/>
          </a:solidFill>
          <a:ln w="12700">
            <a:solidFill>
              <a:srgbClr val="2D3B59"/>
            </a:solidFill>
            <a:prstDash val="solid"/>
          </a:ln>
        </p:spPr>
      </p:sp>
      <p:sp>
        <p:nvSpPr>
          <p:cNvPr id="29" name="Text 27"/>
          <p:cNvSpPr/>
          <p:nvPr/>
        </p:nvSpPr>
        <p:spPr>
          <a:xfrm>
            <a:off x="3474720" y="336499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Data-Aware Metrics</a:t>
            </a:r>
            <a:endParaRPr lang="en-US" sz="1000" dirty="0"/>
          </a:p>
        </p:txBody>
      </p:sp>
      <p:sp>
        <p:nvSpPr>
          <p:cNvPr id="30" name="Text 28"/>
          <p:cNvSpPr/>
          <p:nvPr/>
        </p:nvSpPr>
        <p:spPr>
          <a:xfrm>
            <a:off x="3474720" y="3566160"/>
            <a:ext cx="2148840" cy="201168"/>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SNIP / GraSP / Movement</a:t>
            </a:r>
            <a:endParaRPr lang="en-US" sz="900" dirty="0"/>
          </a:p>
        </p:txBody>
      </p:sp>
      <p:sp>
        <p:nvSpPr>
          <p:cNvPr id="31" name="Text 29"/>
          <p:cNvSpPr/>
          <p:nvPr/>
        </p:nvSpPr>
        <p:spPr>
          <a:xfrm>
            <a:off x="3474720" y="379476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Evaluates saliency before training or dynamically during fine-tuning.</a:t>
            </a:r>
            <a:endParaRPr lang="en-US" sz="900" dirty="0"/>
          </a:p>
        </p:txBody>
      </p:sp>
      <p:sp>
        <p:nvSpPr>
          <p:cNvPr id="32" name="Shape 30"/>
          <p:cNvSpPr/>
          <p:nvPr/>
        </p:nvSpPr>
        <p:spPr>
          <a:xfrm>
            <a:off x="6035040" y="1234440"/>
            <a:ext cx="2606040" cy="3429000"/>
          </a:xfrm>
          <a:prstGeom prst="roundRect">
            <a:avLst>
              <a:gd name="adj" fmla="val 2807"/>
            </a:avLst>
          </a:prstGeom>
          <a:solidFill>
            <a:srgbClr val="161F33"/>
          </a:solidFill>
          <a:ln w="12700">
            <a:solidFill>
              <a:srgbClr val="2D3B59"/>
            </a:solidFill>
            <a:prstDash val="solid"/>
          </a:ln>
        </p:spPr>
      </p:sp>
      <p:sp>
        <p:nvSpPr>
          <p:cNvPr id="33" name="Text 31"/>
          <p:cNvSpPr/>
          <p:nvPr/>
        </p:nvSpPr>
        <p:spPr>
          <a:xfrm>
            <a:off x="6172200" y="1371600"/>
            <a:ext cx="2331720" cy="228600"/>
          </a:xfrm>
          <a:prstGeom prst="rect">
            <a:avLst/>
          </a:prstGeom>
          <a:noFill/>
          <a:ln/>
        </p:spPr>
        <p:txBody>
          <a:bodyPr wrap="square" rtlCol="0" anchor="ctr"/>
          <a:lstStyle/>
          <a:p>
            <a:pPr indent="0" marL="0">
              <a:buNone/>
            </a:pPr>
            <a:r>
              <a:rPr lang="en-US" sz="1100" b="1" dirty="0">
                <a:solidFill>
                  <a:srgbClr val="A855F7"/>
                </a:solidFill>
                <a:latin typeface="Arial" pitchFamily="34" charset="0"/>
                <a:ea typeface="Arial" pitchFamily="34" charset="-122"/>
                <a:cs typeface="Arial" pitchFamily="34" charset="-120"/>
              </a:rPr>
              <a:t>SECOND-ORDER &amp; INFORMATION</a:t>
            </a:r>
            <a:endParaRPr lang="en-US" sz="1100" dirty="0"/>
          </a:p>
        </p:txBody>
      </p:sp>
      <p:sp>
        <p:nvSpPr>
          <p:cNvPr id="34" name="Text 32"/>
          <p:cNvSpPr/>
          <p:nvPr/>
        </p:nvSpPr>
        <p:spPr>
          <a:xfrm>
            <a:off x="6172200" y="1600200"/>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Curvature &amp; Variance Analysis</a:t>
            </a:r>
            <a:endParaRPr lang="en-US" sz="900" dirty="0"/>
          </a:p>
        </p:txBody>
      </p:sp>
      <p:sp>
        <p:nvSpPr>
          <p:cNvPr id="35" name="Shape 33"/>
          <p:cNvSpPr/>
          <p:nvPr/>
        </p:nvSpPr>
        <p:spPr>
          <a:xfrm>
            <a:off x="6172200" y="1828800"/>
            <a:ext cx="2331720" cy="0"/>
          </a:xfrm>
          <a:prstGeom prst="line">
            <a:avLst/>
          </a:prstGeom>
          <a:noFill/>
          <a:ln w="12700">
            <a:solidFill>
              <a:srgbClr val="2D3B59"/>
            </a:solidFill>
            <a:prstDash val="solid"/>
          </a:ln>
        </p:spPr>
      </p:sp>
      <p:sp>
        <p:nvSpPr>
          <p:cNvPr id="36" name="Shape 34"/>
          <p:cNvSpPr/>
          <p:nvPr/>
        </p:nvSpPr>
        <p:spPr>
          <a:xfrm>
            <a:off x="6172200" y="1965960"/>
            <a:ext cx="2331720" cy="1234440"/>
          </a:xfrm>
          <a:prstGeom prst="roundRect">
            <a:avLst>
              <a:gd name="adj" fmla="val 3704"/>
            </a:avLst>
          </a:prstGeom>
          <a:solidFill>
            <a:srgbClr val="1E293B"/>
          </a:solidFill>
          <a:ln w="12700">
            <a:solidFill>
              <a:srgbClr val="2D3B59"/>
            </a:solidFill>
            <a:prstDash val="solid"/>
          </a:ln>
        </p:spPr>
      </p:sp>
      <p:sp>
        <p:nvSpPr>
          <p:cNvPr id="37" name="Text 35"/>
          <p:cNvSpPr/>
          <p:nvPr/>
        </p:nvSpPr>
        <p:spPr>
          <a:xfrm>
            <a:off x="6263640" y="203911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Hessian-Based (OBD/OBS)</a:t>
            </a:r>
            <a:endParaRPr lang="en-US" sz="1000" dirty="0"/>
          </a:p>
        </p:txBody>
      </p:sp>
      <p:sp>
        <p:nvSpPr>
          <p:cNvPr id="38" name="Text 36"/>
          <p:cNvSpPr/>
          <p:nvPr/>
        </p:nvSpPr>
        <p:spPr>
          <a:xfrm>
            <a:off x="6263640" y="2240280"/>
            <a:ext cx="2148840" cy="201168"/>
          </a:xfrm>
          <a:prstGeom prst="rect">
            <a:avLst/>
          </a:prstGeom>
          <a:noFill/>
          <a:ln/>
        </p:spPr>
        <p:txBody>
          <a:bodyPr wrap="square" rtlCol="0" anchor="ctr"/>
          <a:lstStyle/>
          <a:p>
            <a:pPr indent="0" marL="0">
              <a:buNone/>
            </a:pPr>
            <a:r>
              <a:rPr lang="en-US" sz="900" b="1" dirty="0">
                <a:solidFill>
                  <a:srgbClr val="A855F7"/>
                </a:solidFill>
                <a:latin typeface="Arial" pitchFamily="34" charset="0"/>
                <a:ea typeface="Arial" pitchFamily="34" charset="-122"/>
                <a:cs typeface="Arial" pitchFamily="34" charset="-120"/>
              </a:rPr>
              <a:t>S_i = w_i^T H w_i</a:t>
            </a:r>
            <a:endParaRPr lang="en-US" sz="900" dirty="0"/>
          </a:p>
        </p:txBody>
      </p:sp>
      <p:sp>
        <p:nvSpPr>
          <p:cNvPr id="39" name="Text 37"/>
          <p:cNvSpPr/>
          <p:nvPr/>
        </p:nvSpPr>
        <p:spPr>
          <a:xfrm>
            <a:off x="6263640" y="246888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Uses loss surface curvature (Hessian matrix) for optimal weight deletion.</a:t>
            </a:r>
            <a:endParaRPr lang="en-US" sz="900" dirty="0"/>
          </a:p>
        </p:txBody>
      </p:sp>
      <p:sp>
        <p:nvSpPr>
          <p:cNvPr id="40" name="Shape 38"/>
          <p:cNvSpPr/>
          <p:nvPr/>
        </p:nvSpPr>
        <p:spPr>
          <a:xfrm>
            <a:off x="6172200" y="3291840"/>
            <a:ext cx="2331720" cy="1234440"/>
          </a:xfrm>
          <a:prstGeom prst="roundRect">
            <a:avLst>
              <a:gd name="adj" fmla="val 3704"/>
            </a:avLst>
          </a:prstGeom>
          <a:solidFill>
            <a:srgbClr val="1E293B"/>
          </a:solidFill>
          <a:ln w="12700">
            <a:solidFill>
              <a:srgbClr val="2D3B59"/>
            </a:solidFill>
            <a:prstDash val="solid"/>
          </a:ln>
        </p:spPr>
      </p:sp>
      <p:sp>
        <p:nvSpPr>
          <p:cNvPr id="41" name="Text 39"/>
          <p:cNvSpPr/>
          <p:nvPr/>
        </p:nvSpPr>
        <p:spPr>
          <a:xfrm>
            <a:off x="6263640" y="3364992"/>
            <a:ext cx="2148840" cy="201168"/>
          </a:xfrm>
          <a:prstGeom prst="rect">
            <a:avLst/>
          </a:prstGeom>
          <a:noFill/>
          <a:ln/>
        </p:spPr>
        <p:txBody>
          <a:bodyPr wrap="square" rtlCol="0" anchor="ctr"/>
          <a:lstStyle/>
          <a:p>
            <a:pPr indent="0" marL="0">
              <a:buNone/>
            </a:pPr>
            <a:r>
              <a:rPr lang="en-US" sz="1000" b="1" dirty="0">
                <a:solidFill>
                  <a:srgbClr val="F8FAFC"/>
                </a:solidFill>
                <a:latin typeface="Arial" pitchFamily="34" charset="0"/>
                <a:ea typeface="Arial" pitchFamily="34" charset="-122"/>
                <a:cs typeface="Arial" pitchFamily="34" charset="-120"/>
              </a:rPr>
              <a:t>Fisher Information Matrix</a:t>
            </a:r>
            <a:endParaRPr lang="en-US" sz="1000" dirty="0"/>
          </a:p>
        </p:txBody>
      </p:sp>
      <p:sp>
        <p:nvSpPr>
          <p:cNvPr id="42" name="Text 40"/>
          <p:cNvSpPr/>
          <p:nvPr/>
        </p:nvSpPr>
        <p:spPr>
          <a:xfrm>
            <a:off x="6263640" y="3566160"/>
            <a:ext cx="2148840" cy="201168"/>
          </a:xfrm>
          <a:prstGeom prst="rect">
            <a:avLst/>
          </a:prstGeom>
          <a:noFill/>
          <a:ln/>
        </p:spPr>
        <p:txBody>
          <a:bodyPr wrap="square" rtlCol="0" anchor="ctr"/>
          <a:lstStyle/>
          <a:p>
            <a:pPr indent="0" marL="0">
              <a:buNone/>
            </a:pPr>
            <a:r>
              <a:rPr lang="en-US" sz="900" b="1" dirty="0">
                <a:solidFill>
                  <a:srgbClr val="A855F7"/>
                </a:solidFill>
                <a:latin typeface="Arial" pitchFamily="34" charset="0"/>
                <a:ea typeface="Arial" pitchFamily="34" charset="-122"/>
                <a:cs typeface="Arial" pitchFamily="34" charset="-120"/>
              </a:rPr>
              <a:t>F = \mathbb{E}[\nabla L \nabla L^T]</a:t>
            </a:r>
            <a:endParaRPr lang="en-US" sz="900" dirty="0"/>
          </a:p>
        </p:txBody>
      </p:sp>
      <p:sp>
        <p:nvSpPr>
          <p:cNvPr id="43" name="Text 41"/>
          <p:cNvSpPr/>
          <p:nvPr/>
        </p:nvSpPr>
        <p:spPr>
          <a:xfrm>
            <a:off x="6263640" y="3794760"/>
            <a:ext cx="2148840" cy="64008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Approximates information content and gradient variance per layer.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SENSITIVITY PROFILING</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Deep Dive: Sensitivity Analysis &amp; Layer Profiling</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3931920" cy="3429000"/>
          </a:xfrm>
          <a:prstGeom prst="roundRect">
            <a:avLst>
              <a:gd name="adj" fmla="val 2133"/>
            </a:avLst>
          </a:prstGeom>
          <a:solidFill>
            <a:srgbClr val="161F33"/>
          </a:solidFill>
          <a:ln w="12700">
            <a:solidFill>
              <a:srgbClr val="2D3B59"/>
            </a:solidFill>
            <a:prstDash val="solid"/>
          </a:ln>
        </p:spPr>
      </p:sp>
      <p:sp>
        <p:nvSpPr>
          <p:cNvPr id="9" name="Text 7"/>
          <p:cNvSpPr/>
          <p:nvPr/>
        </p:nvSpPr>
        <p:spPr>
          <a:xfrm>
            <a:off x="640080" y="1371600"/>
            <a:ext cx="3566160" cy="274320"/>
          </a:xfrm>
          <a:prstGeom prst="rect">
            <a:avLst/>
          </a:prstGeom>
          <a:noFill/>
          <a:ln/>
        </p:spPr>
        <p:txBody>
          <a:bodyPr wrap="square" rtlCol="0" anchor="ctr"/>
          <a:lstStyle/>
          <a:p>
            <a:pPr indent="0" marL="0">
              <a:buNone/>
            </a:pPr>
            <a:r>
              <a:rPr lang="en-US" sz="1200" b="1" dirty="0">
                <a:solidFill>
                  <a:srgbClr val="00E5FF"/>
                </a:solidFill>
                <a:latin typeface="Arial" pitchFamily="34" charset="0"/>
                <a:ea typeface="Arial" pitchFamily="34" charset="-122"/>
                <a:cs typeface="Arial" pitchFamily="34" charset="-120"/>
              </a:rPr>
              <a:t>LAYER SENSITIVITY PROBING WORKFLOW</a:t>
            </a:r>
            <a:endParaRPr lang="en-US" sz="1200" dirty="0"/>
          </a:p>
        </p:txBody>
      </p:sp>
      <p:sp>
        <p:nvSpPr>
          <p:cNvPr id="10" name="Shape 8"/>
          <p:cNvSpPr/>
          <p:nvPr/>
        </p:nvSpPr>
        <p:spPr>
          <a:xfrm>
            <a:off x="640080" y="1783080"/>
            <a:ext cx="3566160" cy="566928"/>
          </a:xfrm>
          <a:prstGeom prst="rect">
            <a:avLst/>
          </a:prstGeom>
          <a:solidFill>
            <a:srgbClr val="1E293B"/>
          </a:solidFill>
          <a:ln w="12700">
            <a:solidFill>
              <a:srgbClr val="2D3B59"/>
            </a:solidFill>
            <a:prstDash val="solid"/>
          </a:ln>
        </p:spPr>
      </p:sp>
      <p:sp>
        <p:nvSpPr>
          <p:cNvPr id="11" name="Text 9"/>
          <p:cNvSpPr/>
          <p:nvPr/>
        </p:nvSpPr>
        <p:spPr>
          <a:xfrm>
            <a:off x="731520" y="1828800"/>
            <a:ext cx="3383280" cy="201168"/>
          </a:xfrm>
          <a:prstGeom prst="rect">
            <a:avLst/>
          </a:prstGeom>
          <a:noFill/>
          <a:ln/>
        </p:spPr>
        <p:txBody>
          <a:bodyPr wrap="square" rtlCol="0" anchor="ctr"/>
          <a:lstStyle/>
          <a:p>
            <a:pPr indent="0" marL="0">
              <a:buNone/>
            </a:pPr>
            <a:r>
              <a:rPr lang="en-US" sz="1000" b="1" dirty="0">
                <a:solidFill>
                  <a:srgbClr val="00E5FF"/>
                </a:solidFill>
                <a:latin typeface="Arial" pitchFamily="34" charset="0"/>
                <a:ea typeface="Arial" pitchFamily="34" charset="-122"/>
                <a:cs typeface="Arial" pitchFamily="34" charset="-120"/>
              </a:rPr>
              <a:t>1. Temporary Pruning</a:t>
            </a:r>
            <a:endParaRPr lang="en-US" sz="1000" dirty="0"/>
          </a:p>
        </p:txBody>
      </p:sp>
      <p:sp>
        <p:nvSpPr>
          <p:cNvPr id="12" name="Text 10"/>
          <p:cNvSpPr/>
          <p:nvPr/>
        </p:nvSpPr>
        <p:spPr>
          <a:xfrm>
            <a:off x="731520" y="2039112"/>
            <a:ext cx="338328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Isolate single candidate layer &amp; apply ratios [10%, 20%, ... 80%].</a:t>
            </a:r>
            <a:endParaRPr lang="en-US" sz="900" dirty="0"/>
          </a:p>
        </p:txBody>
      </p:sp>
      <p:sp>
        <p:nvSpPr>
          <p:cNvPr id="13" name="Shape 11"/>
          <p:cNvSpPr/>
          <p:nvPr/>
        </p:nvSpPr>
        <p:spPr>
          <a:xfrm>
            <a:off x="640080" y="2441448"/>
            <a:ext cx="3566160" cy="566928"/>
          </a:xfrm>
          <a:prstGeom prst="rect">
            <a:avLst/>
          </a:prstGeom>
          <a:solidFill>
            <a:srgbClr val="1E293B"/>
          </a:solidFill>
          <a:ln w="12700">
            <a:solidFill>
              <a:srgbClr val="2D3B59"/>
            </a:solidFill>
            <a:prstDash val="solid"/>
          </a:ln>
        </p:spPr>
      </p:sp>
      <p:sp>
        <p:nvSpPr>
          <p:cNvPr id="14" name="Text 12"/>
          <p:cNvSpPr/>
          <p:nvPr/>
        </p:nvSpPr>
        <p:spPr>
          <a:xfrm>
            <a:off x="731520" y="2487168"/>
            <a:ext cx="3383280" cy="201168"/>
          </a:xfrm>
          <a:prstGeom prst="rect">
            <a:avLst/>
          </a:prstGeom>
          <a:noFill/>
          <a:ln/>
        </p:spPr>
        <p:txBody>
          <a:bodyPr wrap="square" rtlCol="0" anchor="ctr"/>
          <a:lstStyle/>
          <a:p>
            <a:pPr indent="0" marL="0">
              <a:buNone/>
            </a:pPr>
            <a:r>
              <a:rPr lang="en-US" sz="1000" b="1" dirty="0">
                <a:solidFill>
                  <a:srgbClr val="00E5FF"/>
                </a:solidFill>
                <a:latin typeface="Arial" pitchFamily="34" charset="0"/>
                <a:ea typeface="Arial" pitchFamily="34" charset="-122"/>
                <a:cs typeface="Arial" pitchFamily="34" charset="-120"/>
              </a:rPr>
              <a:t>2. Validation Evaluation</a:t>
            </a:r>
            <a:endParaRPr lang="en-US" sz="1000" dirty="0"/>
          </a:p>
        </p:txBody>
      </p:sp>
      <p:sp>
        <p:nvSpPr>
          <p:cNvPr id="15" name="Text 13"/>
          <p:cNvSpPr/>
          <p:nvPr/>
        </p:nvSpPr>
        <p:spPr>
          <a:xfrm>
            <a:off x="731520" y="2697480"/>
            <a:ext cx="338328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Pass validation mini-batches to measure instantaneous loss / accuracy drop.</a:t>
            </a:r>
            <a:endParaRPr lang="en-US" sz="900" dirty="0"/>
          </a:p>
        </p:txBody>
      </p:sp>
      <p:sp>
        <p:nvSpPr>
          <p:cNvPr id="16" name="Shape 14"/>
          <p:cNvSpPr/>
          <p:nvPr/>
        </p:nvSpPr>
        <p:spPr>
          <a:xfrm>
            <a:off x="640080" y="3099816"/>
            <a:ext cx="3566160" cy="566928"/>
          </a:xfrm>
          <a:prstGeom prst="rect">
            <a:avLst/>
          </a:prstGeom>
          <a:solidFill>
            <a:srgbClr val="1E293B"/>
          </a:solidFill>
          <a:ln w="12700">
            <a:solidFill>
              <a:srgbClr val="2D3B59"/>
            </a:solidFill>
            <a:prstDash val="solid"/>
          </a:ln>
        </p:spPr>
      </p:sp>
      <p:sp>
        <p:nvSpPr>
          <p:cNvPr id="17" name="Text 15"/>
          <p:cNvSpPr/>
          <p:nvPr/>
        </p:nvSpPr>
        <p:spPr>
          <a:xfrm>
            <a:off x="731520" y="3145536"/>
            <a:ext cx="3383280" cy="201168"/>
          </a:xfrm>
          <a:prstGeom prst="rect">
            <a:avLst/>
          </a:prstGeom>
          <a:noFill/>
          <a:ln/>
        </p:spPr>
        <p:txBody>
          <a:bodyPr wrap="square" rtlCol="0" anchor="ctr"/>
          <a:lstStyle/>
          <a:p>
            <a:pPr indent="0" marL="0">
              <a:buNone/>
            </a:pPr>
            <a:r>
              <a:rPr lang="en-US" sz="1000" b="1" dirty="0">
                <a:solidFill>
                  <a:srgbClr val="00E5FF"/>
                </a:solidFill>
                <a:latin typeface="Arial" pitchFamily="34" charset="0"/>
                <a:ea typeface="Arial" pitchFamily="34" charset="-122"/>
                <a:cs typeface="Arial" pitchFamily="34" charset="-120"/>
              </a:rPr>
              <a:t>3. Curve Generation</a:t>
            </a:r>
            <a:endParaRPr lang="en-US" sz="1000" dirty="0"/>
          </a:p>
        </p:txBody>
      </p:sp>
      <p:sp>
        <p:nvSpPr>
          <p:cNvPr id="18" name="Text 16"/>
          <p:cNvSpPr/>
          <p:nvPr/>
        </p:nvSpPr>
        <p:spPr>
          <a:xfrm>
            <a:off x="731520" y="3355848"/>
            <a:ext cx="338328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Plot Sensitivity Curve (Pruning Ratio vs. Accuracy Degradation).</a:t>
            </a:r>
            <a:endParaRPr lang="en-US" sz="900" dirty="0"/>
          </a:p>
        </p:txBody>
      </p:sp>
      <p:sp>
        <p:nvSpPr>
          <p:cNvPr id="19" name="Shape 17"/>
          <p:cNvSpPr/>
          <p:nvPr/>
        </p:nvSpPr>
        <p:spPr>
          <a:xfrm>
            <a:off x="640080" y="3758184"/>
            <a:ext cx="3566160" cy="566928"/>
          </a:xfrm>
          <a:prstGeom prst="rect">
            <a:avLst/>
          </a:prstGeom>
          <a:solidFill>
            <a:srgbClr val="1E293B"/>
          </a:solidFill>
          <a:ln w="12700">
            <a:solidFill>
              <a:srgbClr val="2D3B59"/>
            </a:solidFill>
            <a:prstDash val="solid"/>
          </a:ln>
        </p:spPr>
      </p:sp>
      <p:sp>
        <p:nvSpPr>
          <p:cNvPr id="20" name="Text 18"/>
          <p:cNvSpPr/>
          <p:nvPr/>
        </p:nvSpPr>
        <p:spPr>
          <a:xfrm>
            <a:off x="731520" y="3803904"/>
            <a:ext cx="3383280" cy="201168"/>
          </a:xfrm>
          <a:prstGeom prst="rect">
            <a:avLst/>
          </a:prstGeom>
          <a:noFill/>
          <a:ln/>
        </p:spPr>
        <p:txBody>
          <a:bodyPr wrap="square" rtlCol="0" anchor="ctr"/>
          <a:lstStyle/>
          <a:p>
            <a:pPr indent="0" marL="0">
              <a:buNone/>
            </a:pPr>
            <a:r>
              <a:rPr lang="en-US" sz="1000" b="1" dirty="0">
                <a:solidFill>
                  <a:srgbClr val="00E5FF"/>
                </a:solidFill>
                <a:latin typeface="Arial" pitchFamily="34" charset="0"/>
                <a:ea typeface="Arial" pitchFamily="34" charset="-122"/>
                <a:cs typeface="Arial" pitchFamily="34" charset="-120"/>
              </a:rPr>
              <a:t>4. Threshold Mapping</a:t>
            </a:r>
            <a:endParaRPr lang="en-US" sz="1000" dirty="0"/>
          </a:p>
        </p:txBody>
      </p:sp>
      <p:sp>
        <p:nvSpPr>
          <p:cNvPr id="21" name="Text 19"/>
          <p:cNvSpPr/>
          <p:nvPr/>
        </p:nvSpPr>
        <p:spPr>
          <a:xfrm>
            <a:off x="731520" y="4014216"/>
            <a:ext cx="338328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Classify layers into Robust, Moderate, or Highly Sensitive groups.</a:t>
            </a:r>
            <a:endParaRPr lang="en-US" sz="900" dirty="0"/>
          </a:p>
        </p:txBody>
      </p:sp>
      <p:sp>
        <p:nvSpPr>
          <p:cNvPr id="22" name="Shape 20"/>
          <p:cNvSpPr/>
          <p:nvPr/>
        </p:nvSpPr>
        <p:spPr>
          <a:xfrm>
            <a:off x="4572000" y="1234440"/>
            <a:ext cx="4114800" cy="3429000"/>
          </a:xfrm>
          <a:prstGeom prst="roundRect">
            <a:avLst>
              <a:gd name="adj" fmla="val 2133"/>
            </a:avLst>
          </a:prstGeom>
          <a:solidFill>
            <a:srgbClr val="161F33"/>
          </a:solidFill>
          <a:ln w="12700">
            <a:solidFill>
              <a:srgbClr val="2D3B59"/>
            </a:solidFill>
            <a:prstDash val="solid"/>
          </a:ln>
        </p:spPr>
      </p:sp>
      <p:sp>
        <p:nvSpPr>
          <p:cNvPr id="23" name="Text 21"/>
          <p:cNvSpPr/>
          <p:nvPr/>
        </p:nvSpPr>
        <p:spPr>
          <a:xfrm>
            <a:off x="4754880" y="1371600"/>
            <a:ext cx="3749040" cy="274320"/>
          </a:xfrm>
          <a:prstGeom prst="rect">
            <a:avLst/>
          </a:prstGeom>
          <a:noFill/>
          <a:ln/>
        </p:spPr>
        <p:txBody>
          <a:bodyPr wrap="square" rtlCol="0" anchor="ctr"/>
          <a:lstStyle/>
          <a:p>
            <a:pPr indent="0" marL="0">
              <a:buNone/>
            </a:pPr>
            <a:r>
              <a:rPr lang="en-US" sz="1200" b="1" dirty="0">
                <a:solidFill>
                  <a:srgbClr val="00E5FF"/>
                </a:solidFill>
                <a:latin typeface="Arial" pitchFamily="34" charset="0"/>
                <a:ea typeface="Arial" pitchFamily="34" charset="-122"/>
                <a:cs typeface="Arial" pitchFamily="34" charset="-120"/>
              </a:rPr>
              <a:t>LAYER SENSITIVITY CATEGORIZATION</a:t>
            </a:r>
            <a:endParaRPr lang="en-US" sz="1200" dirty="0"/>
          </a:p>
        </p:txBody>
      </p:sp>
      <p:sp>
        <p:nvSpPr>
          <p:cNvPr id="24" name="Shape 22"/>
          <p:cNvSpPr/>
          <p:nvPr/>
        </p:nvSpPr>
        <p:spPr>
          <a:xfrm>
            <a:off x="4754880" y="1783080"/>
            <a:ext cx="3749040" cy="822960"/>
          </a:xfrm>
          <a:prstGeom prst="roundRect">
            <a:avLst>
              <a:gd name="adj" fmla="val 5556"/>
            </a:avLst>
          </a:prstGeom>
          <a:solidFill>
            <a:srgbClr val="1E293B"/>
          </a:solidFill>
          <a:ln w="12700">
            <a:solidFill>
              <a:srgbClr val="10B981"/>
            </a:solidFill>
            <a:prstDash val="solid"/>
          </a:ln>
        </p:spPr>
      </p:sp>
      <p:sp>
        <p:nvSpPr>
          <p:cNvPr id="25" name="Text 23"/>
          <p:cNvSpPr/>
          <p:nvPr/>
        </p:nvSpPr>
        <p:spPr>
          <a:xfrm>
            <a:off x="4892040" y="1856232"/>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ROBUST LAYERS (e.g., Deep Conv / MLP)</a:t>
            </a:r>
            <a:endParaRPr lang="en-US" sz="1000" dirty="0"/>
          </a:p>
        </p:txBody>
      </p:sp>
      <p:sp>
        <p:nvSpPr>
          <p:cNvPr id="26" name="Text 24"/>
          <p:cNvSpPr/>
          <p:nvPr/>
        </p:nvSpPr>
        <p:spPr>
          <a:xfrm>
            <a:off x="4892040" y="2057400"/>
            <a:ext cx="3474720" cy="182880"/>
          </a:xfrm>
          <a:prstGeom prst="rect">
            <a:avLst/>
          </a:prstGeom>
          <a:noFill/>
          <a:ln/>
        </p:spPr>
        <p:txBody>
          <a:bodyPr wrap="square" rtlCol="0" anchor="ctr"/>
          <a:lstStyle/>
          <a:p>
            <a:pPr indent="0" marL="0">
              <a:buNone/>
            </a:pPr>
            <a:r>
              <a:rPr lang="en-US" sz="900" b="1" dirty="0">
                <a:solidFill>
                  <a:srgbClr val="F8FAFC"/>
                </a:solidFill>
                <a:latin typeface="Arial" pitchFamily="34" charset="0"/>
                <a:ea typeface="Arial" pitchFamily="34" charset="-122"/>
                <a:cs typeface="Arial" pitchFamily="34" charset="-120"/>
              </a:rPr>
              <a:t>High Capacity: 40% - 60% Pruning</a:t>
            </a:r>
            <a:endParaRPr lang="en-US" sz="900" dirty="0"/>
          </a:p>
        </p:txBody>
      </p:sp>
      <p:sp>
        <p:nvSpPr>
          <p:cNvPr id="27" name="Text 25"/>
          <p:cNvSpPr/>
          <p:nvPr/>
        </p:nvSpPr>
        <p:spPr>
          <a:xfrm>
            <a:off x="4892040" y="2258568"/>
            <a:ext cx="3474720" cy="32004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Redundant feature maps. Can be pruned aggressively with negligible accuracy impact.</a:t>
            </a:r>
            <a:endParaRPr lang="en-US" sz="900" dirty="0"/>
          </a:p>
        </p:txBody>
      </p:sp>
      <p:sp>
        <p:nvSpPr>
          <p:cNvPr id="28" name="Shape 26"/>
          <p:cNvSpPr/>
          <p:nvPr/>
        </p:nvSpPr>
        <p:spPr>
          <a:xfrm>
            <a:off x="4754880" y="2679192"/>
            <a:ext cx="3749040" cy="822960"/>
          </a:xfrm>
          <a:prstGeom prst="roundRect">
            <a:avLst>
              <a:gd name="adj" fmla="val 5556"/>
            </a:avLst>
          </a:prstGeom>
          <a:solidFill>
            <a:srgbClr val="1E293B"/>
          </a:solidFill>
          <a:ln w="12700">
            <a:solidFill>
              <a:srgbClr val="F59E0B"/>
            </a:solidFill>
            <a:prstDash val="solid"/>
          </a:ln>
        </p:spPr>
      </p:sp>
      <p:sp>
        <p:nvSpPr>
          <p:cNvPr id="29" name="Text 27"/>
          <p:cNvSpPr/>
          <p:nvPr/>
        </p:nvSpPr>
        <p:spPr>
          <a:xfrm>
            <a:off x="4892040" y="2752344"/>
            <a:ext cx="3474720" cy="201168"/>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MODERATE LAYERS (e.g., Mid-stage Layers)</a:t>
            </a:r>
            <a:endParaRPr lang="en-US" sz="1000" dirty="0"/>
          </a:p>
        </p:txBody>
      </p:sp>
      <p:sp>
        <p:nvSpPr>
          <p:cNvPr id="30" name="Text 28"/>
          <p:cNvSpPr/>
          <p:nvPr/>
        </p:nvSpPr>
        <p:spPr>
          <a:xfrm>
            <a:off x="4892040" y="2953512"/>
            <a:ext cx="3474720" cy="182880"/>
          </a:xfrm>
          <a:prstGeom prst="rect">
            <a:avLst/>
          </a:prstGeom>
          <a:noFill/>
          <a:ln/>
        </p:spPr>
        <p:txBody>
          <a:bodyPr wrap="square" rtlCol="0" anchor="ctr"/>
          <a:lstStyle/>
          <a:p>
            <a:pPr indent="0" marL="0">
              <a:buNone/>
            </a:pPr>
            <a:r>
              <a:rPr lang="en-US" sz="900" b="1" dirty="0">
                <a:solidFill>
                  <a:srgbClr val="F8FAFC"/>
                </a:solidFill>
                <a:latin typeface="Arial" pitchFamily="34" charset="0"/>
                <a:ea typeface="Arial" pitchFamily="34" charset="-122"/>
                <a:cs typeface="Arial" pitchFamily="34" charset="-120"/>
              </a:rPr>
              <a:t>Medium Capacity: 20% - 30% Pruning</a:t>
            </a:r>
            <a:endParaRPr lang="en-US" sz="900" dirty="0"/>
          </a:p>
        </p:txBody>
      </p:sp>
      <p:sp>
        <p:nvSpPr>
          <p:cNvPr id="31" name="Text 29"/>
          <p:cNvSpPr/>
          <p:nvPr/>
        </p:nvSpPr>
        <p:spPr>
          <a:xfrm>
            <a:off x="4892040" y="3154680"/>
            <a:ext cx="3474720" cy="32004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Balanced capacity. Requires moderate pruning ratio &amp; fine-tuning recovery.</a:t>
            </a:r>
            <a:endParaRPr lang="en-US" sz="900" dirty="0"/>
          </a:p>
        </p:txBody>
      </p:sp>
      <p:sp>
        <p:nvSpPr>
          <p:cNvPr id="32" name="Shape 30"/>
          <p:cNvSpPr/>
          <p:nvPr/>
        </p:nvSpPr>
        <p:spPr>
          <a:xfrm>
            <a:off x="4754880" y="3575304"/>
            <a:ext cx="3749040" cy="822960"/>
          </a:xfrm>
          <a:prstGeom prst="roundRect">
            <a:avLst>
              <a:gd name="adj" fmla="val 5556"/>
            </a:avLst>
          </a:prstGeom>
          <a:solidFill>
            <a:srgbClr val="1E293B"/>
          </a:solidFill>
          <a:ln w="12700">
            <a:solidFill>
              <a:srgbClr val="F43F5E"/>
            </a:solidFill>
            <a:prstDash val="solid"/>
          </a:ln>
        </p:spPr>
      </p:sp>
      <p:sp>
        <p:nvSpPr>
          <p:cNvPr id="33" name="Text 31"/>
          <p:cNvSpPr/>
          <p:nvPr/>
        </p:nvSpPr>
        <p:spPr>
          <a:xfrm>
            <a:off x="4892040" y="3648456"/>
            <a:ext cx="3474720" cy="201168"/>
          </a:xfrm>
          <a:prstGeom prst="rect">
            <a:avLst/>
          </a:prstGeom>
          <a:noFill/>
          <a:ln/>
        </p:spPr>
        <p:txBody>
          <a:bodyPr wrap="square" rtlCol="0" anchor="ctr"/>
          <a:lstStyle/>
          <a:p>
            <a:pPr indent="0" marL="0">
              <a:buNone/>
            </a:pPr>
            <a:r>
              <a:rPr lang="en-US" sz="1000" b="1" dirty="0">
                <a:solidFill>
                  <a:srgbClr val="F43F5E"/>
                </a:solidFill>
                <a:latin typeface="Arial" pitchFamily="34" charset="0"/>
                <a:ea typeface="Arial" pitchFamily="34" charset="-122"/>
                <a:cs typeface="Arial" pitchFamily="34" charset="-120"/>
              </a:rPr>
              <a:t>SENSITIVE LAYERS (e.g., First Conv / Output Heads)</a:t>
            </a:r>
            <a:endParaRPr lang="en-US" sz="1000" dirty="0"/>
          </a:p>
        </p:txBody>
      </p:sp>
      <p:sp>
        <p:nvSpPr>
          <p:cNvPr id="34" name="Text 32"/>
          <p:cNvSpPr/>
          <p:nvPr/>
        </p:nvSpPr>
        <p:spPr>
          <a:xfrm>
            <a:off x="4892040" y="3849624"/>
            <a:ext cx="3474720" cy="182880"/>
          </a:xfrm>
          <a:prstGeom prst="rect">
            <a:avLst/>
          </a:prstGeom>
          <a:noFill/>
          <a:ln/>
        </p:spPr>
        <p:txBody>
          <a:bodyPr wrap="square" rtlCol="0" anchor="ctr"/>
          <a:lstStyle/>
          <a:p>
            <a:pPr indent="0" marL="0">
              <a:buNone/>
            </a:pPr>
            <a:r>
              <a:rPr lang="en-US" sz="900" b="1" dirty="0">
                <a:solidFill>
                  <a:srgbClr val="F8FAFC"/>
                </a:solidFill>
                <a:latin typeface="Arial" pitchFamily="34" charset="0"/>
                <a:ea typeface="Arial" pitchFamily="34" charset="-122"/>
                <a:cs typeface="Arial" pitchFamily="34" charset="-120"/>
              </a:rPr>
              <a:t>Low Capacity: 0% - 10% (Excluding)</a:t>
            </a:r>
            <a:endParaRPr lang="en-US" sz="900" dirty="0"/>
          </a:p>
        </p:txBody>
      </p:sp>
      <p:sp>
        <p:nvSpPr>
          <p:cNvPr id="35" name="Text 33"/>
          <p:cNvSpPr/>
          <p:nvPr/>
        </p:nvSpPr>
        <p:spPr>
          <a:xfrm>
            <a:off x="4892040" y="4050792"/>
            <a:ext cx="3474720" cy="32004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Critical feature extraction / logit prediction. Pruning causes severe accuracy drop.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POLICY FORMULATION</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3: Pruning Policy Selection</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8229600" cy="777240"/>
          </a:xfrm>
          <a:prstGeom prst="roundRect">
            <a:avLst>
              <a:gd name="adj" fmla="val 9412"/>
            </a:avLst>
          </a:prstGeom>
          <a:solidFill>
            <a:srgbClr val="161F33"/>
          </a:solidFill>
          <a:ln w="12700">
            <a:solidFill>
              <a:srgbClr val="2D3B59"/>
            </a:solidFill>
            <a:prstDash val="solid"/>
          </a:ln>
        </p:spPr>
      </p:sp>
      <p:sp>
        <p:nvSpPr>
          <p:cNvPr id="9" name="Text 7"/>
          <p:cNvSpPr/>
          <p:nvPr/>
        </p:nvSpPr>
        <p:spPr>
          <a:xfrm>
            <a:off x="640080" y="1325880"/>
            <a:ext cx="7863840" cy="228600"/>
          </a:xfrm>
          <a:prstGeom prst="rect">
            <a:avLst/>
          </a:prstGeom>
          <a:noFill/>
          <a:ln/>
        </p:spPr>
        <p:txBody>
          <a:bodyPr wrap="square" rtlCol="0" anchor="ctr"/>
          <a:lstStyle/>
          <a:p>
            <a:pPr indent="0" marL="0">
              <a:buNone/>
            </a:pPr>
            <a:r>
              <a:rPr lang="en-US" sz="1050" b="1" dirty="0">
                <a:solidFill>
                  <a:srgbClr val="00E5FF"/>
                </a:solidFill>
                <a:latin typeface="Arial" pitchFamily="34" charset="0"/>
                <a:ea typeface="Arial" pitchFamily="34" charset="-122"/>
                <a:cs typeface="Arial" pitchFamily="34" charset="-120"/>
              </a:rPr>
              <a:t>MULTI-ENGINE ANALYSIS SYNTHESIS</a:t>
            </a:r>
            <a:endParaRPr lang="en-US" sz="1050" dirty="0"/>
          </a:p>
        </p:txBody>
      </p:sp>
      <p:sp>
        <p:nvSpPr>
          <p:cNvPr id="10" name="Text 8"/>
          <p:cNvSpPr/>
          <p:nvPr/>
        </p:nvSpPr>
        <p:spPr>
          <a:xfrm>
            <a:off x="640080" y="1572768"/>
            <a:ext cx="7863840" cy="320040"/>
          </a:xfrm>
          <a:prstGeom prst="rect">
            <a:avLst/>
          </a:prstGeom>
          <a:noFill/>
          <a:ln/>
        </p:spPr>
        <p:txBody>
          <a:bodyPr wrap="square" rtlCol="0" anchor="ctr"/>
          <a:lstStyle/>
          <a:p>
            <a:pPr algn="ctr" indent="0" marL="0">
              <a:buNone/>
            </a:pPr>
            <a:r>
              <a:rPr lang="en-US" sz="1100" b="1" dirty="0">
                <a:solidFill>
                  <a:srgbClr val="F8FAFC"/>
                </a:solidFill>
                <a:latin typeface="Calibri" pitchFamily="34" charset="0"/>
                <a:ea typeface="Calibri" pitchFamily="34" charset="-122"/>
                <a:cs typeface="Calibri" pitchFamily="34" charset="-120"/>
              </a:rPr>
              <a:t>Dependency Graph Constraints  +  Importance Scores &amp; Ranking  +  Sensitivity Profiles  +  Hardware Targets</a:t>
            </a:r>
            <a:endParaRPr lang="en-US" sz="1100" dirty="0"/>
          </a:p>
        </p:txBody>
      </p:sp>
      <p:sp>
        <p:nvSpPr>
          <p:cNvPr id="11" name="Text 9"/>
          <p:cNvSpPr/>
          <p:nvPr/>
        </p:nvSpPr>
        <p:spPr>
          <a:xfrm>
            <a:off x="4389120" y="2011680"/>
            <a:ext cx="365760" cy="228600"/>
          </a:xfrm>
          <a:prstGeom prst="rect">
            <a:avLst/>
          </a:prstGeom>
          <a:noFill/>
          <a:ln/>
        </p:spPr>
        <p:txBody>
          <a:bodyPr wrap="square" rtlCol="0" anchor="ctr"/>
          <a:lstStyle/>
          <a:p>
            <a:pPr algn="ctr" indent="0" marL="0">
              <a:buNone/>
            </a:pPr>
            <a:r>
              <a:rPr lang="en-US" sz="1400" dirty="0">
                <a:solidFill>
                  <a:srgbClr val="00E5FF"/>
                </a:solidFill>
              </a:rPr>
              <a:t>▼</a:t>
            </a:r>
            <a:endParaRPr lang="en-US" sz="1400" dirty="0"/>
          </a:p>
        </p:txBody>
      </p:sp>
      <p:sp>
        <p:nvSpPr>
          <p:cNvPr id="12" name="Shape 10"/>
          <p:cNvSpPr/>
          <p:nvPr/>
        </p:nvSpPr>
        <p:spPr>
          <a:xfrm>
            <a:off x="457200" y="2240280"/>
            <a:ext cx="3931920" cy="2423160"/>
          </a:xfrm>
          <a:prstGeom prst="roundRect">
            <a:avLst>
              <a:gd name="adj" fmla="val 3019"/>
            </a:avLst>
          </a:prstGeom>
          <a:solidFill>
            <a:srgbClr val="161F33"/>
          </a:solidFill>
          <a:ln w="19050">
            <a:solidFill>
              <a:srgbClr val="00E5FF"/>
            </a:solidFill>
            <a:prstDash val="solid"/>
          </a:ln>
        </p:spPr>
      </p:sp>
      <p:sp>
        <p:nvSpPr>
          <p:cNvPr id="13" name="Text 11"/>
          <p:cNvSpPr/>
          <p:nvPr/>
        </p:nvSpPr>
        <p:spPr>
          <a:xfrm>
            <a:off x="640080" y="2377440"/>
            <a:ext cx="3566160" cy="228600"/>
          </a:xfrm>
          <a:prstGeom prst="rect">
            <a:avLst/>
          </a:prstGeom>
          <a:noFill/>
          <a:ln/>
        </p:spPr>
        <p:txBody>
          <a:bodyPr wrap="square" rtlCol="0" anchor="ctr"/>
          <a:lstStyle/>
          <a:p>
            <a:pPr indent="0" marL="0">
              <a:buNone/>
            </a:pPr>
            <a:r>
              <a:rPr lang="en-US" sz="1100" b="1" dirty="0">
                <a:solidFill>
                  <a:srgbClr val="00E5FF"/>
                </a:solidFill>
                <a:latin typeface="Arial" pitchFamily="34" charset="0"/>
                <a:ea typeface="Arial" pitchFamily="34" charset="-122"/>
                <a:cs typeface="Arial" pitchFamily="34" charset="-120"/>
              </a:rPr>
              <a:t>CONCRETE EXECUTABLE PRUNING POLICY</a:t>
            </a:r>
            <a:endParaRPr lang="en-US" sz="1100" dirty="0"/>
          </a:p>
        </p:txBody>
      </p:sp>
      <p:sp>
        <p:nvSpPr>
          <p:cNvPr id="14" name="Text 12"/>
          <p:cNvSpPr/>
          <p:nvPr/>
        </p:nvSpPr>
        <p:spPr>
          <a:xfrm>
            <a:off x="640080" y="2697480"/>
            <a:ext cx="1463040" cy="274320"/>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Target Granularity:</a:t>
            </a:r>
            <a:endParaRPr lang="en-US" sz="950" dirty="0"/>
          </a:p>
        </p:txBody>
      </p:sp>
      <p:sp>
        <p:nvSpPr>
          <p:cNvPr id="15" name="Text 13"/>
          <p:cNvSpPr/>
          <p:nvPr/>
        </p:nvSpPr>
        <p:spPr>
          <a:xfrm>
            <a:off x="2103120" y="2697480"/>
            <a:ext cx="2103120" cy="27432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Structured Channel Pruning</a:t>
            </a:r>
            <a:endParaRPr lang="en-US" sz="950" dirty="0"/>
          </a:p>
        </p:txBody>
      </p:sp>
      <p:sp>
        <p:nvSpPr>
          <p:cNvPr id="16" name="Text 14"/>
          <p:cNvSpPr/>
          <p:nvPr/>
        </p:nvSpPr>
        <p:spPr>
          <a:xfrm>
            <a:off x="640080" y="3081528"/>
            <a:ext cx="1463040" cy="274320"/>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Importance Metric:</a:t>
            </a:r>
            <a:endParaRPr lang="en-US" sz="950" dirty="0"/>
          </a:p>
        </p:txBody>
      </p:sp>
      <p:sp>
        <p:nvSpPr>
          <p:cNvPr id="17" name="Text 15"/>
          <p:cNvSpPr/>
          <p:nvPr/>
        </p:nvSpPr>
        <p:spPr>
          <a:xfrm>
            <a:off x="2103120" y="3081528"/>
            <a:ext cx="2103120" cy="27432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First-Order Taylor Expansion</a:t>
            </a:r>
            <a:endParaRPr lang="en-US" sz="950" dirty="0"/>
          </a:p>
        </p:txBody>
      </p:sp>
      <p:sp>
        <p:nvSpPr>
          <p:cNvPr id="18" name="Text 16"/>
          <p:cNvSpPr/>
          <p:nvPr/>
        </p:nvSpPr>
        <p:spPr>
          <a:xfrm>
            <a:off x="640080" y="3465576"/>
            <a:ext cx="1463040" cy="274320"/>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Scope &amp; Target:</a:t>
            </a:r>
            <a:endParaRPr lang="en-US" sz="950" dirty="0"/>
          </a:p>
        </p:txBody>
      </p:sp>
      <p:sp>
        <p:nvSpPr>
          <p:cNvPr id="19" name="Text 17"/>
          <p:cNvSpPr/>
          <p:nvPr/>
        </p:nvSpPr>
        <p:spPr>
          <a:xfrm>
            <a:off x="2103120" y="3465576"/>
            <a:ext cx="2103120" cy="27432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Conv2D Backbone (Excl. Stem &amp; Head)</a:t>
            </a:r>
            <a:endParaRPr lang="en-US" sz="950" dirty="0"/>
          </a:p>
        </p:txBody>
      </p:sp>
      <p:sp>
        <p:nvSpPr>
          <p:cNvPr id="20" name="Text 18"/>
          <p:cNvSpPr/>
          <p:nvPr/>
        </p:nvSpPr>
        <p:spPr>
          <a:xfrm>
            <a:off x="640080" y="3849624"/>
            <a:ext cx="1463040" cy="274320"/>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Per-Layer Ratio:</a:t>
            </a:r>
            <a:endParaRPr lang="en-US" sz="950" dirty="0"/>
          </a:p>
        </p:txBody>
      </p:sp>
      <p:sp>
        <p:nvSpPr>
          <p:cNvPr id="21" name="Text 19"/>
          <p:cNvSpPr/>
          <p:nvPr/>
        </p:nvSpPr>
        <p:spPr>
          <a:xfrm>
            <a:off x="2103120" y="3849624"/>
            <a:ext cx="2103120" cy="27432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Conv1: 20% | Conv2: 45% | Conv3: 30%</a:t>
            </a:r>
            <a:endParaRPr lang="en-US" sz="950" dirty="0"/>
          </a:p>
        </p:txBody>
      </p:sp>
      <p:sp>
        <p:nvSpPr>
          <p:cNvPr id="22" name="Text 20"/>
          <p:cNvSpPr/>
          <p:nvPr/>
        </p:nvSpPr>
        <p:spPr>
          <a:xfrm>
            <a:off x="640080" y="4233672"/>
            <a:ext cx="1463040" cy="274320"/>
          </a:xfrm>
          <a:prstGeom prst="rect">
            <a:avLst/>
          </a:prstGeom>
          <a:noFill/>
          <a:ln/>
        </p:spPr>
        <p:txBody>
          <a:bodyPr wrap="square" rtlCol="0" anchor="ctr"/>
          <a:lstStyle/>
          <a:p>
            <a:pPr indent="0" marL="0">
              <a:buNone/>
            </a:pPr>
            <a:r>
              <a:rPr lang="en-US" sz="950" b="1" dirty="0">
                <a:solidFill>
                  <a:srgbClr val="94A3B8"/>
                </a:solidFill>
                <a:latin typeface="Arial" pitchFamily="34" charset="0"/>
                <a:ea typeface="Arial" pitchFamily="34" charset="-122"/>
                <a:cs typeface="Arial" pitchFamily="34" charset="-120"/>
              </a:rPr>
              <a:t>Pruning Strategy:</a:t>
            </a:r>
            <a:endParaRPr lang="en-US" sz="950" dirty="0"/>
          </a:p>
        </p:txBody>
      </p:sp>
      <p:sp>
        <p:nvSpPr>
          <p:cNvPr id="23" name="Text 21"/>
          <p:cNvSpPr/>
          <p:nvPr/>
        </p:nvSpPr>
        <p:spPr>
          <a:xfrm>
            <a:off x="2103120" y="4233672"/>
            <a:ext cx="2103120" cy="274320"/>
          </a:xfrm>
          <a:prstGeom prst="rect">
            <a:avLst/>
          </a:prstGeom>
          <a:noFill/>
          <a:ln/>
        </p:spPr>
        <p:txBody>
          <a:bodyPr wrap="square"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Iterative Layer-wise Execution</a:t>
            </a:r>
            <a:endParaRPr lang="en-US" sz="950" dirty="0"/>
          </a:p>
        </p:txBody>
      </p:sp>
      <p:sp>
        <p:nvSpPr>
          <p:cNvPr id="24" name="Shape 22"/>
          <p:cNvSpPr/>
          <p:nvPr/>
        </p:nvSpPr>
        <p:spPr>
          <a:xfrm>
            <a:off x="4754880" y="2240280"/>
            <a:ext cx="3931920" cy="2423160"/>
          </a:xfrm>
          <a:prstGeom prst="roundRect">
            <a:avLst>
              <a:gd name="adj" fmla="val 3019"/>
            </a:avLst>
          </a:prstGeom>
          <a:solidFill>
            <a:srgbClr val="161F33"/>
          </a:solidFill>
          <a:ln w="12700">
            <a:solidFill>
              <a:srgbClr val="2D3B59"/>
            </a:solidFill>
            <a:prstDash val="solid"/>
          </a:ln>
        </p:spPr>
      </p:sp>
      <p:sp>
        <p:nvSpPr>
          <p:cNvPr id="25" name="Text 23"/>
          <p:cNvSpPr/>
          <p:nvPr/>
        </p:nvSpPr>
        <p:spPr>
          <a:xfrm>
            <a:off x="4937760" y="2377440"/>
            <a:ext cx="3566160" cy="22860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KEY ADVANTAGE: POLICY VS. THRESHOLDING</a:t>
            </a:r>
            <a:endParaRPr lang="en-US" sz="1100" dirty="0"/>
          </a:p>
        </p:txBody>
      </p:sp>
      <p:sp>
        <p:nvSpPr>
          <p:cNvPr id="26" name="Text 24"/>
          <p:cNvSpPr/>
          <p:nvPr/>
        </p:nvSpPr>
        <p:spPr>
          <a:xfrm>
            <a:off x="4937760" y="2697480"/>
            <a:ext cx="3566160" cy="438912"/>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  Outputs an explicit, actionable execution policy P rather than a blind global score.</a:t>
            </a:r>
            <a:endParaRPr lang="en-US" sz="950" dirty="0"/>
          </a:p>
        </p:txBody>
      </p:sp>
      <p:sp>
        <p:nvSpPr>
          <p:cNvPr id="27" name="Text 25"/>
          <p:cNvSpPr/>
          <p:nvPr/>
        </p:nvSpPr>
        <p:spPr>
          <a:xfrm>
            <a:off x="4937760" y="3172968"/>
            <a:ext cx="3566160" cy="438912"/>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  Respects layer dependencies, avoiding broken tensor shapes post-pruning.</a:t>
            </a:r>
            <a:endParaRPr lang="en-US" sz="950" dirty="0"/>
          </a:p>
        </p:txBody>
      </p:sp>
      <p:sp>
        <p:nvSpPr>
          <p:cNvPr id="28" name="Text 26"/>
          <p:cNvSpPr/>
          <p:nvPr/>
        </p:nvSpPr>
        <p:spPr>
          <a:xfrm>
            <a:off x="4937760" y="3648456"/>
            <a:ext cx="3566160" cy="438912"/>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  Applies non-uniform per-layer ratios matched to measured layer sensitivities.</a:t>
            </a:r>
            <a:endParaRPr lang="en-US" sz="950" dirty="0"/>
          </a:p>
        </p:txBody>
      </p:sp>
      <p:sp>
        <p:nvSpPr>
          <p:cNvPr id="29" name="Text 27"/>
          <p:cNvSpPr/>
          <p:nvPr/>
        </p:nvSpPr>
        <p:spPr>
          <a:xfrm>
            <a:off x="4937760" y="4123944"/>
            <a:ext cx="3566160" cy="438912"/>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  Supports hardware-aware optimization tailored to edge vs server runtimes.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EXECUTION SCHEMES</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4: Pruning Execution Modes</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2606040" cy="3429000"/>
          </a:xfrm>
          <a:prstGeom prst="roundRect">
            <a:avLst>
              <a:gd name="adj" fmla="val 2807"/>
            </a:avLst>
          </a:prstGeom>
          <a:solidFill>
            <a:srgbClr val="161F33"/>
          </a:solidFill>
          <a:ln w="12700">
            <a:solidFill>
              <a:srgbClr val="2D3B59"/>
            </a:solidFill>
            <a:prstDash val="solid"/>
          </a:ln>
        </p:spPr>
      </p:sp>
      <p:sp>
        <p:nvSpPr>
          <p:cNvPr id="9" name="Text 7"/>
          <p:cNvSpPr/>
          <p:nvPr/>
        </p:nvSpPr>
        <p:spPr>
          <a:xfrm>
            <a:off x="594360" y="1371600"/>
            <a:ext cx="2331720" cy="201168"/>
          </a:xfrm>
          <a:prstGeom prst="rect">
            <a:avLst/>
          </a:prstGeom>
          <a:noFill/>
          <a:ln/>
        </p:spPr>
        <p:txBody>
          <a:bodyPr wrap="square" rtlCol="0" anchor="ctr"/>
          <a:lstStyle/>
          <a:p>
            <a:pPr indent="0" marL="0">
              <a:buNone/>
            </a:pPr>
            <a:r>
              <a:rPr lang="en-US" sz="1050" b="1" dirty="0">
                <a:solidFill>
                  <a:srgbClr val="00E5FF"/>
                </a:solidFill>
                <a:latin typeface="Arial" pitchFamily="34" charset="0"/>
                <a:ea typeface="Arial" pitchFamily="34" charset="-122"/>
                <a:cs typeface="Arial" pitchFamily="34" charset="-120"/>
              </a:rPr>
              <a:t>UNSTRUCTURED PRUNING</a:t>
            </a:r>
            <a:endParaRPr lang="en-US" sz="1050" dirty="0"/>
          </a:p>
        </p:txBody>
      </p:sp>
      <p:sp>
        <p:nvSpPr>
          <p:cNvPr id="10" name="Text 8"/>
          <p:cNvSpPr/>
          <p:nvPr/>
        </p:nvSpPr>
        <p:spPr>
          <a:xfrm>
            <a:off x="594360" y="1581912"/>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Sparse Weight Masking</a:t>
            </a:r>
            <a:endParaRPr lang="en-US" sz="900" dirty="0"/>
          </a:p>
        </p:txBody>
      </p:sp>
      <p:sp>
        <p:nvSpPr>
          <p:cNvPr id="11" name="Shape 9"/>
          <p:cNvSpPr/>
          <p:nvPr/>
        </p:nvSpPr>
        <p:spPr>
          <a:xfrm>
            <a:off x="594360" y="1828800"/>
            <a:ext cx="2331720" cy="1005840"/>
          </a:xfrm>
          <a:prstGeom prst="roundRect">
            <a:avLst>
              <a:gd name="adj" fmla="val 4545"/>
            </a:avLst>
          </a:prstGeom>
          <a:solidFill>
            <a:srgbClr val="0F172A"/>
          </a:solidFill>
          <a:ln w="12700">
            <a:solidFill>
              <a:srgbClr val="2D3B59"/>
            </a:solidFill>
            <a:prstDash val="solid"/>
          </a:ln>
        </p:spPr>
      </p:sp>
      <p:sp>
        <p:nvSpPr>
          <p:cNvPr id="12" name="Text 10"/>
          <p:cNvSpPr/>
          <p:nvPr/>
        </p:nvSpPr>
        <p:spPr>
          <a:xfrm>
            <a:off x="640080" y="1874520"/>
            <a:ext cx="2240280" cy="914400"/>
          </a:xfrm>
          <a:prstGeom prst="rect">
            <a:avLst/>
          </a:prstGeom>
          <a:noFill/>
          <a:ln/>
        </p:spPr>
        <p:txBody>
          <a:bodyPr wrap="square" rtlCol="0" anchor="ctr"/>
          <a:lstStyle/>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[ 1.2   0.3  -0.1   0.8 ]</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[ 0.02  0.7   0.01  0.4 ]</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 Mask Zero</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[ 1.2   0.3    0    0.8 ]</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0    0.7    0    0.4 ]</a:t>
            </a:r>
            <a:endParaRPr lang="en-US" sz="850" dirty="0"/>
          </a:p>
        </p:txBody>
      </p:sp>
      <p:sp>
        <p:nvSpPr>
          <p:cNvPr id="13" name="Shape 11"/>
          <p:cNvSpPr/>
          <p:nvPr/>
        </p:nvSpPr>
        <p:spPr>
          <a:xfrm>
            <a:off x="594360" y="2926080"/>
            <a:ext cx="2331720" cy="0"/>
          </a:xfrm>
          <a:prstGeom prst="line">
            <a:avLst/>
          </a:prstGeom>
          <a:noFill/>
          <a:ln w="12700">
            <a:solidFill>
              <a:srgbClr val="2D3B59"/>
            </a:solidFill>
            <a:prstDash val="solid"/>
          </a:ln>
        </p:spPr>
      </p:sp>
      <p:sp>
        <p:nvSpPr>
          <p:cNvPr id="14" name="Text 12"/>
          <p:cNvSpPr/>
          <p:nvPr/>
        </p:nvSpPr>
        <p:spPr>
          <a:xfrm>
            <a:off x="59436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Masks individual weight elements to zero.</a:t>
            </a:r>
            <a:endParaRPr lang="en-US" sz="950" dirty="0"/>
          </a:p>
        </p:txBody>
      </p:sp>
      <p:sp>
        <p:nvSpPr>
          <p:cNvPr id="15" name="Text 13"/>
          <p:cNvSpPr/>
          <p:nvPr/>
        </p:nvSpPr>
        <p:spPr>
          <a:xfrm>
            <a:off x="59436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Highest theoretical parameter compression.</a:t>
            </a:r>
            <a:endParaRPr lang="en-US" sz="950" dirty="0"/>
          </a:p>
        </p:txBody>
      </p:sp>
      <p:sp>
        <p:nvSpPr>
          <p:cNvPr id="16" name="Text 14"/>
          <p:cNvSpPr/>
          <p:nvPr/>
        </p:nvSpPr>
        <p:spPr>
          <a:xfrm>
            <a:off x="59436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Requires sparse execution engine (e.g. CuSPARSE) to realize speedup.</a:t>
            </a:r>
            <a:endParaRPr lang="en-US" sz="950" dirty="0"/>
          </a:p>
        </p:txBody>
      </p:sp>
      <p:sp>
        <p:nvSpPr>
          <p:cNvPr id="17" name="Shape 15"/>
          <p:cNvSpPr/>
          <p:nvPr/>
        </p:nvSpPr>
        <p:spPr>
          <a:xfrm>
            <a:off x="3246120" y="1234440"/>
            <a:ext cx="2606040" cy="3429000"/>
          </a:xfrm>
          <a:prstGeom prst="roundRect">
            <a:avLst>
              <a:gd name="adj" fmla="val 2807"/>
            </a:avLst>
          </a:prstGeom>
          <a:solidFill>
            <a:srgbClr val="161F33"/>
          </a:solidFill>
          <a:ln w="12700">
            <a:solidFill>
              <a:srgbClr val="2D3B59"/>
            </a:solidFill>
            <a:prstDash val="solid"/>
          </a:ln>
        </p:spPr>
      </p:sp>
      <p:sp>
        <p:nvSpPr>
          <p:cNvPr id="18" name="Text 16"/>
          <p:cNvSpPr/>
          <p:nvPr/>
        </p:nvSpPr>
        <p:spPr>
          <a:xfrm>
            <a:off x="3383280" y="1371600"/>
            <a:ext cx="2331720" cy="201168"/>
          </a:xfrm>
          <a:prstGeom prst="rect">
            <a:avLst/>
          </a:prstGeom>
          <a:noFill/>
          <a:ln/>
        </p:spPr>
        <p:txBody>
          <a:bodyPr wrap="square" rtlCol="0" anchor="ctr"/>
          <a:lstStyle/>
          <a:p>
            <a:pPr indent="0" marL="0">
              <a:buNone/>
            </a:pPr>
            <a:r>
              <a:rPr lang="en-US" sz="1050" b="1" dirty="0">
                <a:solidFill>
                  <a:srgbClr val="10B981"/>
                </a:solidFill>
                <a:latin typeface="Arial" pitchFamily="34" charset="0"/>
                <a:ea typeface="Arial" pitchFamily="34" charset="-122"/>
                <a:cs typeface="Arial" pitchFamily="34" charset="-120"/>
              </a:rPr>
              <a:t>SEMI-STRUCTURED (N:M)</a:t>
            </a:r>
            <a:endParaRPr lang="en-US" sz="1050" dirty="0"/>
          </a:p>
        </p:txBody>
      </p:sp>
      <p:sp>
        <p:nvSpPr>
          <p:cNvPr id="19" name="Text 17"/>
          <p:cNvSpPr/>
          <p:nvPr/>
        </p:nvSpPr>
        <p:spPr>
          <a:xfrm>
            <a:off x="3383280" y="1581912"/>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Hardware Sparse Pattern</a:t>
            </a:r>
            <a:endParaRPr lang="en-US" sz="900" dirty="0"/>
          </a:p>
        </p:txBody>
      </p:sp>
      <p:sp>
        <p:nvSpPr>
          <p:cNvPr id="20" name="Shape 18"/>
          <p:cNvSpPr/>
          <p:nvPr/>
        </p:nvSpPr>
        <p:spPr>
          <a:xfrm>
            <a:off x="3383280" y="1828800"/>
            <a:ext cx="2331720" cy="1005840"/>
          </a:xfrm>
          <a:prstGeom prst="roundRect">
            <a:avLst>
              <a:gd name="adj" fmla="val 4545"/>
            </a:avLst>
          </a:prstGeom>
          <a:solidFill>
            <a:srgbClr val="0F172A"/>
          </a:solidFill>
          <a:ln w="12700">
            <a:solidFill>
              <a:srgbClr val="2D3B59"/>
            </a:solidFill>
            <a:prstDash val="solid"/>
          </a:ln>
        </p:spPr>
      </p:sp>
      <p:sp>
        <p:nvSpPr>
          <p:cNvPr id="21" name="Text 19"/>
          <p:cNvSpPr/>
          <p:nvPr/>
        </p:nvSpPr>
        <p:spPr>
          <a:xfrm>
            <a:off x="3429000" y="1874520"/>
            <a:ext cx="2240280" cy="914400"/>
          </a:xfrm>
          <a:prstGeom prst="rect">
            <a:avLst/>
          </a:prstGeom>
          <a:noFill/>
          <a:ln/>
        </p:spPr>
        <p:txBody>
          <a:bodyPr wrap="square" rtlCol="0" anchor="ctr"/>
          <a:lstStyle/>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N:M Pattern (e.g. 2:4 Sparsity)</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x   x   0   0 ]</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x   0   x   0 ]</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[ 0   x   x   0 ]</a:t>
            </a:r>
            <a:endParaRPr lang="en-US" sz="850" dirty="0"/>
          </a:p>
        </p:txBody>
      </p:sp>
      <p:sp>
        <p:nvSpPr>
          <p:cNvPr id="22" name="Shape 20"/>
          <p:cNvSpPr/>
          <p:nvPr/>
        </p:nvSpPr>
        <p:spPr>
          <a:xfrm>
            <a:off x="3383280" y="2926080"/>
            <a:ext cx="2331720" cy="0"/>
          </a:xfrm>
          <a:prstGeom prst="line">
            <a:avLst/>
          </a:prstGeom>
          <a:noFill/>
          <a:ln w="12700">
            <a:solidFill>
              <a:srgbClr val="2D3B59"/>
            </a:solidFill>
            <a:prstDash val="solid"/>
          </a:ln>
        </p:spPr>
      </p:sp>
      <p:sp>
        <p:nvSpPr>
          <p:cNvPr id="23" name="Text 21"/>
          <p:cNvSpPr/>
          <p:nvPr/>
        </p:nvSpPr>
        <p:spPr>
          <a:xfrm>
            <a:off x="338328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Enforces exactly N non-zero values per M contiguous weights.</a:t>
            </a:r>
            <a:endParaRPr lang="en-US" sz="950" dirty="0"/>
          </a:p>
        </p:txBody>
      </p:sp>
      <p:sp>
        <p:nvSpPr>
          <p:cNvPr id="24" name="Text 22"/>
          <p:cNvSpPr/>
          <p:nvPr/>
        </p:nvSpPr>
        <p:spPr>
          <a:xfrm>
            <a:off x="338328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Native hardware acceleration on NVIDIA Ampere/Hopper Tensor Cores.</a:t>
            </a:r>
            <a:endParaRPr lang="en-US" sz="950" dirty="0"/>
          </a:p>
        </p:txBody>
      </p:sp>
      <p:sp>
        <p:nvSpPr>
          <p:cNvPr id="25" name="Text 23"/>
          <p:cNvSpPr/>
          <p:nvPr/>
        </p:nvSpPr>
        <p:spPr>
          <a:xfrm>
            <a:off x="338328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Guarantees 2x math throughput with zero accuracy loss.</a:t>
            </a:r>
            <a:endParaRPr lang="en-US" sz="950" dirty="0"/>
          </a:p>
        </p:txBody>
      </p:sp>
      <p:sp>
        <p:nvSpPr>
          <p:cNvPr id="26" name="Shape 24"/>
          <p:cNvSpPr/>
          <p:nvPr/>
        </p:nvSpPr>
        <p:spPr>
          <a:xfrm>
            <a:off x="6035040" y="1234440"/>
            <a:ext cx="2606040" cy="3429000"/>
          </a:xfrm>
          <a:prstGeom prst="roundRect">
            <a:avLst>
              <a:gd name="adj" fmla="val 2807"/>
            </a:avLst>
          </a:prstGeom>
          <a:solidFill>
            <a:srgbClr val="161F33"/>
          </a:solidFill>
          <a:ln w="12700">
            <a:solidFill>
              <a:srgbClr val="2D3B59"/>
            </a:solidFill>
            <a:prstDash val="solid"/>
          </a:ln>
        </p:spPr>
      </p:sp>
      <p:sp>
        <p:nvSpPr>
          <p:cNvPr id="27" name="Text 25"/>
          <p:cNvSpPr/>
          <p:nvPr/>
        </p:nvSpPr>
        <p:spPr>
          <a:xfrm>
            <a:off x="6172200" y="1371600"/>
            <a:ext cx="2331720" cy="201168"/>
          </a:xfrm>
          <a:prstGeom prst="rect">
            <a:avLst/>
          </a:prstGeom>
          <a:noFill/>
          <a:ln/>
        </p:spPr>
        <p:txBody>
          <a:bodyPr wrap="square" rtlCol="0" anchor="ctr"/>
          <a:lstStyle/>
          <a:p>
            <a:pPr indent="0" marL="0">
              <a:buNone/>
            </a:pPr>
            <a:r>
              <a:rPr lang="en-US" sz="1050" b="1" dirty="0">
                <a:solidFill>
                  <a:srgbClr val="A855F7"/>
                </a:solidFill>
                <a:latin typeface="Arial" pitchFamily="34" charset="0"/>
                <a:ea typeface="Arial" pitchFamily="34" charset="-122"/>
                <a:cs typeface="Arial" pitchFamily="34" charset="-120"/>
              </a:rPr>
              <a:t>STRUCTURED PRUNING</a:t>
            </a:r>
            <a:endParaRPr lang="en-US" sz="1050" dirty="0"/>
          </a:p>
        </p:txBody>
      </p:sp>
      <p:sp>
        <p:nvSpPr>
          <p:cNvPr id="28" name="Text 26"/>
          <p:cNvSpPr/>
          <p:nvPr/>
        </p:nvSpPr>
        <p:spPr>
          <a:xfrm>
            <a:off x="6172200" y="1581912"/>
            <a:ext cx="2331720" cy="18288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Architecture Modification</a:t>
            </a:r>
            <a:endParaRPr lang="en-US" sz="900" dirty="0"/>
          </a:p>
        </p:txBody>
      </p:sp>
      <p:sp>
        <p:nvSpPr>
          <p:cNvPr id="29" name="Shape 27"/>
          <p:cNvSpPr/>
          <p:nvPr/>
        </p:nvSpPr>
        <p:spPr>
          <a:xfrm>
            <a:off x="6172200" y="1828800"/>
            <a:ext cx="2331720" cy="1005840"/>
          </a:xfrm>
          <a:prstGeom prst="roundRect">
            <a:avLst>
              <a:gd name="adj" fmla="val 4545"/>
            </a:avLst>
          </a:prstGeom>
          <a:solidFill>
            <a:srgbClr val="0F172A"/>
          </a:solidFill>
          <a:ln w="12700">
            <a:solidFill>
              <a:srgbClr val="2D3B59"/>
            </a:solidFill>
            <a:prstDash val="solid"/>
          </a:ln>
        </p:spPr>
      </p:sp>
      <p:sp>
        <p:nvSpPr>
          <p:cNvPr id="30" name="Text 28"/>
          <p:cNvSpPr/>
          <p:nvPr/>
        </p:nvSpPr>
        <p:spPr>
          <a:xfrm>
            <a:off x="6217920" y="1874520"/>
            <a:ext cx="2240280" cy="914400"/>
          </a:xfrm>
          <a:prstGeom prst="rect">
            <a:avLst/>
          </a:prstGeom>
          <a:noFill/>
          <a:ln/>
        </p:spPr>
        <p:txBody>
          <a:bodyPr wrap="square" rtlCol="0" anchor="ctr"/>
          <a:lstStyle/>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Conv Layer (256 Channels)</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          ↓ 30% Channel Pruning</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Conv Layer (179 Channels)</a:t>
            </a:r>
            <a:endParaRPr lang="en-US" sz="850" dirty="0"/>
          </a:p>
          <a:p>
            <a:pPr algn="ctr" indent="0" marL="0">
              <a:lnSpc>
                <a:spcPts val="1200"/>
              </a:lnSpc>
              <a:buNone/>
            </a:pPr>
            <a:r>
              <a:rPr lang="en-US" sz="850" dirty="0">
                <a:solidFill>
                  <a:srgbClr val="F8FAFC"/>
                </a:solidFill>
                <a:latin typeface="Courier New" pitchFamily="34" charset="0"/>
                <a:ea typeface="Courier New" pitchFamily="34" charset="-122"/>
                <a:cs typeface="Courier New" pitchFamily="34" charset="-120"/>
              </a:rPr>
              <a:t>(Direct Tensor Dimension Shrink)</a:t>
            </a:r>
            <a:endParaRPr lang="en-US" sz="850" dirty="0"/>
          </a:p>
        </p:txBody>
      </p:sp>
      <p:sp>
        <p:nvSpPr>
          <p:cNvPr id="31" name="Shape 29"/>
          <p:cNvSpPr/>
          <p:nvPr/>
        </p:nvSpPr>
        <p:spPr>
          <a:xfrm>
            <a:off x="6172200" y="2926080"/>
            <a:ext cx="2331720" cy="0"/>
          </a:xfrm>
          <a:prstGeom prst="line">
            <a:avLst/>
          </a:prstGeom>
          <a:noFill/>
          <a:ln w="12700">
            <a:solidFill>
              <a:srgbClr val="2D3B59"/>
            </a:solidFill>
            <a:prstDash val="solid"/>
          </a:ln>
        </p:spPr>
      </p:sp>
      <p:sp>
        <p:nvSpPr>
          <p:cNvPr id="32" name="Text 30"/>
          <p:cNvSpPr/>
          <p:nvPr/>
        </p:nvSpPr>
        <p:spPr>
          <a:xfrm>
            <a:off x="6172200" y="301752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Removes entire channels, filters, or layers.</a:t>
            </a:r>
            <a:endParaRPr lang="en-US" sz="950" dirty="0"/>
          </a:p>
        </p:txBody>
      </p:sp>
      <p:sp>
        <p:nvSpPr>
          <p:cNvPr id="33" name="Text 31"/>
          <p:cNvSpPr/>
          <p:nvPr/>
        </p:nvSpPr>
        <p:spPr>
          <a:xfrm>
            <a:off x="6172200" y="352044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Directly modifies tensor shapes &amp; network structure.</a:t>
            </a:r>
            <a:endParaRPr lang="en-US" sz="950" dirty="0"/>
          </a:p>
        </p:txBody>
      </p:sp>
      <p:sp>
        <p:nvSpPr>
          <p:cNvPr id="34" name="Text 32"/>
          <p:cNvSpPr/>
          <p:nvPr/>
        </p:nvSpPr>
        <p:spPr>
          <a:xfrm>
            <a:off x="6172200" y="4023360"/>
            <a:ext cx="233172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 Zero special hardware overhead — accelerates standard GPUs &amp; CPUs.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RECOVERY &amp; EVALUATION</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5: Recovery &amp; Multi-Metric Validation</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3931920" cy="3429000"/>
          </a:xfrm>
          <a:prstGeom prst="roundRect">
            <a:avLst>
              <a:gd name="adj" fmla="val 2133"/>
            </a:avLst>
          </a:prstGeom>
          <a:solidFill>
            <a:srgbClr val="161F33"/>
          </a:solidFill>
          <a:ln w="12700">
            <a:solidFill>
              <a:srgbClr val="2D3B59"/>
            </a:solidFill>
            <a:prstDash val="solid"/>
          </a:ln>
        </p:spPr>
      </p:sp>
      <p:sp>
        <p:nvSpPr>
          <p:cNvPr id="9" name="Text 7"/>
          <p:cNvSpPr/>
          <p:nvPr/>
        </p:nvSpPr>
        <p:spPr>
          <a:xfrm>
            <a:off x="640080" y="1371600"/>
            <a:ext cx="3566160" cy="274320"/>
          </a:xfrm>
          <a:prstGeom prst="rect">
            <a:avLst/>
          </a:prstGeom>
          <a:noFill/>
          <a:ln/>
        </p:spPr>
        <p:txBody>
          <a:bodyPr wrap="square" rtlCol="0" anchor="ctr"/>
          <a:lstStyle/>
          <a:p>
            <a:pPr indent="0" marL="0">
              <a:buNone/>
            </a:pPr>
            <a:r>
              <a:rPr lang="en-US" sz="1200" b="1" dirty="0">
                <a:solidFill>
                  <a:srgbClr val="00E5FF"/>
                </a:solidFill>
                <a:latin typeface="Arial" pitchFamily="34" charset="0"/>
                <a:ea typeface="Arial" pitchFamily="34" charset="-122"/>
                <a:cs typeface="Arial" pitchFamily="34" charset="-120"/>
              </a:rPr>
              <a:t>ACCURACY RECOVERY PIPELINE</a:t>
            </a:r>
            <a:endParaRPr lang="en-US" sz="1200" dirty="0"/>
          </a:p>
        </p:txBody>
      </p:sp>
      <p:sp>
        <p:nvSpPr>
          <p:cNvPr id="10" name="Text 8"/>
          <p:cNvSpPr/>
          <p:nvPr/>
        </p:nvSpPr>
        <p:spPr>
          <a:xfrm>
            <a:off x="640080" y="1783080"/>
            <a:ext cx="356616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 Fine-Tuning &amp; Retraining</a:t>
            </a:r>
            <a:endParaRPr lang="en-US" sz="1050" dirty="0"/>
          </a:p>
        </p:txBody>
      </p:sp>
      <p:sp>
        <p:nvSpPr>
          <p:cNvPr id="11" name="Text 9"/>
          <p:cNvSpPr/>
          <p:nvPr/>
        </p:nvSpPr>
        <p:spPr>
          <a:xfrm>
            <a:off x="777240" y="1984248"/>
            <a:ext cx="342900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Low learning rate retraining to let remaining weights adapt to pruned space.</a:t>
            </a:r>
            <a:endParaRPr lang="en-US" sz="950" dirty="0"/>
          </a:p>
        </p:txBody>
      </p:sp>
      <p:sp>
        <p:nvSpPr>
          <p:cNvPr id="12" name="Text 10"/>
          <p:cNvSpPr/>
          <p:nvPr/>
        </p:nvSpPr>
        <p:spPr>
          <a:xfrm>
            <a:off x="640080" y="2441448"/>
            <a:ext cx="356616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 Knowledge Distillation</a:t>
            </a:r>
            <a:endParaRPr lang="en-US" sz="1050" dirty="0"/>
          </a:p>
        </p:txBody>
      </p:sp>
      <p:sp>
        <p:nvSpPr>
          <p:cNvPr id="13" name="Text 11"/>
          <p:cNvSpPr/>
          <p:nvPr/>
        </p:nvSpPr>
        <p:spPr>
          <a:xfrm>
            <a:off x="777240" y="2642616"/>
            <a:ext cx="342900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Uses original dense model as Teacher to guide student pruned model logits.</a:t>
            </a:r>
            <a:endParaRPr lang="en-US" sz="950" dirty="0"/>
          </a:p>
        </p:txBody>
      </p:sp>
      <p:sp>
        <p:nvSpPr>
          <p:cNvPr id="14" name="Text 12"/>
          <p:cNvSpPr/>
          <p:nvPr/>
        </p:nvSpPr>
        <p:spPr>
          <a:xfrm>
            <a:off x="640080" y="3099816"/>
            <a:ext cx="356616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 Learning Rate Adjustment</a:t>
            </a:r>
            <a:endParaRPr lang="en-US" sz="1050" dirty="0"/>
          </a:p>
        </p:txBody>
      </p:sp>
      <p:sp>
        <p:nvSpPr>
          <p:cNvPr id="15" name="Text 13"/>
          <p:cNvSpPr/>
          <p:nvPr/>
        </p:nvSpPr>
        <p:spPr>
          <a:xfrm>
            <a:off x="777240" y="3300984"/>
            <a:ext cx="342900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Applies cosine annealing schedules or warmup resets for stable convergence.</a:t>
            </a:r>
            <a:endParaRPr lang="en-US" sz="950" dirty="0"/>
          </a:p>
        </p:txBody>
      </p:sp>
      <p:sp>
        <p:nvSpPr>
          <p:cNvPr id="16" name="Text 14"/>
          <p:cNvSpPr/>
          <p:nvPr/>
        </p:nvSpPr>
        <p:spPr>
          <a:xfrm>
            <a:off x="640080" y="3758184"/>
            <a:ext cx="3566160" cy="201168"/>
          </a:xfrm>
          <a:prstGeom prst="rect">
            <a:avLst/>
          </a:prstGeom>
          <a:noFill/>
          <a:ln/>
        </p:spPr>
        <p:txBody>
          <a:bodyPr wrap="square" rtlCol="0" anchor="ctr"/>
          <a:lstStyle/>
          <a:p>
            <a:pPr indent="0" marL="0">
              <a:buNone/>
            </a:pPr>
            <a:r>
              <a:rPr lang="en-US" sz="1050" b="1" dirty="0">
                <a:solidFill>
                  <a:srgbClr val="F8FAFC"/>
                </a:solidFill>
                <a:latin typeface="Arial" pitchFamily="34" charset="0"/>
                <a:ea typeface="Arial" pitchFamily="34" charset="-122"/>
                <a:cs typeface="Arial" pitchFamily="34" charset="-120"/>
              </a:rPr>
              <a:t>• Hyperparameter Tuning</a:t>
            </a:r>
            <a:endParaRPr lang="en-US" sz="1050" dirty="0"/>
          </a:p>
        </p:txBody>
      </p:sp>
      <p:sp>
        <p:nvSpPr>
          <p:cNvPr id="17" name="Text 15"/>
          <p:cNvSpPr/>
          <p:nvPr/>
        </p:nvSpPr>
        <p:spPr>
          <a:xfrm>
            <a:off x="777240" y="3959352"/>
            <a:ext cx="3429000" cy="41148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Re-tunes weight decay &amp; regularization to match reduced parameter scale.</a:t>
            </a:r>
            <a:endParaRPr lang="en-US" sz="950" dirty="0"/>
          </a:p>
        </p:txBody>
      </p:sp>
      <p:sp>
        <p:nvSpPr>
          <p:cNvPr id="18" name="Shape 16"/>
          <p:cNvSpPr/>
          <p:nvPr/>
        </p:nvSpPr>
        <p:spPr>
          <a:xfrm>
            <a:off x="4572000" y="1234440"/>
            <a:ext cx="4114800" cy="3429000"/>
          </a:xfrm>
          <a:prstGeom prst="roundRect">
            <a:avLst>
              <a:gd name="adj" fmla="val 2133"/>
            </a:avLst>
          </a:prstGeom>
          <a:solidFill>
            <a:srgbClr val="161F33"/>
          </a:solidFill>
          <a:ln w="12700">
            <a:solidFill>
              <a:srgbClr val="2D3B59"/>
            </a:solidFill>
            <a:prstDash val="solid"/>
          </a:ln>
        </p:spPr>
      </p:sp>
      <p:sp>
        <p:nvSpPr>
          <p:cNvPr id="19" name="Text 17"/>
          <p:cNvSpPr/>
          <p:nvPr/>
        </p:nvSpPr>
        <p:spPr>
          <a:xfrm>
            <a:off x="4754880" y="1371600"/>
            <a:ext cx="3749040" cy="27432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MULTI-METRIC EVALUATION MATRIX</a:t>
            </a:r>
            <a:endParaRPr lang="en-US" sz="1200" dirty="0"/>
          </a:p>
        </p:txBody>
      </p:sp>
      <p:sp>
        <p:nvSpPr>
          <p:cNvPr id="20" name="Shape 18"/>
          <p:cNvSpPr/>
          <p:nvPr/>
        </p:nvSpPr>
        <p:spPr>
          <a:xfrm>
            <a:off x="4754880" y="1783080"/>
            <a:ext cx="3749040" cy="822960"/>
          </a:xfrm>
          <a:prstGeom prst="roundRect">
            <a:avLst>
              <a:gd name="adj" fmla="val 5556"/>
            </a:avLst>
          </a:prstGeom>
          <a:solidFill>
            <a:srgbClr val="1E293B"/>
          </a:solidFill>
          <a:ln w="12700">
            <a:solidFill>
              <a:srgbClr val="2D3B59"/>
            </a:solidFill>
            <a:prstDash val="solid"/>
          </a:ln>
        </p:spPr>
      </p:sp>
      <p:sp>
        <p:nvSpPr>
          <p:cNvPr id="21" name="Text 19"/>
          <p:cNvSpPr/>
          <p:nvPr/>
        </p:nvSpPr>
        <p:spPr>
          <a:xfrm>
            <a:off x="4892040" y="1856232"/>
            <a:ext cx="3474720" cy="201168"/>
          </a:xfrm>
          <a:prstGeom prst="rect">
            <a:avLst/>
          </a:prstGeom>
          <a:noFill/>
          <a:ln/>
        </p:spPr>
        <p:txBody>
          <a:bodyPr wrap="square" rtlCol="0" anchor="ctr"/>
          <a:lstStyle/>
          <a:p>
            <a:pPr indent="0" marL="0">
              <a:buNone/>
            </a:pPr>
            <a:r>
              <a:rPr lang="en-US" sz="1000" b="1" dirty="0">
                <a:solidFill>
                  <a:srgbClr val="00E5FF"/>
                </a:solidFill>
                <a:latin typeface="Arial" pitchFamily="34" charset="0"/>
                <a:ea typeface="Arial" pitchFamily="34" charset="-122"/>
                <a:cs typeface="Arial" pitchFamily="34" charset="-120"/>
              </a:rPr>
              <a:t>TASK ACCURACY</a:t>
            </a:r>
            <a:endParaRPr lang="en-US" sz="1000" dirty="0"/>
          </a:p>
        </p:txBody>
      </p:sp>
      <p:sp>
        <p:nvSpPr>
          <p:cNvPr id="22" name="Text 20"/>
          <p:cNvSpPr/>
          <p:nvPr/>
        </p:nvSpPr>
        <p:spPr>
          <a:xfrm>
            <a:off x="4892040" y="2103120"/>
            <a:ext cx="3474720" cy="457200"/>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Top-1 / Top-5 Accuracy, mAP, F1-score, Per-class Recall degradation.</a:t>
            </a:r>
            <a:endParaRPr lang="en-US" sz="950" dirty="0"/>
          </a:p>
        </p:txBody>
      </p:sp>
      <p:sp>
        <p:nvSpPr>
          <p:cNvPr id="23" name="Shape 21"/>
          <p:cNvSpPr/>
          <p:nvPr/>
        </p:nvSpPr>
        <p:spPr>
          <a:xfrm>
            <a:off x="4754880" y="2679192"/>
            <a:ext cx="3749040" cy="822960"/>
          </a:xfrm>
          <a:prstGeom prst="roundRect">
            <a:avLst>
              <a:gd name="adj" fmla="val 5556"/>
            </a:avLst>
          </a:prstGeom>
          <a:solidFill>
            <a:srgbClr val="1E293B"/>
          </a:solidFill>
          <a:ln w="12700">
            <a:solidFill>
              <a:srgbClr val="2D3B59"/>
            </a:solidFill>
            <a:prstDash val="solid"/>
          </a:ln>
        </p:spPr>
      </p:sp>
      <p:sp>
        <p:nvSpPr>
          <p:cNvPr id="24" name="Text 22"/>
          <p:cNvSpPr/>
          <p:nvPr/>
        </p:nvSpPr>
        <p:spPr>
          <a:xfrm>
            <a:off x="4892040" y="2752344"/>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COMPUTATIONAL EFFICIENCY</a:t>
            </a:r>
            <a:endParaRPr lang="en-US" sz="1000" dirty="0"/>
          </a:p>
        </p:txBody>
      </p:sp>
      <p:sp>
        <p:nvSpPr>
          <p:cNvPr id="25" name="Text 23"/>
          <p:cNvSpPr/>
          <p:nvPr/>
        </p:nvSpPr>
        <p:spPr>
          <a:xfrm>
            <a:off x="4892040" y="2999232"/>
            <a:ext cx="3474720" cy="457200"/>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FLOPs reduction %, Parameter count (M/B), Memory footprint (MB).</a:t>
            </a:r>
            <a:endParaRPr lang="en-US" sz="950" dirty="0"/>
          </a:p>
        </p:txBody>
      </p:sp>
      <p:sp>
        <p:nvSpPr>
          <p:cNvPr id="26" name="Shape 24"/>
          <p:cNvSpPr/>
          <p:nvPr/>
        </p:nvSpPr>
        <p:spPr>
          <a:xfrm>
            <a:off x="4754880" y="3575304"/>
            <a:ext cx="3749040" cy="822960"/>
          </a:xfrm>
          <a:prstGeom prst="roundRect">
            <a:avLst>
              <a:gd name="adj" fmla="val 5556"/>
            </a:avLst>
          </a:prstGeom>
          <a:solidFill>
            <a:srgbClr val="1E293B"/>
          </a:solidFill>
          <a:ln w="12700">
            <a:solidFill>
              <a:srgbClr val="2D3B59"/>
            </a:solidFill>
            <a:prstDash val="solid"/>
          </a:ln>
        </p:spPr>
      </p:sp>
      <p:sp>
        <p:nvSpPr>
          <p:cNvPr id="27" name="Text 25"/>
          <p:cNvSpPr/>
          <p:nvPr/>
        </p:nvSpPr>
        <p:spPr>
          <a:xfrm>
            <a:off x="4892040" y="3648456"/>
            <a:ext cx="3474720" cy="201168"/>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HARDWARE DEPLOYMENT</a:t>
            </a:r>
            <a:endParaRPr lang="en-US" sz="1000" dirty="0"/>
          </a:p>
        </p:txBody>
      </p:sp>
      <p:sp>
        <p:nvSpPr>
          <p:cNvPr id="28" name="Text 26"/>
          <p:cNvSpPr/>
          <p:nvPr/>
        </p:nvSpPr>
        <p:spPr>
          <a:xfrm>
            <a:off x="4892040" y="3895344"/>
            <a:ext cx="3474720" cy="457200"/>
          </a:xfrm>
          <a:prstGeom prst="rect">
            <a:avLst/>
          </a:prstGeom>
          <a:noFill/>
          <a:ln/>
        </p:spPr>
        <p:txBody>
          <a:bodyPr wrap="square" rtlCol="0" anchor="ctr"/>
          <a:lstStyle/>
          <a:p>
            <a:pPr indent="0" marL="0">
              <a:lnSpc>
                <a:spcPts val="1300"/>
              </a:lnSpc>
              <a:buNone/>
            </a:pPr>
            <a:r>
              <a:rPr lang="en-US" sz="950" dirty="0">
                <a:solidFill>
                  <a:srgbClr val="94A3B8"/>
                </a:solidFill>
                <a:latin typeface="Calibri" pitchFamily="34" charset="0"/>
                <a:ea typeface="Calibri" pitchFamily="34" charset="-122"/>
                <a:cs typeface="Calibri" pitchFamily="34" charset="-120"/>
              </a:rPr>
              <a:t>End-to-End Latency (ms), Inference Throughput (FPS), Peak VRAM.</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457200" y="365760"/>
            <a:ext cx="45720" cy="594360"/>
          </a:xfrm>
          <a:prstGeom prst="rect">
            <a:avLst/>
          </a:prstGeom>
          <a:solidFill>
            <a:srgbClr val="00E5FF"/>
          </a:solidFill>
          <a:ln w="12700">
            <a:solidFill>
              <a:srgbClr val="00E5FF"/>
            </a:solidFill>
            <a:prstDash val="solid"/>
          </a:ln>
        </p:spPr>
      </p:sp>
      <p:sp>
        <p:nvSpPr>
          <p:cNvPr id="3" name="Text 1"/>
          <p:cNvSpPr/>
          <p:nvPr/>
        </p:nvSpPr>
        <p:spPr>
          <a:xfrm>
            <a:off x="594360" y="347472"/>
            <a:ext cx="7772400" cy="228600"/>
          </a:xfrm>
          <a:prstGeom prst="rect">
            <a:avLst/>
          </a:prstGeom>
          <a:noFill/>
          <a:ln/>
        </p:spPr>
        <p:txBody>
          <a:bodyPr wrap="square" rtlCol="0" anchor="ctr"/>
          <a:lstStyle/>
          <a:p>
            <a:pPr indent="0" marL="0">
              <a:buNone/>
            </a:pPr>
            <a:r>
              <a:rPr lang="en-US" sz="1000" b="1" spc="150" kern="0" dirty="0">
                <a:solidFill>
                  <a:srgbClr val="00E5FF"/>
                </a:solidFill>
                <a:latin typeface="Arial" pitchFamily="34" charset="0"/>
                <a:ea typeface="Arial" pitchFamily="34" charset="-122"/>
                <a:cs typeface="Arial" pitchFamily="34" charset="-120"/>
              </a:rPr>
              <a:t>LOOP &amp; DEPLOYMENT</a:t>
            </a:r>
            <a:endParaRPr lang="en-US" sz="1000" dirty="0"/>
          </a:p>
        </p:txBody>
      </p:sp>
      <p:sp>
        <p:nvSpPr>
          <p:cNvPr id="4" name="Text 2"/>
          <p:cNvSpPr/>
          <p:nvPr/>
        </p:nvSpPr>
        <p:spPr>
          <a:xfrm>
            <a:off x="594360" y="566928"/>
            <a:ext cx="8046720" cy="41148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Phase 6: Optimization Loop &amp; Final Deployment</a:t>
            </a:r>
            <a:endParaRPr lang="en-US" sz="2200" dirty="0"/>
          </a:p>
        </p:txBody>
      </p:sp>
      <p:sp>
        <p:nvSpPr>
          <p:cNvPr id="5" name="Shape 3"/>
          <p:cNvSpPr/>
          <p:nvPr/>
        </p:nvSpPr>
        <p:spPr>
          <a:xfrm>
            <a:off x="457200" y="1051560"/>
            <a:ext cx="8229600" cy="0"/>
          </a:xfrm>
          <a:prstGeom prst="line">
            <a:avLst/>
          </a:prstGeom>
          <a:noFill/>
          <a:ln w="12700">
            <a:solidFill>
              <a:srgbClr val="2D3B59"/>
            </a:solidFill>
            <a:prstDash val="solid"/>
          </a:ln>
        </p:spPr>
      </p:sp>
      <p:sp>
        <p:nvSpPr>
          <p:cNvPr id="6" name="Text 4"/>
          <p:cNvSpPr/>
          <p:nvPr/>
        </p:nvSpPr>
        <p:spPr>
          <a:xfrm>
            <a:off x="457200" y="4800600"/>
            <a:ext cx="4114800" cy="22860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Pruning Optimization Framework</a:t>
            </a:r>
            <a:endParaRPr lang="en-US" sz="900" dirty="0"/>
          </a:p>
        </p:txBody>
      </p:sp>
      <p:sp>
        <p:nvSpPr>
          <p:cNvPr id="7" name="Text 5"/>
          <p:cNvSpPr/>
          <p:nvPr/>
        </p:nvSpPr>
        <p:spPr>
          <a:xfrm>
            <a:off x="5029200" y="4800600"/>
            <a:ext cx="3657600" cy="22860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Confidential • Technical Deep Dive</a:t>
            </a:r>
            <a:endParaRPr lang="en-US" sz="900" dirty="0"/>
          </a:p>
        </p:txBody>
      </p:sp>
      <p:sp>
        <p:nvSpPr>
          <p:cNvPr id="8" name="Shape 6"/>
          <p:cNvSpPr/>
          <p:nvPr/>
        </p:nvSpPr>
        <p:spPr>
          <a:xfrm>
            <a:off x="457200" y="1234440"/>
            <a:ext cx="3931920" cy="3429000"/>
          </a:xfrm>
          <a:prstGeom prst="roundRect">
            <a:avLst>
              <a:gd name="adj" fmla="val 2133"/>
            </a:avLst>
          </a:prstGeom>
          <a:solidFill>
            <a:srgbClr val="161F33"/>
          </a:solidFill>
          <a:ln w="12700">
            <a:solidFill>
              <a:srgbClr val="2D3B59"/>
            </a:solidFill>
            <a:prstDash val="solid"/>
          </a:ln>
        </p:spPr>
      </p:sp>
      <p:sp>
        <p:nvSpPr>
          <p:cNvPr id="9" name="Text 7"/>
          <p:cNvSpPr/>
          <p:nvPr/>
        </p:nvSpPr>
        <p:spPr>
          <a:xfrm>
            <a:off x="640080" y="1371600"/>
            <a:ext cx="3566160" cy="274320"/>
          </a:xfrm>
          <a:prstGeom prst="rect">
            <a:avLst/>
          </a:prstGeom>
          <a:noFill/>
          <a:ln/>
        </p:spPr>
        <p:txBody>
          <a:bodyPr wrap="square" rtlCol="0" anchor="ctr"/>
          <a:lstStyle/>
          <a:p>
            <a:pPr indent="0" marL="0">
              <a:buNone/>
            </a:pPr>
            <a:r>
              <a:rPr lang="en-US" sz="1100" b="1" dirty="0">
                <a:solidFill>
                  <a:srgbClr val="00E5FF"/>
                </a:solidFill>
                <a:latin typeface="Arial" pitchFamily="34" charset="0"/>
                <a:ea typeface="Arial" pitchFamily="34" charset="-122"/>
                <a:cs typeface="Arial" pitchFamily="34" charset="-120"/>
              </a:rPr>
              <a:t>CONSTRAINED OPTIMIZATION FORMULATION</a:t>
            </a:r>
            <a:endParaRPr lang="en-US" sz="1100" dirty="0"/>
          </a:p>
        </p:txBody>
      </p:sp>
      <p:sp>
        <p:nvSpPr>
          <p:cNvPr id="10" name="Shape 8"/>
          <p:cNvSpPr/>
          <p:nvPr/>
        </p:nvSpPr>
        <p:spPr>
          <a:xfrm>
            <a:off x="640080" y="1691640"/>
            <a:ext cx="3566160" cy="1463040"/>
          </a:xfrm>
          <a:prstGeom prst="roundRect">
            <a:avLst>
              <a:gd name="adj" fmla="val 3125"/>
            </a:avLst>
          </a:prstGeom>
          <a:solidFill>
            <a:srgbClr val="0F172A"/>
          </a:solidFill>
          <a:ln w="12700">
            <a:solidFill>
              <a:srgbClr val="00E5FF"/>
            </a:solidFill>
            <a:prstDash val="solid"/>
          </a:ln>
        </p:spPr>
      </p:sp>
      <p:sp>
        <p:nvSpPr>
          <p:cNvPr id="11" name="Text 9"/>
          <p:cNvSpPr/>
          <p:nvPr/>
        </p:nvSpPr>
        <p:spPr>
          <a:xfrm>
            <a:off x="731520" y="1737360"/>
            <a:ext cx="3383280" cy="1371600"/>
          </a:xfrm>
          <a:prstGeom prst="rect">
            <a:avLst/>
          </a:prstGeom>
          <a:noFill/>
          <a:ln/>
        </p:spPr>
        <p:txBody>
          <a:bodyPr wrap="square" rtlCol="0" anchor="ctr"/>
          <a:lstStyle/>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min_{P}   L_{task}(P)</a:t>
            </a:r>
            <a:endParaRPr lang="en-US" sz="950" dirty="0"/>
          </a:p>
          <a:p>
            <a:pPr indent="0" marL="0">
              <a:lnSpc>
                <a:spcPts val="1400"/>
              </a:lnSpc>
              <a:buNone/>
            </a:pPr>
            <a:endParaRPr lang="en-US" sz="950" dirty="0"/>
          </a:p>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subject to:</a:t>
            </a:r>
            <a:endParaRPr lang="en-US" sz="950" dirty="0"/>
          </a:p>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  • Accuracy(P)  ≥  A_{target}</a:t>
            </a:r>
            <a:endParaRPr lang="en-US" sz="950" dirty="0"/>
          </a:p>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  • Latency(P)   ≤  L_{target}</a:t>
            </a:r>
            <a:endParaRPr lang="en-US" sz="950" dirty="0"/>
          </a:p>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  • Memory(P)    ≤  M_{target}</a:t>
            </a:r>
            <a:endParaRPr lang="en-US" sz="950" dirty="0"/>
          </a:p>
          <a:p>
            <a:pPr indent="0" marL="0">
              <a:lnSpc>
                <a:spcPts val="1400"/>
              </a:lnSpc>
              <a:buNone/>
            </a:pPr>
            <a:r>
              <a:rPr lang="en-US" sz="950" dirty="0">
                <a:solidFill>
                  <a:srgbClr val="F8FAFC"/>
                </a:solidFill>
                <a:latin typeface="Courier New" pitchFamily="34" charset="0"/>
                <a:ea typeface="Courier New" pitchFamily="34" charset="-122"/>
                <a:cs typeface="Courier New" pitchFamily="34" charset="-120"/>
              </a:rPr>
              <a:t>  • Sparsity(P)   ≥  S_{target}</a:t>
            </a:r>
            <a:endParaRPr lang="en-US" sz="950" dirty="0"/>
          </a:p>
        </p:txBody>
      </p:sp>
      <p:sp>
        <p:nvSpPr>
          <p:cNvPr id="12" name="Text 10"/>
          <p:cNvSpPr/>
          <p:nvPr/>
        </p:nvSpPr>
        <p:spPr>
          <a:xfrm>
            <a:off x="640080" y="3246120"/>
            <a:ext cx="3566160" cy="201168"/>
          </a:xfrm>
          <a:prstGeom prst="rect">
            <a:avLst/>
          </a:prstGeom>
          <a:noFill/>
          <a:ln/>
        </p:spPr>
        <p:txBody>
          <a:bodyPr wrap="square" rtlCol="0" anchor="ctr"/>
          <a:lstStyle/>
          <a:p>
            <a:pPr indent="0" marL="0">
              <a:buNone/>
            </a:pPr>
            <a:r>
              <a:rPr lang="en-US" sz="950" b="1" dirty="0">
                <a:solidFill>
                  <a:srgbClr val="F43F5E"/>
                </a:solidFill>
                <a:latin typeface="Arial" pitchFamily="34" charset="0"/>
                <a:ea typeface="Arial" pitchFamily="34" charset="-122"/>
                <a:cs typeface="Arial" pitchFamily="34" charset="-120"/>
              </a:rPr>
              <a:t>ITERATIVE POLICY REVISION (TARGET NOT MET)</a:t>
            </a:r>
            <a:endParaRPr lang="en-US" sz="950" dirty="0"/>
          </a:p>
        </p:txBody>
      </p:sp>
      <p:sp>
        <p:nvSpPr>
          <p:cNvPr id="13" name="Text 11"/>
          <p:cNvSpPr/>
          <p:nvPr/>
        </p:nvSpPr>
        <p:spPr>
          <a:xfrm>
            <a:off x="640080" y="3474720"/>
            <a:ext cx="3566160" cy="1005840"/>
          </a:xfrm>
          <a:prstGeom prst="rect">
            <a:avLst/>
          </a:prstGeom>
          <a:noFill/>
          <a:ln/>
        </p:spPr>
        <p:txBody>
          <a:bodyPr wrap="square" rtlCol="0" anchor="ctr"/>
          <a:lstStyle/>
          <a:p>
            <a:pPr indent="0" marL="0">
              <a:lnSpc>
                <a:spcPts val="1300"/>
              </a:lnSpc>
              <a:buNone/>
            </a:pPr>
            <a:r>
              <a:rPr lang="en-US" sz="900" dirty="0">
                <a:solidFill>
                  <a:srgbClr val="94A3B8"/>
                </a:solidFill>
                <a:latin typeface="Calibri" pitchFamily="34" charset="0"/>
                <a:ea typeface="Calibri" pitchFamily="34" charset="-122"/>
                <a:cs typeface="Calibri" pitchFamily="34" charset="-120"/>
              </a:rPr>
              <a:t>If targets fail, the optimizer revises policy P: reduces per-layer ratio, switches granularity, or adjusts criterion, then re-runs Recovery Loop.</a:t>
            </a:r>
            <a:endParaRPr lang="en-US" sz="900" dirty="0"/>
          </a:p>
        </p:txBody>
      </p:sp>
      <p:sp>
        <p:nvSpPr>
          <p:cNvPr id="14" name="Shape 12"/>
          <p:cNvSpPr/>
          <p:nvPr/>
        </p:nvSpPr>
        <p:spPr>
          <a:xfrm>
            <a:off x="4572000" y="1234440"/>
            <a:ext cx="4114800" cy="3429000"/>
          </a:xfrm>
          <a:prstGeom prst="roundRect">
            <a:avLst>
              <a:gd name="adj" fmla="val 2133"/>
            </a:avLst>
          </a:prstGeom>
          <a:solidFill>
            <a:srgbClr val="161F33"/>
          </a:solidFill>
          <a:ln w="12700">
            <a:solidFill>
              <a:srgbClr val="2D3B59"/>
            </a:solidFill>
            <a:prstDash val="solid"/>
          </a:ln>
        </p:spPr>
      </p:sp>
      <p:sp>
        <p:nvSpPr>
          <p:cNvPr id="15" name="Text 13"/>
          <p:cNvSpPr/>
          <p:nvPr/>
        </p:nvSpPr>
        <p:spPr>
          <a:xfrm>
            <a:off x="4754880" y="1371600"/>
            <a:ext cx="3749040" cy="27432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PRODUCTION DEPLOYMENT &amp; VERIFICATION</a:t>
            </a:r>
            <a:endParaRPr lang="en-US" sz="1100" dirty="0"/>
          </a:p>
        </p:txBody>
      </p:sp>
      <p:sp>
        <p:nvSpPr>
          <p:cNvPr id="16" name="Shape 14"/>
          <p:cNvSpPr/>
          <p:nvPr/>
        </p:nvSpPr>
        <p:spPr>
          <a:xfrm>
            <a:off x="4754880" y="1783080"/>
            <a:ext cx="3749040" cy="566928"/>
          </a:xfrm>
          <a:prstGeom prst="roundRect">
            <a:avLst>
              <a:gd name="adj" fmla="val 8065"/>
            </a:avLst>
          </a:prstGeom>
          <a:solidFill>
            <a:srgbClr val="1E293B"/>
          </a:solidFill>
          <a:ln w="12700">
            <a:solidFill>
              <a:srgbClr val="2D3B59"/>
            </a:solidFill>
            <a:prstDash val="solid"/>
          </a:ln>
        </p:spPr>
      </p:sp>
      <p:sp>
        <p:nvSpPr>
          <p:cNvPr id="17" name="Text 15"/>
          <p:cNvSpPr/>
          <p:nvPr/>
        </p:nvSpPr>
        <p:spPr>
          <a:xfrm>
            <a:off x="4892040" y="1828800"/>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1. Model Finalization</a:t>
            </a:r>
            <a:endParaRPr lang="en-US" sz="1000" dirty="0"/>
          </a:p>
        </p:txBody>
      </p:sp>
      <p:sp>
        <p:nvSpPr>
          <p:cNvPr id="18" name="Text 16"/>
          <p:cNvSpPr/>
          <p:nvPr/>
        </p:nvSpPr>
        <p:spPr>
          <a:xfrm>
            <a:off x="4892040" y="2039112"/>
            <a:ext cx="347472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Freeze architecture, weights, &amp; pruning mask configuration.</a:t>
            </a:r>
            <a:endParaRPr lang="en-US" sz="900" dirty="0"/>
          </a:p>
        </p:txBody>
      </p:sp>
      <p:sp>
        <p:nvSpPr>
          <p:cNvPr id="19" name="Shape 17"/>
          <p:cNvSpPr/>
          <p:nvPr/>
        </p:nvSpPr>
        <p:spPr>
          <a:xfrm>
            <a:off x="4754880" y="2441448"/>
            <a:ext cx="3749040" cy="566928"/>
          </a:xfrm>
          <a:prstGeom prst="roundRect">
            <a:avLst>
              <a:gd name="adj" fmla="val 8065"/>
            </a:avLst>
          </a:prstGeom>
          <a:solidFill>
            <a:srgbClr val="1E293B"/>
          </a:solidFill>
          <a:ln w="12700">
            <a:solidFill>
              <a:srgbClr val="2D3B59"/>
            </a:solidFill>
            <a:prstDash val="solid"/>
          </a:ln>
        </p:spPr>
      </p:sp>
      <p:sp>
        <p:nvSpPr>
          <p:cNvPr id="20" name="Text 18"/>
          <p:cNvSpPr/>
          <p:nvPr/>
        </p:nvSpPr>
        <p:spPr>
          <a:xfrm>
            <a:off x="4892040" y="2487168"/>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2. Export Format</a:t>
            </a:r>
            <a:endParaRPr lang="en-US" sz="1000" dirty="0"/>
          </a:p>
        </p:txBody>
      </p:sp>
      <p:sp>
        <p:nvSpPr>
          <p:cNvPr id="21" name="Text 19"/>
          <p:cNvSpPr/>
          <p:nvPr/>
        </p:nvSpPr>
        <p:spPr>
          <a:xfrm>
            <a:off x="4892040" y="2697480"/>
            <a:ext cx="347472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Convert model graph to ONNX, TensorRT, OpenVINO, or TFLite.</a:t>
            </a:r>
            <a:endParaRPr lang="en-US" sz="900" dirty="0"/>
          </a:p>
        </p:txBody>
      </p:sp>
      <p:sp>
        <p:nvSpPr>
          <p:cNvPr id="22" name="Shape 20"/>
          <p:cNvSpPr/>
          <p:nvPr/>
        </p:nvSpPr>
        <p:spPr>
          <a:xfrm>
            <a:off x="4754880" y="3099816"/>
            <a:ext cx="3749040" cy="566928"/>
          </a:xfrm>
          <a:prstGeom prst="roundRect">
            <a:avLst>
              <a:gd name="adj" fmla="val 8065"/>
            </a:avLst>
          </a:prstGeom>
          <a:solidFill>
            <a:srgbClr val="1E293B"/>
          </a:solidFill>
          <a:ln w="12700">
            <a:solidFill>
              <a:srgbClr val="2D3B59"/>
            </a:solidFill>
            <a:prstDash val="solid"/>
          </a:ln>
        </p:spPr>
      </p:sp>
      <p:sp>
        <p:nvSpPr>
          <p:cNvPr id="23" name="Text 21"/>
          <p:cNvSpPr/>
          <p:nvPr/>
        </p:nvSpPr>
        <p:spPr>
          <a:xfrm>
            <a:off x="4892040" y="3145536"/>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3. Multi-Stage Verification</a:t>
            </a:r>
            <a:endParaRPr lang="en-US" sz="1000" dirty="0"/>
          </a:p>
        </p:txBody>
      </p:sp>
      <p:sp>
        <p:nvSpPr>
          <p:cNvPr id="24" name="Text 22"/>
          <p:cNvSpPr/>
          <p:nvPr/>
        </p:nvSpPr>
        <p:spPr>
          <a:xfrm>
            <a:off x="4892040" y="3355848"/>
            <a:ext cx="347472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Run Structural, Numerical, &amp; Inference Latency verification.</a:t>
            </a:r>
            <a:endParaRPr lang="en-US" sz="900" dirty="0"/>
          </a:p>
        </p:txBody>
      </p:sp>
      <p:sp>
        <p:nvSpPr>
          <p:cNvPr id="25" name="Shape 23"/>
          <p:cNvSpPr/>
          <p:nvPr/>
        </p:nvSpPr>
        <p:spPr>
          <a:xfrm>
            <a:off x="4754880" y="3758184"/>
            <a:ext cx="3749040" cy="566928"/>
          </a:xfrm>
          <a:prstGeom prst="roundRect">
            <a:avLst>
              <a:gd name="adj" fmla="val 8065"/>
            </a:avLst>
          </a:prstGeom>
          <a:solidFill>
            <a:srgbClr val="1E293B"/>
          </a:solidFill>
          <a:ln w="12700">
            <a:solidFill>
              <a:srgbClr val="2D3B59"/>
            </a:solidFill>
            <a:prstDash val="solid"/>
          </a:ln>
        </p:spPr>
      </p:sp>
      <p:sp>
        <p:nvSpPr>
          <p:cNvPr id="26" name="Text 24"/>
          <p:cNvSpPr/>
          <p:nvPr/>
        </p:nvSpPr>
        <p:spPr>
          <a:xfrm>
            <a:off x="4892040" y="3803904"/>
            <a:ext cx="3474720" cy="201168"/>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4. Production Handover</a:t>
            </a:r>
            <a:endParaRPr lang="en-US" sz="1000" dirty="0"/>
          </a:p>
        </p:txBody>
      </p:sp>
      <p:sp>
        <p:nvSpPr>
          <p:cNvPr id="27" name="Text 25"/>
          <p:cNvSpPr/>
          <p:nvPr/>
        </p:nvSpPr>
        <p:spPr>
          <a:xfrm>
            <a:off x="4892040" y="4014216"/>
            <a:ext cx="347472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Deliver Optimized Model, Spec Config, &amp; Benchmark Report.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Model Pruning Optimization Framework</dc:title>
  <dc:subject>PptxGenJS Presentation</dc:subject>
  <dc:creator>Antigravity AI Systems</dc:creator>
  <cp:lastModifiedBy>Antigravity AI Systems</cp:lastModifiedBy>
  <cp:revision>1</cp:revision>
  <dcterms:created xsi:type="dcterms:W3CDTF">2026-09-09T08:28:44Z</dcterms:created>
  <dcterms:modified xsi:type="dcterms:W3CDTF">2026-09-09T08:28:44Z</dcterms:modified>
</cp:coreProperties>
</file>