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trình bày mục tiêu và phạm vi nghiên cứu tối ưu hóa mô hình bằng kỹ thuật cắt tỉa (pruning) cho hai họ kiến trúc chính: YOLO (CNN-based) và DETR (Transformer-based). Trình bày theo đúng định dạng Purpose/Input/Method/Output.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swimlane 6 bước thể hiện quy trình làm việc chuẩn hóa từ nghiên cứu lý thuyết, phân loại taxonomy, ánh xạ ràng buộc kiến trúc, chấm điểm ma trận kỹ thuật, probe nhạy cảm đến chốt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Granularity giúp trả lời câu hỏi "Prune cái gì". Đối với YOLO, Structured Channel Pruning là trọng tâm. Đối với DETR, ngoài channel ở CNN backbone còn cần Pruning Attention Head, FFN neuron và Object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Criterion xác định cách tính điểm tầm quan trọng. Taylor Expansion (First-order gradient) và Network Slimming (BN-Gamma) là hai tiêu chí hàng đầu cho YOLO; Movement Pruning và Taylor được ưu tiên cho Transformer trong DETR.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Strategy xác định lịch trình và phạm vi cắt tỉa. Thực tế R&amp;D cho thấy Iterative Pruning kết hợp Layer-wise Local Ratio mang lại độ ổn định mAP vượt trội so với Global One-shot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so sánh toàn bộ 10 kỹ thuật candidate giúp Technical Leader dễ dàng nhận thấy lý do lựa chọn DepGraph + BN-Gamma/Taylor cho YOLO và kết hợp Channel + Head + Query Pruning cho DETR.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tích ràng buộc kiến trúc YOLOv8/v10 cho thấy cấu trúc CNN giúp channel pruning đạt latency gain cao, nhưng cần DepGraph để đảm bảo an toàn shape và khóa Detection Head để bảo vệ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Ràng buộc kiến trúc DETR phức tạp hơn YOLO do kết hợp CNN và Transformer. Cần áp dụng chiến lược đa tầng: Channel Pruning ở Backbone, Head/FFN Pruning ở Transformer, và Query Pruning ở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danh sách kỹ thuật cho YOLO: Kết hợp DepGraph cho Structured Channel Pruning, tiêu chí Taylor + BN-Gamma và chiến lược Iterative phân tầng theo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danh sách kỹ thuật cho DETR: Phối hợp 4 thành phần chính bao gồm Channel Pruning ở Backbone, Attention Head Pruning, FFN N:M Sparsity và Query Pruning.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trình bày quy trình 6 bước Sensitivity Analysis từ Dependency Check (Step 3A), Temporary Probe, Fast Validation, Sensitivity Curve, Classification (Safe/Transition/Sensitive) đến Candidate Config làm đầu vào cho Step 4 Pruning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 hoạch triển khai so sánh chi tiết công cụ, tiêu chí, quy trình fine-tune và vòng lặp iteration giữa YOLO và DETR.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pháp benchmark chuẩn hóa bộ 3 nhóm tiêu chuẩn: Độ chính xác (mAP), Hiệu quả cấu trúc (Params/FLOPs/Size) và Tốc độ chạy thực tế (Latency/FPS).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định lượng thể hiện kết quả đạt target cho cả YOLOv8-s và RT-DETR-R50 sau khi thực hiện cắt tỉa.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cấu hình Pruning Policy chính thức cho cả hai dòng mô hình để sẵn sàng đưa vào pipeline tự động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tổng kết lại hai hướng đi chính và đề xuất 3 hành động cụ thể cho các bước tiếp theo trong pipeline (Step 5, Step 9, Step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8229600" cy="2286000"/>
          </a:xfrm>
          <a:prstGeom prst="roundRect">
            <a:avLst>
              <a:gd name="adj" fmla="val 4000"/>
            </a:avLst>
          </a:prstGeom>
          <a:solidFill>
            <a:srgbClr val="EFF6FF"/>
          </a:solidFill>
          <a:ln w="12700">
            <a:solidFill>
              <a:srgbClr val="E2E8F0"/>
            </a:solidFill>
            <a:prstDash val="solid"/>
          </a:ln>
        </p:spPr>
      </p:sp>
      <p:sp>
        <p:nvSpPr>
          <p:cNvPr id="3" name="Shape 1"/>
          <p:cNvSpPr/>
          <p:nvPr/>
        </p:nvSpPr>
        <p:spPr>
          <a:xfrm>
            <a:off x="731520" y="594360"/>
            <a:ext cx="2377440" cy="292608"/>
          </a:xfrm>
          <a:prstGeom prst="roundRect">
            <a:avLst>
              <a:gd name="adj" fmla="val 15625"/>
            </a:avLst>
          </a:prstGeom>
          <a:solidFill>
            <a:srgbClr val="2563EB"/>
          </a:solidFill>
          <a:ln/>
        </p:spPr>
      </p:sp>
      <p:sp>
        <p:nvSpPr>
          <p:cNvPr id="4" name="Text 2"/>
          <p:cNvSpPr/>
          <p:nvPr/>
        </p:nvSpPr>
        <p:spPr>
          <a:xfrm>
            <a:off x="731520" y="594360"/>
            <a:ext cx="2377440" cy="292608"/>
          </a:xfrm>
          <a:prstGeom prst="rect">
            <a:avLst/>
          </a:prstGeom>
          <a:noFill/>
          <a:ln/>
        </p:spPr>
        <p:txBody>
          <a:bodyPr wrap="square" rtlCol="0" anchor="ctr"/>
          <a:lstStyle/>
          <a:p>
            <a:pPr algn="ctr" indent="0" marL="0">
              <a:buNone/>
            </a:pPr>
            <a:r>
              <a:rPr lang="en-US" sz="1000" b="1" dirty="0">
                <a:solidFill>
                  <a:srgbClr val="FFFFFF"/>
                </a:solidFill>
                <a:latin typeface="Plus Jakarta Sans, Arial" pitchFamily="34" charset="0"/>
                <a:ea typeface="Plus Jakarta Sans, Arial" pitchFamily="34" charset="-122"/>
                <a:cs typeface="Plus Jakarta Sans, Arial" pitchFamily="34" charset="-120"/>
              </a:rPr>
              <a:t>TECHNICAL DECK FOR R&amp;D REVIEW</a:t>
            </a:r>
            <a:endParaRPr lang="en-US" sz="1000" dirty="0"/>
          </a:p>
        </p:txBody>
      </p:sp>
      <p:sp>
        <p:nvSpPr>
          <p:cNvPr id="5" name="Text 3"/>
          <p:cNvSpPr/>
          <p:nvPr/>
        </p:nvSpPr>
        <p:spPr>
          <a:xfrm>
            <a:off x="731520" y="960120"/>
            <a:ext cx="7680960" cy="731520"/>
          </a:xfrm>
          <a:prstGeom prst="rect">
            <a:avLst/>
          </a:prstGeom>
          <a:noFill/>
          <a:ln/>
        </p:spPr>
        <p:txBody>
          <a:bodyPr wrap="square" rtlCol="0" anchor="ctr"/>
          <a:lstStyle/>
          <a:p>
            <a:pPr indent="0" marL="0">
              <a:buNone/>
            </a:pPr>
            <a:r>
              <a:rPr lang="en-US" sz="2600" b="1" dirty="0">
                <a:solidFill>
                  <a:srgbClr val="1E293B"/>
                </a:solidFill>
                <a:latin typeface="Plus Jakarta Sans, Arial" pitchFamily="34" charset="0"/>
                <a:ea typeface="Plus Jakarta Sans, Arial" pitchFamily="34" charset="-122"/>
                <a:cs typeface="Plus Jakarta Sans, Arial" pitchFamily="34" charset="-120"/>
              </a:rPr>
              <a:t>RESEARCH / PRUNING TECHNIQUES — YOLO &amp; DETR</a:t>
            </a:r>
            <a:endParaRPr lang="en-US" sz="2600" dirty="0"/>
          </a:p>
        </p:txBody>
      </p:sp>
      <p:sp>
        <p:nvSpPr>
          <p:cNvPr id="6" name="Text 4"/>
          <p:cNvSpPr/>
          <p:nvPr/>
        </p:nvSpPr>
        <p:spPr>
          <a:xfrm>
            <a:off x="731520" y="1737360"/>
            <a:ext cx="7680960" cy="365760"/>
          </a:xfrm>
          <a:prstGeom prst="rect">
            <a:avLst/>
          </a:prstGeom>
          <a:noFill/>
          <a:ln/>
        </p:spPr>
        <p:txBody>
          <a:bodyPr wrap="square" rtlCol="0" anchor="ctr"/>
          <a:lstStyle/>
          <a:p>
            <a:pPr indent="0" marL="0">
              <a:buNone/>
            </a:pPr>
            <a:r>
              <a:rPr lang="en-US" sz="1500" b="1" dirty="0">
                <a:solidFill>
                  <a:srgbClr val="2563EB"/>
                </a:solidFill>
                <a:latin typeface="Source Sans 3, Arial" pitchFamily="34" charset="0"/>
                <a:ea typeface="Source Sans 3, Arial" pitchFamily="34" charset="-122"/>
                <a:cs typeface="Source Sans 3, Arial" pitchFamily="34" charset="-120"/>
              </a:rPr>
              <a:t>Section: Techniques Research → Selection → Benchmark</a:t>
            </a:r>
            <a:endParaRPr lang="en-US" sz="1500" dirty="0"/>
          </a:p>
        </p:txBody>
      </p:sp>
      <p:sp>
        <p:nvSpPr>
          <p:cNvPr id="7" name="Shape 5"/>
          <p:cNvSpPr/>
          <p:nvPr/>
        </p:nvSpPr>
        <p:spPr>
          <a:xfrm>
            <a:off x="457200" y="2834640"/>
            <a:ext cx="1965960" cy="1920240"/>
          </a:xfrm>
          <a:prstGeom prst="roundRect">
            <a:avLst>
              <a:gd name="adj" fmla="val 3810"/>
            </a:avLst>
          </a:prstGeom>
          <a:solidFill>
            <a:srgbClr val="F8F9FA"/>
          </a:solidFill>
          <a:ln w="12700">
            <a:solidFill>
              <a:srgbClr val="E2E8F0"/>
            </a:solidFill>
            <a:prstDash val="solid"/>
          </a:ln>
        </p:spPr>
      </p:sp>
      <p:sp>
        <p:nvSpPr>
          <p:cNvPr id="8" name="Shape 6"/>
          <p:cNvSpPr/>
          <p:nvPr/>
        </p:nvSpPr>
        <p:spPr>
          <a:xfrm>
            <a:off x="594360" y="2971800"/>
            <a:ext cx="822960" cy="228600"/>
          </a:xfrm>
          <a:prstGeom prst="roundRect">
            <a:avLst>
              <a:gd name="adj" fmla="val 16000"/>
            </a:avLst>
          </a:prstGeom>
          <a:solidFill>
            <a:srgbClr val="2563EB"/>
          </a:solidFill>
          <a:ln/>
        </p:spPr>
      </p:sp>
      <p:sp>
        <p:nvSpPr>
          <p:cNvPr id="9" name="Text 7"/>
          <p:cNvSpPr/>
          <p:nvPr/>
        </p:nvSpPr>
        <p:spPr>
          <a:xfrm>
            <a:off x="594360" y="2971800"/>
            <a:ext cx="822960" cy="228600"/>
          </a:xfrm>
          <a:prstGeom prst="rect">
            <a:avLst/>
          </a:prstGeom>
          <a:noFill/>
          <a:ln/>
        </p:spPr>
        <p:txBody>
          <a:bodyPr wrap="square" rtlCol="0" anchor="ctr"/>
          <a:lstStyle/>
          <a:p>
            <a:pPr algn="ctr" indent="0" marL="0">
              <a:buNone/>
            </a:pPr>
            <a:r>
              <a:rPr lang="en-US" sz="900" b="1" dirty="0">
                <a:solidFill>
                  <a:srgbClr val="FFFFFF"/>
                </a:solidFill>
                <a:latin typeface="Plus Jakarta Sans, Arial" pitchFamily="34" charset="0"/>
                <a:ea typeface="Plus Jakarta Sans, Arial" pitchFamily="34" charset="-122"/>
                <a:cs typeface="Plus Jakarta Sans, Arial" pitchFamily="34" charset="-120"/>
              </a:rPr>
              <a:t>PURPOSE</a:t>
            </a:r>
            <a:endParaRPr lang="en-US" sz="900" dirty="0"/>
          </a:p>
        </p:txBody>
      </p:sp>
      <p:sp>
        <p:nvSpPr>
          <p:cNvPr id="10" name="Text 8"/>
          <p:cNvSpPr/>
          <p:nvPr/>
        </p:nvSpPr>
        <p:spPr>
          <a:xfrm>
            <a:off x="594360" y="3291840"/>
            <a:ext cx="1691640" cy="13716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Xác định phạm vi nghiên cứu pruning cho 2 kiến trúc mục tiêu YOLO &amp; DETR.</a:t>
            </a:r>
            <a:endParaRPr lang="en-US" sz="1100" dirty="0"/>
          </a:p>
        </p:txBody>
      </p:sp>
      <p:sp>
        <p:nvSpPr>
          <p:cNvPr id="11" name="Shape 9"/>
          <p:cNvSpPr/>
          <p:nvPr/>
        </p:nvSpPr>
        <p:spPr>
          <a:xfrm>
            <a:off x="2560320" y="2834640"/>
            <a:ext cx="1965960" cy="1920240"/>
          </a:xfrm>
          <a:prstGeom prst="roundRect">
            <a:avLst>
              <a:gd name="adj" fmla="val 3810"/>
            </a:avLst>
          </a:prstGeom>
          <a:solidFill>
            <a:srgbClr val="F8F9FA"/>
          </a:solidFill>
          <a:ln w="12700">
            <a:solidFill>
              <a:srgbClr val="E2E8F0"/>
            </a:solidFill>
            <a:prstDash val="solid"/>
          </a:ln>
        </p:spPr>
      </p:sp>
      <p:sp>
        <p:nvSpPr>
          <p:cNvPr id="12" name="Shape 10"/>
          <p:cNvSpPr/>
          <p:nvPr/>
        </p:nvSpPr>
        <p:spPr>
          <a:xfrm>
            <a:off x="2697480" y="2971800"/>
            <a:ext cx="822960" cy="228600"/>
          </a:xfrm>
          <a:prstGeom prst="roundRect">
            <a:avLst>
              <a:gd name="adj" fmla="val 16000"/>
            </a:avLst>
          </a:prstGeom>
          <a:solidFill>
            <a:srgbClr val="7C3AED"/>
          </a:solidFill>
          <a:ln/>
        </p:spPr>
      </p:sp>
      <p:sp>
        <p:nvSpPr>
          <p:cNvPr id="13" name="Text 11"/>
          <p:cNvSpPr/>
          <p:nvPr/>
        </p:nvSpPr>
        <p:spPr>
          <a:xfrm>
            <a:off x="2697480" y="2971800"/>
            <a:ext cx="822960" cy="228600"/>
          </a:xfrm>
          <a:prstGeom prst="rect">
            <a:avLst/>
          </a:prstGeom>
          <a:noFill/>
          <a:ln/>
        </p:spPr>
        <p:txBody>
          <a:bodyPr wrap="square" rtlCol="0" anchor="ctr"/>
          <a:lstStyle/>
          <a:p>
            <a:pPr algn="ctr" indent="0" marL="0">
              <a:buNone/>
            </a:pPr>
            <a:r>
              <a:rPr lang="en-US" sz="900" b="1" dirty="0">
                <a:solidFill>
                  <a:srgbClr val="FFFFFF"/>
                </a:solidFill>
                <a:latin typeface="Plus Jakarta Sans, Arial" pitchFamily="34" charset="0"/>
                <a:ea typeface="Plus Jakarta Sans, Arial" pitchFamily="34" charset="-122"/>
                <a:cs typeface="Plus Jakarta Sans, Arial" pitchFamily="34" charset="-120"/>
              </a:rPr>
              <a:t>INPUT</a:t>
            </a:r>
            <a:endParaRPr lang="en-US" sz="900" dirty="0"/>
          </a:p>
        </p:txBody>
      </p:sp>
      <p:sp>
        <p:nvSpPr>
          <p:cNvPr id="14" name="Text 12"/>
          <p:cNvSpPr/>
          <p:nvPr/>
        </p:nvSpPr>
        <p:spPr>
          <a:xfrm>
            <a:off x="2697480" y="3291840"/>
            <a:ext cx="1691640" cy="13716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YOLO (v8/v10, CNN dense conv) + DETR (RT-DETR, CNN + Transformer).</a:t>
            </a:r>
            <a:endParaRPr lang="en-US" sz="1100" dirty="0"/>
          </a:p>
        </p:txBody>
      </p:sp>
      <p:sp>
        <p:nvSpPr>
          <p:cNvPr id="15" name="Shape 13"/>
          <p:cNvSpPr/>
          <p:nvPr/>
        </p:nvSpPr>
        <p:spPr>
          <a:xfrm>
            <a:off x="4663440" y="2834640"/>
            <a:ext cx="1965960" cy="1920240"/>
          </a:xfrm>
          <a:prstGeom prst="roundRect">
            <a:avLst>
              <a:gd name="adj" fmla="val 3810"/>
            </a:avLst>
          </a:prstGeom>
          <a:solidFill>
            <a:srgbClr val="F8F9FA"/>
          </a:solidFill>
          <a:ln w="12700">
            <a:solidFill>
              <a:srgbClr val="E2E8F0"/>
            </a:solidFill>
            <a:prstDash val="solid"/>
          </a:ln>
        </p:spPr>
      </p:sp>
      <p:sp>
        <p:nvSpPr>
          <p:cNvPr id="16" name="Shape 14"/>
          <p:cNvSpPr/>
          <p:nvPr/>
        </p:nvSpPr>
        <p:spPr>
          <a:xfrm>
            <a:off x="4800600" y="2971800"/>
            <a:ext cx="822960" cy="228600"/>
          </a:xfrm>
          <a:prstGeom prst="roundRect">
            <a:avLst>
              <a:gd name="adj" fmla="val 16000"/>
            </a:avLst>
          </a:prstGeom>
          <a:solidFill>
            <a:srgbClr val="D97706"/>
          </a:solidFill>
          <a:ln/>
        </p:spPr>
      </p:sp>
      <p:sp>
        <p:nvSpPr>
          <p:cNvPr id="17" name="Text 15"/>
          <p:cNvSpPr/>
          <p:nvPr/>
        </p:nvSpPr>
        <p:spPr>
          <a:xfrm>
            <a:off x="4800600" y="2971800"/>
            <a:ext cx="822960" cy="228600"/>
          </a:xfrm>
          <a:prstGeom prst="rect">
            <a:avLst/>
          </a:prstGeom>
          <a:noFill/>
          <a:ln/>
        </p:spPr>
        <p:txBody>
          <a:bodyPr wrap="square" rtlCol="0" anchor="ctr"/>
          <a:lstStyle/>
          <a:p>
            <a:pPr algn="ctr" indent="0" marL="0">
              <a:buNone/>
            </a:pPr>
            <a:r>
              <a:rPr lang="en-US" sz="900" b="1" dirty="0">
                <a:solidFill>
                  <a:srgbClr val="FFFFFF"/>
                </a:solidFill>
                <a:latin typeface="Plus Jakarta Sans, Arial" pitchFamily="34" charset="0"/>
                <a:ea typeface="Plus Jakarta Sans, Arial" pitchFamily="34" charset="-122"/>
                <a:cs typeface="Plus Jakarta Sans, Arial" pitchFamily="34" charset="-120"/>
              </a:rPr>
              <a:t>METHOD</a:t>
            </a:r>
            <a:endParaRPr lang="en-US" sz="900" dirty="0"/>
          </a:p>
        </p:txBody>
      </p:sp>
      <p:sp>
        <p:nvSpPr>
          <p:cNvPr id="18" name="Text 16"/>
          <p:cNvSpPr/>
          <p:nvPr/>
        </p:nvSpPr>
        <p:spPr>
          <a:xfrm>
            <a:off x="4800600" y="3291840"/>
            <a:ext cx="1691640" cy="13716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So sánh đặc thù kiến trúc xác định constraints (structured vs attention-aware).</a:t>
            </a:r>
            <a:endParaRPr lang="en-US" sz="1100" dirty="0"/>
          </a:p>
        </p:txBody>
      </p:sp>
      <p:sp>
        <p:nvSpPr>
          <p:cNvPr id="19" name="Shape 17"/>
          <p:cNvSpPr/>
          <p:nvPr/>
        </p:nvSpPr>
        <p:spPr>
          <a:xfrm>
            <a:off x="6766560" y="2834640"/>
            <a:ext cx="1965960" cy="1920240"/>
          </a:xfrm>
          <a:prstGeom prst="roundRect">
            <a:avLst>
              <a:gd name="adj" fmla="val 3810"/>
            </a:avLst>
          </a:prstGeom>
          <a:solidFill>
            <a:srgbClr val="F8F9FA"/>
          </a:solidFill>
          <a:ln w="12700">
            <a:solidFill>
              <a:srgbClr val="E2E8F0"/>
            </a:solidFill>
            <a:prstDash val="solid"/>
          </a:ln>
        </p:spPr>
      </p:sp>
      <p:sp>
        <p:nvSpPr>
          <p:cNvPr id="20" name="Shape 18"/>
          <p:cNvSpPr/>
          <p:nvPr/>
        </p:nvSpPr>
        <p:spPr>
          <a:xfrm>
            <a:off x="6903720" y="2971800"/>
            <a:ext cx="822960" cy="228600"/>
          </a:xfrm>
          <a:prstGeom prst="roundRect">
            <a:avLst>
              <a:gd name="adj" fmla="val 16000"/>
            </a:avLst>
          </a:prstGeom>
          <a:solidFill>
            <a:srgbClr val="059669"/>
          </a:solidFill>
          <a:ln/>
        </p:spPr>
      </p:sp>
      <p:sp>
        <p:nvSpPr>
          <p:cNvPr id="21" name="Text 19"/>
          <p:cNvSpPr/>
          <p:nvPr/>
        </p:nvSpPr>
        <p:spPr>
          <a:xfrm>
            <a:off x="6903720" y="2971800"/>
            <a:ext cx="822960" cy="228600"/>
          </a:xfrm>
          <a:prstGeom prst="rect">
            <a:avLst/>
          </a:prstGeom>
          <a:noFill/>
          <a:ln/>
        </p:spPr>
        <p:txBody>
          <a:bodyPr wrap="square" rtlCol="0" anchor="ctr"/>
          <a:lstStyle/>
          <a:p>
            <a:pPr algn="ctr" indent="0" marL="0">
              <a:buNone/>
            </a:pPr>
            <a:r>
              <a:rPr lang="en-US" sz="900" b="1" dirty="0">
                <a:solidFill>
                  <a:srgbClr val="FFFFFF"/>
                </a:solidFill>
                <a:latin typeface="Plus Jakarta Sans, Arial" pitchFamily="34" charset="0"/>
                <a:ea typeface="Plus Jakarta Sans, Arial" pitchFamily="34" charset="-122"/>
                <a:cs typeface="Plus Jakarta Sans, Arial" pitchFamily="34" charset="-120"/>
              </a:rPr>
              <a:t>OUTPUT</a:t>
            </a:r>
            <a:endParaRPr lang="en-US" sz="900" dirty="0"/>
          </a:p>
        </p:txBody>
      </p:sp>
      <p:sp>
        <p:nvSpPr>
          <p:cNvPr id="22" name="Text 20"/>
          <p:cNvSpPr/>
          <p:nvPr/>
        </p:nvSpPr>
        <p:spPr>
          <a:xfrm>
            <a:off x="6903720" y="3291840"/>
            <a:ext cx="1691640" cy="13716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Shortlist kỹ thuật ứng viên cần research trước khi vào Step 3 Model Analysis.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2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Research → Selection → Benchmark Pipeline</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Trình bày luồng làm việc của phần Research trong tổng thể Pipeline</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2606040" cy="1554480"/>
          </a:xfrm>
          <a:prstGeom prst="roundRect">
            <a:avLst>
              <a:gd name="adj" fmla="val 4706"/>
            </a:avLst>
          </a:prstGeom>
          <a:solidFill>
            <a:srgbClr val="F8F9FA"/>
          </a:solidFill>
          <a:ln w="12700">
            <a:solidFill>
              <a:srgbClr val="CBD5E1"/>
            </a:solidFill>
            <a:prstDash val="solid"/>
          </a:ln>
        </p:spPr>
      </p:sp>
      <p:sp>
        <p:nvSpPr>
          <p:cNvPr id="8" name="Shape 6"/>
          <p:cNvSpPr/>
          <p:nvPr/>
        </p:nvSpPr>
        <p:spPr>
          <a:xfrm>
            <a:off x="594360" y="1554480"/>
            <a:ext cx="457200" cy="274320"/>
          </a:xfrm>
          <a:prstGeom prst="roundRect">
            <a:avLst>
              <a:gd name="adj" fmla="val 13333"/>
            </a:avLst>
          </a:prstGeom>
          <a:solidFill>
            <a:srgbClr val="2563EB"/>
          </a:solidFill>
          <a:ln/>
        </p:spPr>
      </p:sp>
      <p:sp>
        <p:nvSpPr>
          <p:cNvPr id="9" name="Text 7"/>
          <p:cNvSpPr/>
          <p:nvPr/>
        </p:nvSpPr>
        <p:spPr>
          <a:xfrm>
            <a:off x="594360" y="1554480"/>
            <a:ext cx="457200" cy="27432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01</a:t>
            </a:r>
            <a:endParaRPr lang="en-US" sz="1200" dirty="0"/>
          </a:p>
        </p:txBody>
      </p:sp>
      <p:sp>
        <p:nvSpPr>
          <p:cNvPr id="10" name="Text 8"/>
          <p:cNvSpPr/>
          <p:nvPr/>
        </p:nvSpPr>
        <p:spPr>
          <a:xfrm>
            <a:off x="1143000" y="1554480"/>
            <a:ext cx="178308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Literature Pool</a:t>
            </a:r>
            <a:endParaRPr lang="en-US" sz="1300" dirty="0"/>
          </a:p>
        </p:txBody>
      </p:sp>
      <p:sp>
        <p:nvSpPr>
          <p:cNvPr id="11" name="Text 9"/>
          <p:cNvSpPr/>
          <p:nvPr/>
        </p:nvSpPr>
        <p:spPr>
          <a:xfrm>
            <a:off x="594360" y="1920240"/>
            <a:ext cx="2331720" cy="960120"/>
          </a:xfrm>
          <a:prstGeom prst="rect">
            <a:avLst/>
          </a:prstGeom>
          <a:noFill/>
          <a:ln/>
        </p:spPr>
        <p:txBody>
          <a:bodyPr wrap="square" rtlCol="0" anchor="t"/>
          <a:lstStyle/>
          <a:p>
            <a:pPr indent="0" marL="0">
              <a:lnSpc>
                <a:spcPts val="1500"/>
              </a:lnSpc>
              <a:buNone/>
            </a:pPr>
            <a:r>
              <a:rPr lang="en-US" sz="1100" dirty="0">
                <a:solidFill>
                  <a:srgbClr val="64748B"/>
                </a:solidFill>
                <a:latin typeface="Source Sans 3, Arial" pitchFamily="34" charset="0"/>
                <a:ea typeface="Source Sans 3, Arial" pitchFamily="34" charset="-122"/>
                <a:cs typeface="Source Sans 3, Arial" pitchFamily="34" charset="-120"/>
              </a:rPr>
              <a:t>Thu thập candidate techniques từ các bài báo R&amp;D mới nhất.</a:t>
            </a:r>
            <a:endParaRPr lang="en-US" sz="1100" dirty="0"/>
          </a:p>
        </p:txBody>
      </p:sp>
      <p:sp>
        <p:nvSpPr>
          <p:cNvPr id="12" name="Shape 10"/>
          <p:cNvSpPr/>
          <p:nvPr/>
        </p:nvSpPr>
        <p:spPr>
          <a:xfrm>
            <a:off x="3246120" y="1417320"/>
            <a:ext cx="2606040" cy="1554480"/>
          </a:xfrm>
          <a:prstGeom prst="roundRect">
            <a:avLst>
              <a:gd name="adj" fmla="val 4706"/>
            </a:avLst>
          </a:prstGeom>
          <a:solidFill>
            <a:srgbClr val="F8F9FA"/>
          </a:solidFill>
          <a:ln w="12700">
            <a:solidFill>
              <a:srgbClr val="CBD5E1"/>
            </a:solidFill>
            <a:prstDash val="solid"/>
          </a:ln>
        </p:spPr>
      </p:sp>
      <p:sp>
        <p:nvSpPr>
          <p:cNvPr id="13" name="Shape 11"/>
          <p:cNvSpPr/>
          <p:nvPr/>
        </p:nvSpPr>
        <p:spPr>
          <a:xfrm>
            <a:off x="3383280" y="1554480"/>
            <a:ext cx="457200" cy="274320"/>
          </a:xfrm>
          <a:prstGeom prst="roundRect">
            <a:avLst>
              <a:gd name="adj" fmla="val 13333"/>
            </a:avLst>
          </a:prstGeom>
          <a:solidFill>
            <a:srgbClr val="2563EB"/>
          </a:solidFill>
          <a:ln/>
        </p:spPr>
      </p:sp>
      <p:sp>
        <p:nvSpPr>
          <p:cNvPr id="14" name="Text 12"/>
          <p:cNvSpPr/>
          <p:nvPr/>
        </p:nvSpPr>
        <p:spPr>
          <a:xfrm>
            <a:off x="3383280" y="1554480"/>
            <a:ext cx="457200" cy="27432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02</a:t>
            </a:r>
            <a:endParaRPr lang="en-US" sz="1200" dirty="0"/>
          </a:p>
        </p:txBody>
      </p:sp>
      <p:sp>
        <p:nvSpPr>
          <p:cNvPr id="15" name="Text 13"/>
          <p:cNvSpPr/>
          <p:nvPr/>
        </p:nvSpPr>
        <p:spPr>
          <a:xfrm>
            <a:off x="3931920" y="1554480"/>
            <a:ext cx="178308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Taxonomy Classification</a:t>
            </a:r>
            <a:endParaRPr lang="en-US" sz="1300" dirty="0"/>
          </a:p>
        </p:txBody>
      </p:sp>
      <p:sp>
        <p:nvSpPr>
          <p:cNvPr id="16" name="Text 14"/>
          <p:cNvSpPr/>
          <p:nvPr/>
        </p:nvSpPr>
        <p:spPr>
          <a:xfrm>
            <a:off x="3383280" y="1920240"/>
            <a:ext cx="2331720" cy="960120"/>
          </a:xfrm>
          <a:prstGeom prst="rect">
            <a:avLst/>
          </a:prstGeom>
          <a:noFill/>
          <a:ln/>
        </p:spPr>
        <p:txBody>
          <a:bodyPr wrap="square" rtlCol="0" anchor="t"/>
          <a:lstStyle/>
          <a:p>
            <a:pPr indent="0" marL="0">
              <a:lnSpc>
                <a:spcPts val="1500"/>
              </a:lnSpc>
              <a:buNone/>
            </a:pPr>
            <a:r>
              <a:rPr lang="en-US" sz="1100" dirty="0">
                <a:solidFill>
                  <a:srgbClr val="64748B"/>
                </a:solidFill>
                <a:latin typeface="Source Sans 3, Arial" pitchFamily="34" charset="0"/>
                <a:ea typeface="Source Sans 3, Arial" pitchFamily="34" charset="-122"/>
                <a:cs typeface="Source Sans 3, Arial" pitchFamily="34" charset="-120"/>
              </a:rPr>
              <a:t>Phân loại theo Granularity, Importance Criterion, Strategy.</a:t>
            </a:r>
            <a:endParaRPr lang="en-US" sz="1100" dirty="0"/>
          </a:p>
        </p:txBody>
      </p:sp>
      <p:sp>
        <p:nvSpPr>
          <p:cNvPr id="17" name="Shape 15"/>
          <p:cNvSpPr/>
          <p:nvPr/>
        </p:nvSpPr>
        <p:spPr>
          <a:xfrm>
            <a:off x="6035040" y="1417320"/>
            <a:ext cx="2606040" cy="1554480"/>
          </a:xfrm>
          <a:prstGeom prst="roundRect">
            <a:avLst>
              <a:gd name="adj" fmla="val 4706"/>
            </a:avLst>
          </a:prstGeom>
          <a:solidFill>
            <a:srgbClr val="F8F9FA"/>
          </a:solidFill>
          <a:ln w="12700">
            <a:solidFill>
              <a:srgbClr val="CBD5E1"/>
            </a:solidFill>
            <a:prstDash val="solid"/>
          </a:ln>
        </p:spPr>
      </p:sp>
      <p:sp>
        <p:nvSpPr>
          <p:cNvPr id="18" name="Shape 16"/>
          <p:cNvSpPr/>
          <p:nvPr/>
        </p:nvSpPr>
        <p:spPr>
          <a:xfrm>
            <a:off x="6172200" y="1554480"/>
            <a:ext cx="457200" cy="274320"/>
          </a:xfrm>
          <a:prstGeom prst="roundRect">
            <a:avLst>
              <a:gd name="adj" fmla="val 13333"/>
            </a:avLst>
          </a:prstGeom>
          <a:solidFill>
            <a:srgbClr val="2563EB"/>
          </a:solidFill>
          <a:ln/>
        </p:spPr>
      </p:sp>
      <p:sp>
        <p:nvSpPr>
          <p:cNvPr id="19" name="Text 17"/>
          <p:cNvSpPr/>
          <p:nvPr/>
        </p:nvSpPr>
        <p:spPr>
          <a:xfrm>
            <a:off x="6172200" y="1554480"/>
            <a:ext cx="457200" cy="27432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03</a:t>
            </a:r>
            <a:endParaRPr lang="en-US" sz="1200" dirty="0"/>
          </a:p>
        </p:txBody>
      </p:sp>
      <p:sp>
        <p:nvSpPr>
          <p:cNvPr id="20" name="Text 18"/>
          <p:cNvSpPr/>
          <p:nvPr/>
        </p:nvSpPr>
        <p:spPr>
          <a:xfrm>
            <a:off x="6720840" y="1554480"/>
            <a:ext cx="178308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Architecture Constraint</a:t>
            </a:r>
            <a:endParaRPr lang="en-US" sz="1300" dirty="0"/>
          </a:p>
        </p:txBody>
      </p:sp>
      <p:sp>
        <p:nvSpPr>
          <p:cNvPr id="21" name="Text 19"/>
          <p:cNvSpPr/>
          <p:nvPr/>
        </p:nvSpPr>
        <p:spPr>
          <a:xfrm>
            <a:off x="6172200" y="1920240"/>
            <a:ext cx="2331720" cy="960120"/>
          </a:xfrm>
          <a:prstGeom prst="rect">
            <a:avLst/>
          </a:prstGeom>
          <a:noFill/>
          <a:ln/>
        </p:spPr>
        <p:txBody>
          <a:bodyPr wrap="square" rtlCol="0" anchor="t"/>
          <a:lstStyle/>
          <a:p>
            <a:pPr indent="0" marL="0">
              <a:lnSpc>
                <a:spcPts val="1500"/>
              </a:lnSpc>
              <a:buNone/>
            </a:pPr>
            <a:r>
              <a:rPr lang="en-US" sz="1100" dirty="0">
                <a:solidFill>
                  <a:srgbClr val="64748B"/>
                </a:solidFill>
                <a:latin typeface="Source Sans 3, Arial" pitchFamily="34" charset="0"/>
                <a:ea typeface="Source Sans 3, Arial" pitchFamily="34" charset="-122"/>
                <a:cs typeface="Source Sans 3, Arial" pitchFamily="34" charset="-120"/>
              </a:rPr>
              <a:t>Ánh xạ vào ràng buộc kiến trúc YOLO (CNN) &amp; DETR (Transformer).</a:t>
            </a:r>
            <a:endParaRPr lang="en-US" sz="1100" dirty="0"/>
          </a:p>
        </p:txBody>
      </p:sp>
      <p:sp>
        <p:nvSpPr>
          <p:cNvPr id="22" name="Shape 20"/>
          <p:cNvSpPr/>
          <p:nvPr/>
        </p:nvSpPr>
        <p:spPr>
          <a:xfrm>
            <a:off x="457200" y="3154680"/>
            <a:ext cx="2606040" cy="1554480"/>
          </a:xfrm>
          <a:prstGeom prst="roundRect">
            <a:avLst>
              <a:gd name="adj" fmla="val 4706"/>
            </a:avLst>
          </a:prstGeom>
          <a:solidFill>
            <a:srgbClr val="F8F9FA"/>
          </a:solidFill>
          <a:ln w="12700">
            <a:solidFill>
              <a:srgbClr val="CBD5E1"/>
            </a:solidFill>
            <a:prstDash val="solid"/>
          </a:ln>
        </p:spPr>
      </p:sp>
      <p:sp>
        <p:nvSpPr>
          <p:cNvPr id="23" name="Shape 21"/>
          <p:cNvSpPr/>
          <p:nvPr/>
        </p:nvSpPr>
        <p:spPr>
          <a:xfrm>
            <a:off x="594360" y="3291840"/>
            <a:ext cx="457200" cy="274320"/>
          </a:xfrm>
          <a:prstGeom prst="roundRect">
            <a:avLst>
              <a:gd name="adj" fmla="val 13333"/>
            </a:avLst>
          </a:prstGeom>
          <a:solidFill>
            <a:srgbClr val="2563EB"/>
          </a:solidFill>
          <a:ln/>
        </p:spPr>
      </p:sp>
      <p:sp>
        <p:nvSpPr>
          <p:cNvPr id="24" name="Text 22"/>
          <p:cNvSpPr/>
          <p:nvPr/>
        </p:nvSpPr>
        <p:spPr>
          <a:xfrm>
            <a:off x="594360" y="3291840"/>
            <a:ext cx="457200" cy="27432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04</a:t>
            </a:r>
            <a:endParaRPr lang="en-US" sz="1200" dirty="0"/>
          </a:p>
        </p:txBody>
      </p:sp>
      <p:sp>
        <p:nvSpPr>
          <p:cNvPr id="25" name="Text 23"/>
          <p:cNvSpPr/>
          <p:nvPr/>
        </p:nvSpPr>
        <p:spPr>
          <a:xfrm>
            <a:off x="1143000" y="3291840"/>
            <a:ext cx="178308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Technique Matrix Scoring</a:t>
            </a:r>
            <a:endParaRPr lang="en-US" sz="1300" dirty="0"/>
          </a:p>
        </p:txBody>
      </p:sp>
      <p:sp>
        <p:nvSpPr>
          <p:cNvPr id="26" name="Text 24"/>
          <p:cNvSpPr/>
          <p:nvPr/>
        </p:nvSpPr>
        <p:spPr>
          <a:xfrm>
            <a:off x="594360" y="3657600"/>
            <a:ext cx="2331720" cy="960120"/>
          </a:xfrm>
          <a:prstGeom prst="rect">
            <a:avLst/>
          </a:prstGeom>
          <a:noFill/>
          <a:ln/>
        </p:spPr>
        <p:txBody>
          <a:bodyPr wrap="square" rtlCol="0" anchor="t"/>
          <a:lstStyle/>
          <a:p>
            <a:pPr indent="0" marL="0">
              <a:lnSpc>
                <a:spcPts val="1500"/>
              </a:lnSpc>
              <a:buNone/>
            </a:pPr>
            <a:r>
              <a:rPr lang="en-US" sz="1100" dirty="0">
                <a:solidFill>
                  <a:srgbClr val="64748B"/>
                </a:solidFill>
                <a:latin typeface="Source Sans 3, Arial" pitchFamily="34" charset="0"/>
                <a:ea typeface="Source Sans 3, Arial" pitchFamily="34" charset="-122"/>
                <a:cs typeface="Source Sans 3, Arial" pitchFamily="34" charset="-120"/>
              </a:rPr>
              <a:t>Đánh giá, chấm điểm ma trận và chọn Shortlist theo từng model.</a:t>
            </a:r>
            <a:endParaRPr lang="en-US" sz="1100" dirty="0"/>
          </a:p>
        </p:txBody>
      </p:sp>
      <p:sp>
        <p:nvSpPr>
          <p:cNvPr id="27" name="Shape 25"/>
          <p:cNvSpPr/>
          <p:nvPr/>
        </p:nvSpPr>
        <p:spPr>
          <a:xfrm>
            <a:off x="3246120" y="3154680"/>
            <a:ext cx="2606040" cy="1554480"/>
          </a:xfrm>
          <a:prstGeom prst="roundRect">
            <a:avLst>
              <a:gd name="adj" fmla="val 4706"/>
            </a:avLst>
          </a:prstGeom>
          <a:solidFill>
            <a:srgbClr val="F8F9FA"/>
          </a:solidFill>
          <a:ln w="12700">
            <a:solidFill>
              <a:srgbClr val="CBD5E1"/>
            </a:solidFill>
            <a:prstDash val="solid"/>
          </a:ln>
        </p:spPr>
      </p:sp>
      <p:sp>
        <p:nvSpPr>
          <p:cNvPr id="28" name="Shape 26"/>
          <p:cNvSpPr/>
          <p:nvPr/>
        </p:nvSpPr>
        <p:spPr>
          <a:xfrm>
            <a:off x="3383280" y="3291840"/>
            <a:ext cx="457200" cy="274320"/>
          </a:xfrm>
          <a:prstGeom prst="roundRect">
            <a:avLst>
              <a:gd name="adj" fmla="val 13333"/>
            </a:avLst>
          </a:prstGeom>
          <a:solidFill>
            <a:srgbClr val="2563EB"/>
          </a:solidFill>
          <a:ln/>
        </p:spPr>
      </p:sp>
      <p:sp>
        <p:nvSpPr>
          <p:cNvPr id="29" name="Text 27"/>
          <p:cNvSpPr/>
          <p:nvPr/>
        </p:nvSpPr>
        <p:spPr>
          <a:xfrm>
            <a:off x="3383280" y="3291840"/>
            <a:ext cx="457200" cy="27432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05</a:t>
            </a:r>
            <a:endParaRPr lang="en-US" sz="1200" dirty="0"/>
          </a:p>
        </p:txBody>
      </p:sp>
      <p:sp>
        <p:nvSpPr>
          <p:cNvPr id="30" name="Text 28"/>
          <p:cNvSpPr/>
          <p:nvPr/>
        </p:nvSpPr>
        <p:spPr>
          <a:xfrm>
            <a:off x="3931920" y="3291840"/>
            <a:ext cx="178308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Sensitivity Probe</a:t>
            </a:r>
            <a:endParaRPr lang="en-US" sz="1300" dirty="0"/>
          </a:p>
        </p:txBody>
      </p:sp>
      <p:sp>
        <p:nvSpPr>
          <p:cNvPr id="31" name="Text 29"/>
          <p:cNvSpPr/>
          <p:nvPr/>
        </p:nvSpPr>
        <p:spPr>
          <a:xfrm>
            <a:off x="3383280" y="3657600"/>
            <a:ext cx="2331720" cy="960120"/>
          </a:xfrm>
          <a:prstGeom prst="rect">
            <a:avLst/>
          </a:prstGeom>
          <a:noFill/>
          <a:ln/>
        </p:spPr>
        <p:txBody>
          <a:bodyPr wrap="square" rtlCol="0" anchor="t"/>
          <a:lstStyle/>
          <a:p>
            <a:pPr indent="0" marL="0">
              <a:lnSpc>
                <a:spcPts val="1500"/>
              </a:lnSpc>
              <a:buNone/>
            </a:pPr>
            <a:r>
              <a:rPr lang="en-US" sz="1100" dirty="0">
                <a:solidFill>
                  <a:srgbClr val="64748B"/>
                </a:solidFill>
                <a:latin typeface="Source Sans 3, Arial" pitchFamily="34" charset="0"/>
                <a:ea typeface="Source Sans 3, Arial" pitchFamily="34" charset="-122"/>
                <a:cs typeface="Source Sans 3, Arial" pitchFamily="34" charset="-120"/>
              </a:rPr>
              <a:t>Thử nghiệm cắt tỉa nhạy cảm (10-30%) dựng đường cong nhạy cảm.</a:t>
            </a:r>
            <a:endParaRPr lang="en-US" sz="1100" dirty="0"/>
          </a:p>
        </p:txBody>
      </p:sp>
      <p:sp>
        <p:nvSpPr>
          <p:cNvPr id="32" name="Shape 30"/>
          <p:cNvSpPr/>
          <p:nvPr/>
        </p:nvSpPr>
        <p:spPr>
          <a:xfrm>
            <a:off x="6035040" y="3154680"/>
            <a:ext cx="2606040" cy="1554480"/>
          </a:xfrm>
          <a:prstGeom prst="roundRect">
            <a:avLst>
              <a:gd name="adj" fmla="val 4706"/>
            </a:avLst>
          </a:prstGeom>
          <a:solidFill>
            <a:srgbClr val="F8F9FA"/>
          </a:solidFill>
          <a:ln w="12700">
            <a:solidFill>
              <a:srgbClr val="CBD5E1"/>
            </a:solidFill>
            <a:prstDash val="solid"/>
          </a:ln>
        </p:spPr>
      </p:sp>
      <p:sp>
        <p:nvSpPr>
          <p:cNvPr id="33" name="Shape 31"/>
          <p:cNvSpPr/>
          <p:nvPr/>
        </p:nvSpPr>
        <p:spPr>
          <a:xfrm>
            <a:off x="6172200" y="3291840"/>
            <a:ext cx="457200" cy="274320"/>
          </a:xfrm>
          <a:prstGeom prst="roundRect">
            <a:avLst>
              <a:gd name="adj" fmla="val 13333"/>
            </a:avLst>
          </a:prstGeom>
          <a:solidFill>
            <a:srgbClr val="2563EB"/>
          </a:solidFill>
          <a:ln/>
        </p:spPr>
      </p:sp>
      <p:sp>
        <p:nvSpPr>
          <p:cNvPr id="34" name="Text 32"/>
          <p:cNvSpPr/>
          <p:nvPr/>
        </p:nvSpPr>
        <p:spPr>
          <a:xfrm>
            <a:off x="6172200" y="3291840"/>
            <a:ext cx="457200" cy="27432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06</a:t>
            </a:r>
            <a:endParaRPr lang="en-US" sz="1200" dirty="0"/>
          </a:p>
        </p:txBody>
      </p:sp>
      <p:sp>
        <p:nvSpPr>
          <p:cNvPr id="35" name="Text 33"/>
          <p:cNvSpPr/>
          <p:nvPr/>
        </p:nvSpPr>
        <p:spPr>
          <a:xfrm>
            <a:off x="6720840" y="3291840"/>
            <a:ext cx="178308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Final Pruning Policy</a:t>
            </a:r>
            <a:endParaRPr lang="en-US" sz="1300" dirty="0"/>
          </a:p>
        </p:txBody>
      </p:sp>
      <p:sp>
        <p:nvSpPr>
          <p:cNvPr id="36" name="Text 34"/>
          <p:cNvSpPr/>
          <p:nvPr/>
        </p:nvSpPr>
        <p:spPr>
          <a:xfrm>
            <a:off x="6172200" y="3657600"/>
            <a:ext cx="2331720" cy="960120"/>
          </a:xfrm>
          <a:prstGeom prst="rect">
            <a:avLst/>
          </a:prstGeom>
          <a:noFill/>
          <a:ln/>
        </p:spPr>
        <p:txBody>
          <a:bodyPr wrap="square" rtlCol="0" anchor="t"/>
          <a:lstStyle/>
          <a:p>
            <a:pPr indent="0" marL="0">
              <a:lnSpc>
                <a:spcPts val="1500"/>
              </a:lnSpc>
              <a:buNone/>
            </a:pPr>
            <a:r>
              <a:rPr lang="en-US" sz="1100" dirty="0">
                <a:solidFill>
                  <a:srgbClr val="64748B"/>
                </a:solidFill>
                <a:latin typeface="Source Sans 3, Arial" pitchFamily="34" charset="0"/>
                <a:ea typeface="Source Sans 3, Arial" pitchFamily="34" charset="-122"/>
                <a:cs typeface="Source Sans 3, Arial" pitchFamily="34" charset="-120"/>
              </a:rPr>
              <a:t>Chốt Policy chính thức &amp; chuyển giao sang Step 5 Model Pruning.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3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Taxonomy A — Granularity</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Phân loại "Prune cái gì" — Input cho Dependency Analysis (Step 3A)</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371600"/>
                <a:gridCol w="1828800"/>
                <a:gridCol w="3017520"/>
                <a:gridCol w="1005840"/>
                <a:gridCol w="1005840"/>
              </a:tblGrid>
              <a:tr h="0">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Granularity</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Sub-type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Áp dụng tốt cho (Target Scope)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YOLO Fit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DETR Fit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Unstructured</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Weight-level</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Research baseline, không deploy tốt trên edge hardware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Thấp</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Thấp</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Semi-structured</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N:M (2:4, 4:8), Block-sparse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GPU Ampere+ (TensorRT sparsity acceleration)</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Thấp</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Cao (FFN/Linear)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Structured</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Channel / Filter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YOLO backbone-neck &amp; DETR CNN backbone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Rất cao</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Cao (Backbone)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Structured</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Kernel / Layer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YOLO deep layers (cắt giảm độ sâu)</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Trung bình</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Thấp</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Structured</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Attention Head / FFN / Query</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DETR-only (Component đặc thù Transformer)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N/A</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Rất cao</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4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Taxonomy B — Criterion</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Phân loại "Đo importance thế nào" — Input cho Importance Analysis (Step 3B)</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554480"/>
                <a:gridCol w="1097280"/>
                <a:gridCol w="914400"/>
                <a:gridCol w="3383280"/>
                <a:gridCol w="1280160"/>
              </a:tblGrid>
              <a:tr h="0">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Criterion</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Loại Class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Compute Cost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Ghi chú &amp; Đánh giá Đặc tính</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Khả dụng</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Magnitude (L1/L2)</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Zero-order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Rất thấp</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Baseline nhanh, ít chính xác cho CNN sâu</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YOLO / DETR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Taylor / Gradient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First-order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Trung bình</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Tốt cho channel pruning YOLO &amp; backbone DETR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Đề xuất cao</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BN-Gamma (Slimming)</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Structural proxy</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Thấp</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Chỉ áp dụng nơi có BatchNorm (YOLO)</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YOLO only</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Fisher / Hessian</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Second-order</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Cao</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Chính xác cao, chi phí tính toán lớn</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Selective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SNIP / GraSP / SynFlow</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Prune-at-init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Thấp–TB</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Phù hợp khi cần prune trước training</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Research</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Movement Pruning</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Fine-tune-aware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Trung bình</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Tốt cho Transformer (DETR attention/FFN)</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DETR focus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Lottery Ticket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Iterative re-train</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Rất cao</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Nghiên cứu, không phù hợp production timeline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 Unfit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5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Taxonomy C — Strategy / Target Scope</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Xác định "Prune ở đâu, Prune như thế nào" (Global/Local, One-shot/Iterative)</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2606040" cy="3429000"/>
          </a:xfrm>
          <a:prstGeom prst="roundRect">
            <a:avLst>
              <a:gd name="adj" fmla="val 2807"/>
            </a:avLst>
          </a:prstGeom>
          <a:solidFill>
            <a:srgbClr val="F8F9FA"/>
          </a:solidFill>
          <a:ln w="12700">
            <a:solidFill>
              <a:srgbClr val="E2E8F0"/>
            </a:solidFill>
            <a:prstDash val="solid"/>
          </a:ln>
        </p:spPr>
      </p:sp>
      <p:sp>
        <p:nvSpPr>
          <p:cNvPr id="8" name="Shape 6"/>
          <p:cNvSpPr/>
          <p:nvPr/>
        </p:nvSpPr>
        <p:spPr>
          <a:xfrm>
            <a:off x="594360" y="1554480"/>
            <a:ext cx="2331720" cy="457200"/>
          </a:xfrm>
          <a:prstGeom prst="roundRect">
            <a:avLst>
              <a:gd name="adj" fmla="val 10000"/>
            </a:avLst>
          </a:prstGeom>
          <a:solidFill>
            <a:srgbClr val="2563EB"/>
          </a:solidFill>
          <a:ln/>
        </p:spPr>
      </p:sp>
      <p:sp>
        <p:nvSpPr>
          <p:cNvPr id="9" name="Text 7"/>
          <p:cNvSpPr/>
          <p:nvPr/>
        </p:nvSpPr>
        <p:spPr>
          <a:xfrm>
            <a:off x="640080" y="1572768"/>
            <a:ext cx="2240280" cy="22860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SCOPE (PHẠM VI)</a:t>
            </a:r>
            <a:endParaRPr lang="en-US" sz="1200" dirty="0"/>
          </a:p>
        </p:txBody>
      </p:sp>
      <p:sp>
        <p:nvSpPr>
          <p:cNvPr id="10" name="Text 8"/>
          <p:cNvSpPr/>
          <p:nvPr/>
        </p:nvSpPr>
        <p:spPr>
          <a:xfrm>
            <a:off x="640080" y="1764792"/>
            <a:ext cx="2240280" cy="182880"/>
          </a:xfrm>
          <a:prstGeom prst="rect">
            <a:avLst/>
          </a:prstGeom>
          <a:noFill/>
          <a:ln/>
        </p:spPr>
        <p:txBody>
          <a:bodyPr wrap="square" rtlCol="0" anchor="ctr"/>
          <a:lstStyle/>
          <a:p>
            <a:pPr algn="ctr" indent="0" marL="0">
              <a:buNone/>
            </a:pPr>
            <a:r>
              <a:rPr lang="en-US" sz="900" dirty="0">
                <a:solidFill>
                  <a:srgbClr val="FFFFFF"/>
                </a:solidFill>
                <a:latin typeface="Source Sans 3, Arial" pitchFamily="34" charset="0"/>
                <a:ea typeface="Source Sans 3, Arial" pitchFamily="34" charset="-122"/>
                <a:cs typeface="Source Sans 3, Arial" pitchFamily="34" charset="-120"/>
              </a:rPr>
              <a:t>WHERE TO PRUNE</a:t>
            </a:r>
            <a:endParaRPr lang="en-US" sz="900" dirty="0"/>
          </a:p>
        </p:txBody>
      </p:sp>
      <p:sp>
        <p:nvSpPr>
          <p:cNvPr id="11" name="Text 9"/>
          <p:cNvSpPr/>
          <p:nvPr/>
        </p:nvSpPr>
        <p:spPr>
          <a:xfrm>
            <a:off x="594360" y="2148840"/>
            <a:ext cx="2331720" cy="2560320"/>
          </a:xfrm>
          <a:prstGeom prst="rect">
            <a:avLst/>
          </a:prstGeom>
          <a:noFill/>
          <a:ln/>
        </p:spPr>
        <p:txBody>
          <a:bodyPr wrap="square" rtlCol="0" anchor="t"/>
          <a:lstStyle/>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Global Pruning: So sánh điểm tầm quan trọng (importance score) trên toàn bộ mô hình để cắt tỉa tự động.</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Layer-wise / Local: Quy định tỷ lệ cắt tỉa riêng biệt cho từng khối/lớp (Backbone vs Neck vs Head).</a:t>
            </a:r>
            <a:endParaRPr lang="en-US" sz="1100" dirty="0"/>
          </a:p>
        </p:txBody>
      </p:sp>
      <p:sp>
        <p:nvSpPr>
          <p:cNvPr id="12" name="Shape 10"/>
          <p:cNvSpPr/>
          <p:nvPr/>
        </p:nvSpPr>
        <p:spPr>
          <a:xfrm>
            <a:off x="3246120" y="1417320"/>
            <a:ext cx="2606040" cy="3429000"/>
          </a:xfrm>
          <a:prstGeom prst="roundRect">
            <a:avLst>
              <a:gd name="adj" fmla="val 2807"/>
            </a:avLst>
          </a:prstGeom>
          <a:solidFill>
            <a:srgbClr val="F8F9FA"/>
          </a:solidFill>
          <a:ln w="12700">
            <a:solidFill>
              <a:srgbClr val="E2E8F0"/>
            </a:solidFill>
            <a:prstDash val="solid"/>
          </a:ln>
        </p:spPr>
      </p:sp>
      <p:sp>
        <p:nvSpPr>
          <p:cNvPr id="13" name="Shape 11"/>
          <p:cNvSpPr/>
          <p:nvPr/>
        </p:nvSpPr>
        <p:spPr>
          <a:xfrm>
            <a:off x="3383280" y="1554480"/>
            <a:ext cx="2331720" cy="457200"/>
          </a:xfrm>
          <a:prstGeom prst="roundRect">
            <a:avLst>
              <a:gd name="adj" fmla="val 10000"/>
            </a:avLst>
          </a:prstGeom>
          <a:solidFill>
            <a:srgbClr val="7C3AED"/>
          </a:solidFill>
          <a:ln/>
        </p:spPr>
      </p:sp>
      <p:sp>
        <p:nvSpPr>
          <p:cNvPr id="14" name="Text 12"/>
          <p:cNvSpPr/>
          <p:nvPr/>
        </p:nvSpPr>
        <p:spPr>
          <a:xfrm>
            <a:off x="3429000" y="1572768"/>
            <a:ext cx="2240280" cy="22860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SCHEDULE (LỊCH TRÌNH)</a:t>
            </a:r>
            <a:endParaRPr lang="en-US" sz="1200" dirty="0"/>
          </a:p>
        </p:txBody>
      </p:sp>
      <p:sp>
        <p:nvSpPr>
          <p:cNvPr id="15" name="Text 13"/>
          <p:cNvSpPr/>
          <p:nvPr/>
        </p:nvSpPr>
        <p:spPr>
          <a:xfrm>
            <a:off x="3429000" y="1764792"/>
            <a:ext cx="2240280" cy="182880"/>
          </a:xfrm>
          <a:prstGeom prst="rect">
            <a:avLst/>
          </a:prstGeom>
          <a:noFill/>
          <a:ln/>
        </p:spPr>
        <p:txBody>
          <a:bodyPr wrap="square" rtlCol="0" anchor="ctr"/>
          <a:lstStyle/>
          <a:p>
            <a:pPr algn="ctr" indent="0" marL="0">
              <a:buNone/>
            </a:pPr>
            <a:r>
              <a:rPr lang="en-US" sz="900" dirty="0">
                <a:solidFill>
                  <a:srgbClr val="FFFFFF"/>
                </a:solidFill>
                <a:latin typeface="Source Sans 3, Arial" pitchFamily="34" charset="0"/>
                <a:ea typeface="Source Sans 3, Arial" pitchFamily="34" charset="-122"/>
                <a:cs typeface="Source Sans 3, Arial" pitchFamily="34" charset="-120"/>
              </a:rPr>
              <a:t>HOW TO PRUNE</a:t>
            </a:r>
            <a:endParaRPr lang="en-US" sz="900" dirty="0"/>
          </a:p>
        </p:txBody>
      </p:sp>
      <p:sp>
        <p:nvSpPr>
          <p:cNvPr id="16" name="Text 14"/>
          <p:cNvSpPr/>
          <p:nvPr/>
        </p:nvSpPr>
        <p:spPr>
          <a:xfrm>
            <a:off x="3383280" y="2148840"/>
            <a:ext cx="2331720" cy="2560320"/>
          </a:xfrm>
          <a:prstGeom prst="rect">
            <a:avLst/>
          </a:prstGeom>
          <a:noFill/>
          <a:ln/>
        </p:spPr>
        <p:txBody>
          <a:bodyPr wrap="square" rtlCol="0" anchor="t"/>
          <a:lstStyle/>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One-shot Pruning: Cắt tỉa 1 lần duy nhất tới target ratio, sau đó thực hiện fine-tuning.</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Iterative Pruning: Cắt tỉa từng nấc nhỏ (progressive ratio 5-10% mỗi vòng) lặp lại cùng fine-tune loop.</a:t>
            </a:r>
            <a:endParaRPr lang="en-US" sz="1100" dirty="0"/>
          </a:p>
        </p:txBody>
      </p:sp>
      <p:sp>
        <p:nvSpPr>
          <p:cNvPr id="17" name="Shape 15"/>
          <p:cNvSpPr/>
          <p:nvPr/>
        </p:nvSpPr>
        <p:spPr>
          <a:xfrm>
            <a:off x="6035040" y="1417320"/>
            <a:ext cx="2606040" cy="3429000"/>
          </a:xfrm>
          <a:prstGeom prst="roundRect">
            <a:avLst>
              <a:gd name="adj" fmla="val 2807"/>
            </a:avLst>
          </a:prstGeom>
          <a:solidFill>
            <a:srgbClr val="F8F9FA"/>
          </a:solidFill>
          <a:ln w="12700">
            <a:solidFill>
              <a:srgbClr val="E2E8F0"/>
            </a:solidFill>
            <a:prstDash val="solid"/>
          </a:ln>
        </p:spPr>
      </p:sp>
      <p:sp>
        <p:nvSpPr>
          <p:cNvPr id="18" name="Shape 16"/>
          <p:cNvSpPr/>
          <p:nvPr/>
        </p:nvSpPr>
        <p:spPr>
          <a:xfrm>
            <a:off x="6172200" y="1554480"/>
            <a:ext cx="2331720" cy="457200"/>
          </a:xfrm>
          <a:prstGeom prst="roundRect">
            <a:avLst>
              <a:gd name="adj" fmla="val 10000"/>
            </a:avLst>
          </a:prstGeom>
          <a:solidFill>
            <a:srgbClr val="D97706"/>
          </a:solidFill>
          <a:ln/>
        </p:spPr>
      </p:sp>
      <p:sp>
        <p:nvSpPr>
          <p:cNvPr id="19" name="Text 17"/>
          <p:cNvSpPr/>
          <p:nvPr/>
        </p:nvSpPr>
        <p:spPr>
          <a:xfrm>
            <a:off x="6217920" y="1572768"/>
            <a:ext cx="2240280" cy="22860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EXCLUSION RULES</a:t>
            </a:r>
            <a:endParaRPr lang="en-US" sz="1200" dirty="0"/>
          </a:p>
        </p:txBody>
      </p:sp>
      <p:sp>
        <p:nvSpPr>
          <p:cNvPr id="20" name="Text 18"/>
          <p:cNvSpPr/>
          <p:nvPr/>
        </p:nvSpPr>
        <p:spPr>
          <a:xfrm>
            <a:off x="6217920" y="1764792"/>
            <a:ext cx="2240280" cy="182880"/>
          </a:xfrm>
          <a:prstGeom prst="rect">
            <a:avLst/>
          </a:prstGeom>
          <a:noFill/>
          <a:ln/>
        </p:spPr>
        <p:txBody>
          <a:bodyPr wrap="square" rtlCol="0" anchor="ctr"/>
          <a:lstStyle/>
          <a:p>
            <a:pPr algn="ctr" indent="0" marL="0">
              <a:buNone/>
            </a:pPr>
            <a:r>
              <a:rPr lang="en-US" sz="900" dirty="0">
                <a:solidFill>
                  <a:srgbClr val="FFFFFF"/>
                </a:solidFill>
                <a:latin typeface="Source Sans 3, Arial" pitchFamily="34" charset="0"/>
                <a:ea typeface="Source Sans 3, Arial" pitchFamily="34" charset="-122"/>
                <a:cs typeface="Source Sans 3, Arial" pitchFamily="34" charset="-120"/>
              </a:rPr>
              <a:t>WHAT TO PROTECT</a:t>
            </a:r>
            <a:endParaRPr lang="en-US" sz="900" dirty="0"/>
          </a:p>
        </p:txBody>
      </p:sp>
      <p:sp>
        <p:nvSpPr>
          <p:cNvPr id="21" name="Text 19"/>
          <p:cNvSpPr/>
          <p:nvPr/>
        </p:nvSpPr>
        <p:spPr>
          <a:xfrm>
            <a:off x="6172200" y="2148840"/>
            <a:ext cx="2331720" cy="2560320"/>
          </a:xfrm>
          <a:prstGeom prst="rect">
            <a:avLst/>
          </a:prstGeom>
          <a:noFill/>
          <a:ln/>
        </p:spPr>
        <p:txBody>
          <a:bodyPr wrap="square" rtlCol="0" anchor="t"/>
          <a:lstStyle/>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Bảo vệ Layer Nhạy cảm: Loại trừ hoàn toàn các lớp đầu vào (stem conv) và các lớp đầu ra khỏi pruning.</a:t>
            </a:r>
            <a:endParaRPr lang="en-US" sz="1100" dirty="0"/>
          </a:p>
          <a:p>
            <a:pPr indent="0" marL="0">
              <a:lnSpc>
                <a:spcPts val="1800"/>
              </a:lnSpc>
              <a:buNone/>
            </a:pP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Detection Head Protection: Khóa tỉ lệ prune (ratio 0%) cho anchor-free regression &amp; classification heads.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6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Research Technique Matrix (Core Slide)</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Tổng hợp Step 2 → Step 3: Đánh giá &amp; So sánh toàn bộ Candidate Techniques</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8229600" cy="914400"/>
        </p:xfrm>
        <a:graphic>
          <a:graphicData uri="http://schemas.openxmlformats.org/drawingml/2006/table">
            <a:tbl>
              <a:tblPr/>
              <a:tblGrid>
                <a:gridCol w="1554480"/>
                <a:gridCol w="1280160"/>
                <a:gridCol w="1005840"/>
                <a:gridCol w="822960"/>
                <a:gridCol w="822960"/>
                <a:gridCol w="914400"/>
                <a:gridCol w="1005840"/>
                <a:gridCol w="822960"/>
              </a:tblGrid>
              <a:tr h="0">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Technique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Granularity</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Criterion</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Strategy</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HW Gain</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YOLO Fit</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DETR Fit</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850" b="1" dirty="0">
                          <a:solidFill>
                            <a:srgbClr val="FFFFFF"/>
                          </a:solidFill>
                          <a:latin typeface="Source Sans 3, Arial" pitchFamily="34" charset="0"/>
                          <a:ea typeface="Source Sans 3, Arial" pitchFamily="34" charset="-122"/>
                          <a:cs typeface="Source Sans 3, Arial" pitchFamily="34" charset="-120"/>
                        </a:rPr>
                        <a:t>Complexity</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563EB"/>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L1/L2 Magnitude Channel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Structured (channel)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Magnitude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Global/Local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TB (backbone)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Thấp</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Network Slimming (BN-γ)</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Structured (channel)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BN scaling</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Global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(cần BN)</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Thấp</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Taylor Expansion Pruning</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Structured (channel/filter)</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First-order grad</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Iterative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Trung bình</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DepGraph-based Pruning</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Structured (cross-layer)</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Any (pluggable)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Global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Rất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SparseGPT / Wanda</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Semi-structured (N:M)</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Mag + Hessian</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One-shot</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 (cần HW)</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Thấp</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Cao (FFN)</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Movement Pruning</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Unstructured/Semi</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Fine-tune-aware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Iterative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Thấp–TB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N/A</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Cao (Attn/FFN)</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Attention Head Pruning</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Structured (head)</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Mag / Taylor</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Local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N/A</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Rất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Query Pruning (DETR)</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Structured (query)</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Importance/Entropy</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Local</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N/A</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Rất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SNIP / GraSP / SynFlow</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Unstructured</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Prune-at-init</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One-shot</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Thấp</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Nghiên cứu</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Nghiên cứu</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TB</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850" b="1" dirty="0">
                          <a:solidFill>
                            <a:srgbClr val="000000"/>
                          </a:solidFill>
                          <a:latin typeface="Source Sans 3, Arial" pitchFamily="34" charset="0"/>
                          <a:ea typeface="Source Sans 3, Arial" pitchFamily="34" charset="-122"/>
                          <a:cs typeface="Source Sans 3, Arial" pitchFamily="34" charset="-120"/>
                        </a:rPr>
                        <a:t>Lottery Ticket Hypothesis</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Unstructured</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Iterative mag+rewind</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Source Sans 3, Arial" pitchFamily="34" charset="0"/>
                          <a:ea typeface="Source Sans 3, Arial" pitchFamily="34" charset="-122"/>
                          <a:cs typeface="Source Sans 3, Arial" pitchFamily="34" charset="-120"/>
                        </a:rPr>
                        <a:t>Iterative</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Thấp</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Không thực tế</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 Không thực tế</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Source Sans 3, Arial" pitchFamily="34" charset="0"/>
                          <a:ea typeface="Source Sans 3, Arial" pitchFamily="34" charset="-122"/>
                          <a:cs typeface="Source Sans 3, Arial" pitchFamily="34" charset="-120"/>
                        </a:rPr>
                        <a:t>Rất cao</a:t>
                      </a:r>
                      <a:endParaRPr lang="en-US" sz="850" dirty="0">
                        <a:latin typeface="Source Sans 3, Arial" charset="0"/>
                        <a:ea typeface="Source Sans 3, Arial" charset="0"/>
                        <a:cs typeface="Source Sans 3, Arial"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7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YOLO Architecture Constraints</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Xác định ràng buộc kiến trúc YOLOv8/v10 ảnh hưởng đến lựa chọn Pruning (Step 3 Model Analysis)</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4023360" cy="1554480"/>
          </a:xfrm>
          <a:prstGeom prst="roundRect">
            <a:avLst>
              <a:gd name="adj" fmla="val 4706"/>
            </a:avLst>
          </a:prstGeom>
          <a:solidFill>
            <a:srgbClr val="F8F9FA"/>
          </a:solidFill>
          <a:ln w="12700">
            <a:solidFill>
              <a:srgbClr val="E2E8F0"/>
            </a:solidFill>
            <a:prstDash val="solid"/>
          </a:ln>
        </p:spPr>
      </p:sp>
      <p:sp>
        <p:nvSpPr>
          <p:cNvPr id="8" name="Shape 6"/>
          <p:cNvSpPr/>
          <p:nvPr/>
        </p:nvSpPr>
        <p:spPr>
          <a:xfrm>
            <a:off x="594360" y="1554480"/>
            <a:ext cx="3749040" cy="320040"/>
          </a:xfrm>
          <a:prstGeom prst="roundRect">
            <a:avLst>
              <a:gd name="adj" fmla="val 11429"/>
            </a:avLst>
          </a:prstGeom>
          <a:solidFill>
            <a:srgbClr val="EFF6FF"/>
          </a:solidFill>
          <a:ln w="12700">
            <a:solidFill>
              <a:srgbClr val="2563EB"/>
            </a:solidFill>
            <a:prstDash val="solid"/>
          </a:ln>
        </p:spPr>
      </p:sp>
      <p:sp>
        <p:nvSpPr>
          <p:cNvPr id="9" name="Text 7"/>
          <p:cNvSpPr/>
          <p:nvPr/>
        </p:nvSpPr>
        <p:spPr>
          <a:xfrm>
            <a:off x="685800" y="1554480"/>
            <a:ext cx="3566160" cy="320040"/>
          </a:xfrm>
          <a:prstGeom prst="rect">
            <a:avLst/>
          </a:prstGeom>
          <a:noFill/>
          <a:ln/>
        </p:spPr>
        <p:txBody>
          <a:bodyPr wrap="square" rtlCol="0" anchor="ctr"/>
          <a:lstStyle/>
          <a:p>
            <a:pPr indent="0" marL="0">
              <a:buNone/>
            </a:pPr>
            <a:r>
              <a:rPr lang="en-US" sz="1200" b="1" dirty="0">
                <a:solidFill>
                  <a:srgbClr val="2563EB"/>
                </a:solidFill>
                <a:latin typeface="Plus Jakarta Sans, Arial" pitchFamily="34" charset="0"/>
                <a:ea typeface="Plus Jakarta Sans, Arial" pitchFamily="34" charset="-122"/>
                <a:cs typeface="Plus Jakarta Sans, Arial" pitchFamily="34" charset="-120"/>
              </a:rPr>
              <a:t>1. Dense CNN Structure</a:t>
            </a:r>
            <a:endParaRPr lang="en-US" sz="1200" dirty="0"/>
          </a:p>
        </p:txBody>
      </p:sp>
      <p:sp>
        <p:nvSpPr>
          <p:cNvPr id="10" name="Text 8"/>
          <p:cNvSpPr/>
          <p:nvPr/>
        </p:nvSpPr>
        <p:spPr>
          <a:xfrm>
            <a:off x="594360" y="196596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YOLO xây dựng hoàn toàn từ các lớp Convolutional (Conv2d, C2f/CSP blocks).</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Channel &amp; Filter Pruning là lựa chọn tự nhiên mang lại hiệu quả tăng tốc phần cứng tốt nhất.</a:t>
            </a:r>
            <a:endParaRPr lang="en-US" sz="1100" dirty="0"/>
          </a:p>
        </p:txBody>
      </p:sp>
      <p:sp>
        <p:nvSpPr>
          <p:cNvPr id="11" name="Shape 9"/>
          <p:cNvSpPr/>
          <p:nvPr/>
        </p:nvSpPr>
        <p:spPr>
          <a:xfrm>
            <a:off x="4663440" y="1417320"/>
            <a:ext cx="4023360" cy="1554480"/>
          </a:xfrm>
          <a:prstGeom prst="roundRect">
            <a:avLst>
              <a:gd name="adj" fmla="val 4706"/>
            </a:avLst>
          </a:prstGeom>
          <a:solidFill>
            <a:srgbClr val="F8F9FA"/>
          </a:solidFill>
          <a:ln w="12700">
            <a:solidFill>
              <a:srgbClr val="E2E8F0"/>
            </a:solidFill>
            <a:prstDash val="solid"/>
          </a:ln>
        </p:spPr>
      </p:sp>
      <p:sp>
        <p:nvSpPr>
          <p:cNvPr id="12" name="Shape 10"/>
          <p:cNvSpPr/>
          <p:nvPr/>
        </p:nvSpPr>
        <p:spPr>
          <a:xfrm>
            <a:off x="4800600" y="1554480"/>
            <a:ext cx="3749040" cy="320040"/>
          </a:xfrm>
          <a:prstGeom prst="roundRect">
            <a:avLst>
              <a:gd name="adj" fmla="val 11429"/>
            </a:avLst>
          </a:prstGeom>
          <a:solidFill>
            <a:srgbClr val="EFF6FF"/>
          </a:solidFill>
          <a:ln w="12700">
            <a:solidFill>
              <a:srgbClr val="2563EB"/>
            </a:solidFill>
            <a:prstDash val="solid"/>
          </a:ln>
        </p:spPr>
      </p:sp>
      <p:sp>
        <p:nvSpPr>
          <p:cNvPr id="13" name="Text 11"/>
          <p:cNvSpPr/>
          <p:nvPr/>
        </p:nvSpPr>
        <p:spPr>
          <a:xfrm>
            <a:off x="4892040" y="1554480"/>
            <a:ext cx="3566160" cy="320040"/>
          </a:xfrm>
          <a:prstGeom prst="rect">
            <a:avLst/>
          </a:prstGeom>
          <a:noFill/>
          <a:ln/>
        </p:spPr>
        <p:txBody>
          <a:bodyPr wrap="square" rtlCol="0" anchor="ctr"/>
          <a:lstStyle/>
          <a:p>
            <a:pPr indent="0" marL="0">
              <a:buNone/>
            </a:pPr>
            <a:r>
              <a:rPr lang="en-US" sz="1200" b="1" dirty="0">
                <a:solidFill>
                  <a:srgbClr val="2563EB"/>
                </a:solidFill>
                <a:latin typeface="Plus Jakarta Sans, Arial" pitchFamily="34" charset="0"/>
                <a:ea typeface="Plus Jakarta Sans, Arial" pitchFamily="34" charset="-122"/>
                <a:cs typeface="Plus Jakarta Sans, Arial" pitchFamily="34" charset="-120"/>
              </a:rPr>
              <a:t>2. Cross-Layer Dependency</a:t>
            </a:r>
            <a:endParaRPr lang="en-US" sz="1200" dirty="0"/>
          </a:p>
        </p:txBody>
      </p:sp>
      <p:sp>
        <p:nvSpPr>
          <p:cNvPr id="14" name="Text 12"/>
          <p:cNvSpPr/>
          <p:nvPr/>
        </p:nvSpPr>
        <p:spPr>
          <a:xfrm>
            <a:off x="4800600" y="196596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Cấu trúc liên kết dày đặc qua Concat, Residual Connections và C2f Split.</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BẮT BUỘC sử dụng Dependency Graph (DepGraph) để đồng bộ channel index, tránh lỗi shape mismatch.</a:t>
            </a:r>
            <a:endParaRPr lang="en-US" sz="1100" dirty="0"/>
          </a:p>
        </p:txBody>
      </p:sp>
      <p:sp>
        <p:nvSpPr>
          <p:cNvPr id="15" name="Shape 13"/>
          <p:cNvSpPr/>
          <p:nvPr/>
        </p:nvSpPr>
        <p:spPr>
          <a:xfrm>
            <a:off x="457200" y="3154680"/>
            <a:ext cx="4023360" cy="1554480"/>
          </a:xfrm>
          <a:prstGeom prst="roundRect">
            <a:avLst>
              <a:gd name="adj" fmla="val 4706"/>
            </a:avLst>
          </a:prstGeom>
          <a:solidFill>
            <a:srgbClr val="F8F9FA"/>
          </a:solidFill>
          <a:ln w="12700">
            <a:solidFill>
              <a:srgbClr val="E2E8F0"/>
            </a:solidFill>
            <a:prstDash val="solid"/>
          </a:ln>
        </p:spPr>
      </p:sp>
      <p:sp>
        <p:nvSpPr>
          <p:cNvPr id="16" name="Shape 14"/>
          <p:cNvSpPr/>
          <p:nvPr/>
        </p:nvSpPr>
        <p:spPr>
          <a:xfrm>
            <a:off x="594360" y="3291840"/>
            <a:ext cx="3749040" cy="320040"/>
          </a:xfrm>
          <a:prstGeom prst="roundRect">
            <a:avLst>
              <a:gd name="adj" fmla="val 11429"/>
            </a:avLst>
          </a:prstGeom>
          <a:solidFill>
            <a:srgbClr val="EFF6FF"/>
          </a:solidFill>
          <a:ln w="12700">
            <a:solidFill>
              <a:srgbClr val="2563EB"/>
            </a:solidFill>
            <a:prstDash val="solid"/>
          </a:ln>
        </p:spPr>
      </p:sp>
      <p:sp>
        <p:nvSpPr>
          <p:cNvPr id="17" name="Text 15"/>
          <p:cNvSpPr/>
          <p:nvPr/>
        </p:nvSpPr>
        <p:spPr>
          <a:xfrm>
            <a:off x="685800" y="3291840"/>
            <a:ext cx="3566160" cy="320040"/>
          </a:xfrm>
          <a:prstGeom prst="rect">
            <a:avLst/>
          </a:prstGeom>
          <a:noFill/>
          <a:ln/>
        </p:spPr>
        <p:txBody>
          <a:bodyPr wrap="square" rtlCol="0" anchor="ctr"/>
          <a:lstStyle/>
          <a:p>
            <a:pPr indent="0" marL="0">
              <a:buNone/>
            </a:pPr>
            <a:r>
              <a:rPr lang="en-US" sz="1200" b="1" dirty="0">
                <a:solidFill>
                  <a:srgbClr val="2563EB"/>
                </a:solidFill>
                <a:latin typeface="Plus Jakarta Sans, Arial" pitchFamily="34" charset="0"/>
                <a:ea typeface="Plus Jakarta Sans, Arial" pitchFamily="34" charset="-122"/>
                <a:cs typeface="Plus Jakarta Sans, Arial" pitchFamily="34" charset="-120"/>
              </a:rPr>
              <a:t>3. Sensitive Detection Head</a:t>
            </a:r>
            <a:endParaRPr lang="en-US" sz="1200" dirty="0"/>
          </a:p>
        </p:txBody>
      </p:sp>
      <p:sp>
        <p:nvSpPr>
          <p:cNvPr id="18" name="Text 16"/>
          <p:cNvSpPr/>
          <p:nvPr/>
        </p:nvSpPr>
        <p:spPr>
          <a:xfrm>
            <a:off x="594360" y="370332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Đầu ra gồm decoupled detection head và anchor-free regression head RẤT NHẠY CẢM.</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Cần EXCLUDE hoàn toàn (pruning ratio 0%) hoặc giới hạn ratio cực thấp (≤10%) để tránh sụp mAP.</a:t>
            </a:r>
            <a:endParaRPr lang="en-US" sz="1100" dirty="0"/>
          </a:p>
        </p:txBody>
      </p:sp>
      <p:sp>
        <p:nvSpPr>
          <p:cNvPr id="19" name="Shape 17"/>
          <p:cNvSpPr/>
          <p:nvPr/>
        </p:nvSpPr>
        <p:spPr>
          <a:xfrm>
            <a:off x="4663440" y="3154680"/>
            <a:ext cx="4023360" cy="1554480"/>
          </a:xfrm>
          <a:prstGeom prst="roundRect">
            <a:avLst>
              <a:gd name="adj" fmla="val 4706"/>
            </a:avLst>
          </a:prstGeom>
          <a:solidFill>
            <a:srgbClr val="F8F9FA"/>
          </a:solidFill>
          <a:ln w="12700">
            <a:solidFill>
              <a:srgbClr val="E2E8F0"/>
            </a:solidFill>
            <a:prstDash val="solid"/>
          </a:ln>
        </p:spPr>
      </p:sp>
      <p:sp>
        <p:nvSpPr>
          <p:cNvPr id="20" name="Shape 18"/>
          <p:cNvSpPr/>
          <p:nvPr/>
        </p:nvSpPr>
        <p:spPr>
          <a:xfrm>
            <a:off x="4800600" y="3291840"/>
            <a:ext cx="3749040" cy="320040"/>
          </a:xfrm>
          <a:prstGeom prst="roundRect">
            <a:avLst>
              <a:gd name="adj" fmla="val 11429"/>
            </a:avLst>
          </a:prstGeom>
          <a:solidFill>
            <a:srgbClr val="EFF6FF"/>
          </a:solidFill>
          <a:ln w="12700">
            <a:solidFill>
              <a:srgbClr val="2563EB"/>
            </a:solidFill>
            <a:prstDash val="solid"/>
          </a:ln>
        </p:spPr>
      </p:sp>
      <p:sp>
        <p:nvSpPr>
          <p:cNvPr id="21" name="Text 19"/>
          <p:cNvSpPr/>
          <p:nvPr/>
        </p:nvSpPr>
        <p:spPr>
          <a:xfrm>
            <a:off x="4892040" y="3291840"/>
            <a:ext cx="3566160" cy="320040"/>
          </a:xfrm>
          <a:prstGeom prst="rect">
            <a:avLst/>
          </a:prstGeom>
          <a:noFill/>
          <a:ln/>
        </p:spPr>
        <p:txBody>
          <a:bodyPr wrap="square" rtlCol="0" anchor="ctr"/>
          <a:lstStyle/>
          <a:p>
            <a:pPr indent="0" marL="0">
              <a:buNone/>
            </a:pPr>
            <a:r>
              <a:rPr lang="en-US" sz="1200" b="1" dirty="0">
                <a:solidFill>
                  <a:srgbClr val="2563EB"/>
                </a:solidFill>
                <a:latin typeface="Plus Jakarta Sans, Arial" pitchFamily="34" charset="0"/>
                <a:ea typeface="Plus Jakarta Sans, Arial" pitchFamily="34" charset="-122"/>
                <a:cs typeface="Plus Jakarta Sans, Arial" pitchFamily="34" charset="-120"/>
              </a:rPr>
              <a:t>4. BatchNorm Ubiquity</a:t>
            </a:r>
            <a:endParaRPr lang="en-US" sz="1200" dirty="0"/>
          </a:p>
        </p:txBody>
      </p:sp>
      <p:sp>
        <p:nvSpPr>
          <p:cNvPr id="22" name="Text 20"/>
          <p:cNvSpPr/>
          <p:nvPr/>
        </p:nvSpPr>
        <p:spPr>
          <a:xfrm>
            <a:off x="4800600" y="370332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BatchNorm hiện diện sau hầu hết các lớp Conv trong Backbone &amp; Neck.</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Tận dụng ngay hệ số tỷ lệ BN (BN-γ scaling factor) cho Network Slimming mà không tốn chi phí tính toán gradient.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8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DETR Architecture Constraints</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Xác định ràng buộc kiến trúc Transformer-based Detector (RT-DETR / Deformable-DETR)</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4023360" cy="1554480"/>
          </a:xfrm>
          <a:prstGeom prst="roundRect">
            <a:avLst>
              <a:gd name="adj" fmla="val 4706"/>
            </a:avLst>
          </a:prstGeom>
          <a:solidFill>
            <a:srgbClr val="F8F9FA"/>
          </a:solidFill>
          <a:ln w="12700">
            <a:solidFill>
              <a:srgbClr val="E2E8F0"/>
            </a:solidFill>
            <a:prstDash val="solid"/>
          </a:ln>
        </p:spPr>
      </p:sp>
      <p:sp>
        <p:nvSpPr>
          <p:cNvPr id="8" name="Shape 6"/>
          <p:cNvSpPr/>
          <p:nvPr/>
        </p:nvSpPr>
        <p:spPr>
          <a:xfrm>
            <a:off x="594360" y="1554480"/>
            <a:ext cx="3749040" cy="320040"/>
          </a:xfrm>
          <a:prstGeom prst="roundRect">
            <a:avLst>
              <a:gd name="adj" fmla="val 11429"/>
            </a:avLst>
          </a:prstGeom>
          <a:solidFill>
            <a:srgbClr val="EFF6FF"/>
          </a:solidFill>
          <a:ln w="12700">
            <a:solidFill>
              <a:srgbClr val="7C3AED"/>
            </a:solidFill>
            <a:prstDash val="solid"/>
          </a:ln>
        </p:spPr>
      </p:sp>
      <p:sp>
        <p:nvSpPr>
          <p:cNvPr id="9" name="Text 7"/>
          <p:cNvSpPr/>
          <p:nvPr/>
        </p:nvSpPr>
        <p:spPr>
          <a:xfrm>
            <a:off x="685800" y="1554480"/>
            <a:ext cx="3566160" cy="320040"/>
          </a:xfrm>
          <a:prstGeom prst="rect">
            <a:avLst/>
          </a:prstGeom>
          <a:noFill/>
          <a:ln/>
        </p:spPr>
        <p:txBody>
          <a:bodyPr wrap="square" rtlCol="0" anchor="ctr"/>
          <a:lstStyle/>
          <a:p>
            <a:pPr indent="0" marL="0">
              <a:buNone/>
            </a:pPr>
            <a:r>
              <a:rPr lang="en-US" sz="1200" b="1" dirty="0">
                <a:solidFill>
                  <a:srgbClr val="7C3AED"/>
                </a:solidFill>
                <a:latin typeface="Plus Jakarta Sans, Arial" pitchFamily="34" charset="0"/>
                <a:ea typeface="Plus Jakarta Sans, Arial" pitchFamily="34" charset="-122"/>
                <a:cs typeface="Plus Jakarta Sans, Arial" pitchFamily="34" charset="-120"/>
              </a:rPr>
              <a:t>1. Hybrid CNN Backbone</a:t>
            </a:r>
            <a:endParaRPr lang="en-US" sz="1200" dirty="0"/>
          </a:p>
        </p:txBody>
      </p:sp>
      <p:sp>
        <p:nvSpPr>
          <p:cNvPr id="10" name="Text 8"/>
          <p:cNvSpPr/>
          <p:nvPr/>
        </p:nvSpPr>
        <p:spPr>
          <a:xfrm>
            <a:off x="594360" y="196596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Backbone sử dụng CNN (ResNet/HGNet) giống YOLO.</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Có thể áp dụng thành công Structured Channel Pruning với DepGraph &amp; Taylor expansion.</a:t>
            </a:r>
            <a:endParaRPr lang="en-US" sz="1100" dirty="0"/>
          </a:p>
        </p:txBody>
      </p:sp>
      <p:sp>
        <p:nvSpPr>
          <p:cNvPr id="11" name="Shape 9"/>
          <p:cNvSpPr/>
          <p:nvPr/>
        </p:nvSpPr>
        <p:spPr>
          <a:xfrm>
            <a:off x="4663440" y="1417320"/>
            <a:ext cx="4023360" cy="1554480"/>
          </a:xfrm>
          <a:prstGeom prst="roundRect">
            <a:avLst>
              <a:gd name="adj" fmla="val 4706"/>
            </a:avLst>
          </a:prstGeom>
          <a:solidFill>
            <a:srgbClr val="F8F9FA"/>
          </a:solidFill>
          <a:ln w="12700">
            <a:solidFill>
              <a:srgbClr val="E2E8F0"/>
            </a:solidFill>
            <a:prstDash val="solid"/>
          </a:ln>
        </p:spPr>
      </p:sp>
      <p:sp>
        <p:nvSpPr>
          <p:cNvPr id="12" name="Shape 10"/>
          <p:cNvSpPr/>
          <p:nvPr/>
        </p:nvSpPr>
        <p:spPr>
          <a:xfrm>
            <a:off x="4800600" y="1554480"/>
            <a:ext cx="3749040" cy="320040"/>
          </a:xfrm>
          <a:prstGeom prst="roundRect">
            <a:avLst>
              <a:gd name="adj" fmla="val 11429"/>
            </a:avLst>
          </a:prstGeom>
          <a:solidFill>
            <a:srgbClr val="EFF6FF"/>
          </a:solidFill>
          <a:ln w="12700">
            <a:solidFill>
              <a:srgbClr val="7C3AED"/>
            </a:solidFill>
            <a:prstDash val="solid"/>
          </a:ln>
        </p:spPr>
      </p:sp>
      <p:sp>
        <p:nvSpPr>
          <p:cNvPr id="13" name="Text 11"/>
          <p:cNvSpPr/>
          <p:nvPr/>
        </p:nvSpPr>
        <p:spPr>
          <a:xfrm>
            <a:off x="4892040" y="1554480"/>
            <a:ext cx="3566160" cy="320040"/>
          </a:xfrm>
          <a:prstGeom prst="rect">
            <a:avLst/>
          </a:prstGeom>
          <a:noFill/>
          <a:ln/>
        </p:spPr>
        <p:txBody>
          <a:bodyPr wrap="square" rtlCol="0" anchor="ctr"/>
          <a:lstStyle/>
          <a:p>
            <a:pPr indent="0" marL="0">
              <a:buNone/>
            </a:pPr>
            <a:r>
              <a:rPr lang="en-US" sz="1200" b="1" dirty="0">
                <a:solidFill>
                  <a:srgbClr val="7C3AED"/>
                </a:solidFill>
                <a:latin typeface="Plus Jakarta Sans, Arial" pitchFamily="34" charset="0"/>
                <a:ea typeface="Plus Jakarta Sans, Arial" pitchFamily="34" charset="-122"/>
                <a:cs typeface="Plus Jakarta Sans, Arial" pitchFamily="34" charset="-120"/>
              </a:rPr>
              <a:t>2. Encoder/Decoder Transformer</a:t>
            </a:r>
            <a:endParaRPr lang="en-US" sz="1200" dirty="0"/>
          </a:p>
        </p:txBody>
      </p:sp>
      <p:sp>
        <p:nvSpPr>
          <p:cNvPr id="14" name="Text 12"/>
          <p:cNvSpPr/>
          <p:nvPr/>
        </p:nvSpPr>
        <p:spPr>
          <a:xfrm>
            <a:off x="4800600" y="196596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Multi-head Attention (MHA): Prune theo Attention Head (Head Pruning).</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Feed-Forward Network (FFN): Prune theo neuron width hoặc áp dụng N:M semi-structured sparsity.</a:t>
            </a:r>
            <a:endParaRPr lang="en-US" sz="1100" dirty="0"/>
          </a:p>
        </p:txBody>
      </p:sp>
      <p:sp>
        <p:nvSpPr>
          <p:cNvPr id="15" name="Shape 13"/>
          <p:cNvSpPr/>
          <p:nvPr/>
        </p:nvSpPr>
        <p:spPr>
          <a:xfrm>
            <a:off x="457200" y="3154680"/>
            <a:ext cx="4023360" cy="1554480"/>
          </a:xfrm>
          <a:prstGeom prst="roundRect">
            <a:avLst>
              <a:gd name="adj" fmla="val 4706"/>
            </a:avLst>
          </a:prstGeom>
          <a:solidFill>
            <a:srgbClr val="F8F9FA"/>
          </a:solidFill>
          <a:ln w="12700">
            <a:solidFill>
              <a:srgbClr val="E2E8F0"/>
            </a:solidFill>
            <a:prstDash val="solid"/>
          </a:ln>
        </p:spPr>
      </p:sp>
      <p:sp>
        <p:nvSpPr>
          <p:cNvPr id="16" name="Shape 14"/>
          <p:cNvSpPr/>
          <p:nvPr/>
        </p:nvSpPr>
        <p:spPr>
          <a:xfrm>
            <a:off x="594360" y="3291840"/>
            <a:ext cx="3749040" cy="320040"/>
          </a:xfrm>
          <a:prstGeom prst="roundRect">
            <a:avLst>
              <a:gd name="adj" fmla="val 11429"/>
            </a:avLst>
          </a:prstGeom>
          <a:solidFill>
            <a:srgbClr val="EFF6FF"/>
          </a:solidFill>
          <a:ln w="12700">
            <a:solidFill>
              <a:srgbClr val="7C3AED"/>
            </a:solidFill>
            <a:prstDash val="solid"/>
          </a:ln>
        </p:spPr>
      </p:sp>
      <p:sp>
        <p:nvSpPr>
          <p:cNvPr id="17" name="Text 15"/>
          <p:cNvSpPr/>
          <p:nvPr/>
        </p:nvSpPr>
        <p:spPr>
          <a:xfrm>
            <a:off x="685800" y="3291840"/>
            <a:ext cx="3566160" cy="320040"/>
          </a:xfrm>
          <a:prstGeom prst="rect">
            <a:avLst/>
          </a:prstGeom>
          <a:noFill/>
          <a:ln/>
        </p:spPr>
        <p:txBody>
          <a:bodyPr wrap="square" rtlCol="0" anchor="ctr"/>
          <a:lstStyle/>
          <a:p>
            <a:pPr indent="0" marL="0">
              <a:buNone/>
            </a:pPr>
            <a:r>
              <a:rPr lang="en-US" sz="1200" b="1" dirty="0">
                <a:solidFill>
                  <a:srgbClr val="7C3AED"/>
                </a:solidFill>
                <a:latin typeface="Plus Jakarta Sans, Arial" pitchFamily="34" charset="0"/>
                <a:ea typeface="Plus Jakarta Sans, Arial" pitchFamily="34" charset="-122"/>
                <a:cs typeface="Plus Jakarta Sans, Arial" pitchFamily="34" charset="-120"/>
              </a:rPr>
              <a:t>3. Object Queries Sparsity</a:t>
            </a:r>
            <a:endParaRPr lang="en-US" sz="1200" dirty="0"/>
          </a:p>
        </p:txBody>
      </p:sp>
      <p:sp>
        <p:nvSpPr>
          <p:cNvPr id="18" name="Text 16"/>
          <p:cNvSpPr/>
          <p:nvPr/>
        </p:nvSpPr>
        <p:spPr>
          <a:xfrm>
            <a:off x="594360" y="370332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Số lượng Object Queries cố định (VD: 300 queries) có độ dư thừa rất cao.</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Query Pruning dựa trên attention entropy giúp giảm chi phí tính toán Decoder đáng kể.</a:t>
            </a:r>
            <a:endParaRPr lang="en-US" sz="1100" dirty="0"/>
          </a:p>
        </p:txBody>
      </p:sp>
      <p:sp>
        <p:nvSpPr>
          <p:cNvPr id="19" name="Shape 17"/>
          <p:cNvSpPr/>
          <p:nvPr/>
        </p:nvSpPr>
        <p:spPr>
          <a:xfrm>
            <a:off x="4663440" y="3154680"/>
            <a:ext cx="4023360" cy="1554480"/>
          </a:xfrm>
          <a:prstGeom prst="roundRect">
            <a:avLst>
              <a:gd name="adj" fmla="val 4706"/>
            </a:avLst>
          </a:prstGeom>
          <a:solidFill>
            <a:srgbClr val="F8F9FA"/>
          </a:solidFill>
          <a:ln w="12700">
            <a:solidFill>
              <a:srgbClr val="E2E8F0"/>
            </a:solidFill>
            <a:prstDash val="solid"/>
          </a:ln>
        </p:spPr>
      </p:sp>
      <p:sp>
        <p:nvSpPr>
          <p:cNvPr id="20" name="Shape 18"/>
          <p:cNvSpPr/>
          <p:nvPr/>
        </p:nvSpPr>
        <p:spPr>
          <a:xfrm>
            <a:off x="4800600" y="3291840"/>
            <a:ext cx="3749040" cy="320040"/>
          </a:xfrm>
          <a:prstGeom prst="roundRect">
            <a:avLst>
              <a:gd name="adj" fmla="val 11429"/>
            </a:avLst>
          </a:prstGeom>
          <a:solidFill>
            <a:srgbClr val="EFF6FF"/>
          </a:solidFill>
          <a:ln w="12700">
            <a:solidFill>
              <a:srgbClr val="7C3AED"/>
            </a:solidFill>
            <a:prstDash val="solid"/>
          </a:ln>
        </p:spPr>
      </p:sp>
      <p:sp>
        <p:nvSpPr>
          <p:cNvPr id="21" name="Text 19"/>
          <p:cNvSpPr/>
          <p:nvPr/>
        </p:nvSpPr>
        <p:spPr>
          <a:xfrm>
            <a:off x="4892040" y="3291840"/>
            <a:ext cx="3566160" cy="320040"/>
          </a:xfrm>
          <a:prstGeom prst="rect">
            <a:avLst/>
          </a:prstGeom>
          <a:noFill/>
          <a:ln/>
        </p:spPr>
        <p:txBody>
          <a:bodyPr wrap="square" rtlCol="0" anchor="ctr"/>
          <a:lstStyle/>
          <a:p>
            <a:pPr indent="0" marL="0">
              <a:buNone/>
            </a:pPr>
            <a:r>
              <a:rPr lang="en-US" sz="1200" b="1" dirty="0">
                <a:solidFill>
                  <a:srgbClr val="7C3AED"/>
                </a:solidFill>
                <a:latin typeface="Plus Jakarta Sans, Arial" pitchFamily="34" charset="0"/>
                <a:ea typeface="Plus Jakarta Sans, Arial" pitchFamily="34" charset="-122"/>
                <a:cs typeface="Plus Jakarta Sans, Arial" pitchFamily="34" charset="-120"/>
              </a:rPr>
              <a:t>4. LayerNorm &amp; Complex Masking</a:t>
            </a:r>
            <a:endParaRPr lang="en-US" sz="1200" dirty="0"/>
          </a:p>
        </p:txBody>
      </p:sp>
      <p:sp>
        <p:nvSpPr>
          <p:cNvPr id="22" name="Text 20"/>
          <p:cNvSpPr/>
          <p:nvPr/>
        </p:nvSpPr>
        <p:spPr>
          <a:xfrm>
            <a:off x="4800600" y="3703320"/>
            <a:ext cx="3749040" cy="914400"/>
          </a:xfrm>
          <a:prstGeom prst="rect">
            <a:avLst/>
          </a:prstGeom>
          <a:noFill/>
          <a:ln/>
        </p:spPr>
        <p:txBody>
          <a:bodyPr wrap="square" rtlCol="0" anchor="t"/>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Sử dụng LayerNorm thay vì BatchNorm -&gt; Network Slimming KHÔNG áp dụng được.</a:t>
            </a:r>
            <a:endParaRPr lang="en-US" sz="1100" dirty="0"/>
          </a:p>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 Residual &amp; LayerNorm phức tạp -&gt; Cần tool hỗ trợ Transformer masking (Torch-Pruning transformer mode).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9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Technique Selection: YOLO</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Chốt danh sách kỹ thuật áp dụng cho YOLOv8 / YOLOv10 (Step 4 Selection)</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2606040" cy="2423160"/>
          </a:xfrm>
          <a:prstGeom prst="roundRect">
            <a:avLst>
              <a:gd name="adj" fmla="val 3019"/>
            </a:avLst>
          </a:prstGeom>
          <a:solidFill>
            <a:srgbClr val="F8F9FA"/>
          </a:solidFill>
          <a:ln w="12700">
            <a:solidFill>
              <a:srgbClr val="E2E8F0"/>
            </a:solidFill>
            <a:prstDash val="solid"/>
          </a:ln>
        </p:spPr>
      </p:sp>
      <p:sp>
        <p:nvSpPr>
          <p:cNvPr id="8" name="Text 6"/>
          <p:cNvSpPr/>
          <p:nvPr/>
        </p:nvSpPr>
        <p:spPr>
          <a:xfrm>
            <a:off x="594360" y="1554480"/>
            <a:ext cx="2331720" cy="228600"/>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PRIMARY TECHNIQUE</a:t>
            </a:r>
            <a:endParaRPr lang="en-US" sz="1000" dirty="0"/>
          </a:p>
        </p:txBody>
      </p:sp>
      <p:sp>
        <p:nvSpPr>
          <p:cNvPr id="9" name="Text 7"/>
          <p:cNvSpPr/>
          <p:nvPr/>
        </p:nvSpPr>
        <p:spPr>
          <a:xfrm>
            <a:off x="594360" y="1783080"/>
            <a:ext cx="233172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DepGraph-based Channel Pruning</a:t>
            </a:r>
            <a:endParaRPr lang="en-US" sz="1300" dirty="0"/>
          </a:p>
        </p:txBody>
      </p:sp>
      <p:sp>
        <p:nvSpPr>
          <p:cNvPr id="10" name="Text 8"/>
          <p:cNvSpPr/>
          <p:nvPr/>
        </p:nvSpPr>
        <p:spPr>
          <a:xfrm>
            <a:off x="594360" y="2103120"/>
            <a:ext cx="2331720" cy="1645920"/>
          </a:xfrm>
          <a:prstGeom prst="rect">
            <a:avLst/>
          </a:prstGeom>
          <a:noFill/>
          <a:ln/>
        </p:spPr>
        <p:txBody>
          <a:bodyPr wrap="square" rtlCol="0" anchor="t"/>
          <a:lstStyle/>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 Áp dụng Cắt tỉa Kênh Cấu trúc (Structured Channel Pruning).</a:t>
            </a:r>
            <a:endParaRPr lang="en-US" sz="1100" dirty="0"/>
          </a:p>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 Sử dụng DepGraph tự động truy vết dependency đảm bảo an toàn shape toàn bộ các lớp Concat, Split C2f và Residual.</a:t>
            </a:r>
            <a:endParaRPr lang="en-US" sz="1100" dirty="0"/>
          </a:p>
        </p:txBody>
      </p:sp>
      <p:sp>
        <p:nvSpPr>
          <p:cNvPr id="11" name="Shape 9"/>
          <p:cNvSpPr/>
          <p:nvPr/>
        </p:nvSpPr>
        <p:spPr>
          <a:xfrm>
            <a:off x="3246120" y="1417320"/>
            <a:ext cx="2606040" cy="2423160"/>
          </a:xfrm>
          <a:prstGeom prst="roundRect">
            <a:avLst>
              <a:gd name="adj" fmla="val 3019"/>
            </a:avLst>
          </a:prstGeom>
          <a:solidFill>
            <a:srgbClr val="F8F9FA"/>
          </a:solidFill>
          <a:ln w="12700">
            <a:solidFill>
              <a:srgbClr val="E2E8F0"/>
            </a:solidFill>
            <a:prstDash val="solid"/>
          </a:ln>
        </p:spPr>
      </p:sp>
      <p:sp>
        <p:nvSpPr>
          <p:cNvPr id="12" name="Text 10"/>
          <p:cNvSpPr/>
          <p:nvPr/>
        </p:nvSpPr>
        <p:spPr>
          <a:xfrm>
            <a:off x="3383280" y="1554480"/>
            <a:ext cx="2331720" cy="228600"/>
          </a:xfrm>
          <a:prstGeom prst="rect">
            <a:avLst/>
          </a:prstGeom>
          <a:noFill/>
          <a:ln/>
        </p:spPr>
        <p:txBody>
          <a:bodyPr wrap="square" rtlCol="0" anchor="ctr"/>
          <a:lstStyle/>
          <a:p>
            <a:pPr indent="0" marL="0">
              <a:buNone/>
            </a:pPr>
            <a:r>
              <a:rPr lang="en-US" sz="1000" b="1" dirty="0">
                <a:solidFill>
                  <a:srgbClr val="7C3AED"/>
                </a:solidFill>
                <a:latin typeface="Plus Jakarta Sans, Arial" pitchFamily="34" charset="0"/>
                <a:ea typeface="Plus Jakarta Sans, Arial" pitchFamily="34" charset="-122"/>
                <a:cs typeface="Plus Jakarta Sans, Arial" pitchFamily="34" charset="-120"/>
              </a:rPr>
              <a:t>CRITERION SELECTION</a:t>
            </a:r>
            <a:endParaRPr lang="en-US" sz="1000" dirty="0"/>
          </a:p>
        </p:txBody>
      </p:sp>
      <p:sp>
        <p:nvSpPr>
          <p:cNvPr id="13" name="Text 11"/>
          <p:cNvSpPr/>
          <p:nvPr/>
        </p:nvSpPr>
        <p:spPr>
          <a:xfrm>
            <a:off x="3383280" y="1783080"/>
            <a:ext cx="233172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Taylor Expansion + BN-γ</a:t>
            </a:r>
            <a:endParaRPr lang="en-US" sz="1300" dirty="0"/>
          </a:p>
        </p:txBody>
      </p:sp>
      <p:sp>
        <p:nvSpPr>
          <p:cNvPr id="14" name="Text 12"/>
          <p:cNvSpPr/>
          <p:nvPr/>
        </p:nvSpPr>
        <p:spPr>
          <a:xfrm>
            <a:off x="3383280" y="2103120"/>
            <a:ext cx="2331720" cy="1645920"/>
          </a:xfrm>
          <a:prstGeom prst="rect">
            <a:avLst/>
          </a:prstGeom>
          <a:noFill/>
          <a:ln/>
        </p:spPr>
        <p:txBody>
          <a:bodyPr wrap="square" rtlCol="0" anchor="t"/>
          <a:lstStyle/>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 Taylor Expansion (First-order gradient): Đo importance score chính xác dựa trên độ nhạy loss.</a:t>
            </a:r>
            <a:endParaRPr lang="en-US" sz="1100" dirty="0"/>
          </a:p>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 BN-γ (Network Slimming): Dùng hệ số scaling làm proxy kiểm soát độ quan trọng kênh.</a:t>
            </a:r>
            <a:endParaRPr lang="en-US" sz="1100" dirty="0"/>
          </a:p>
        </p:txBody>
      </p:sp>
      <p:sp>
        <p:nvSpPr>
          <p:cNvPr id="15" name="Shape 13"/>
          <p:cNvSpPr/>
          <p:nvPr/>
        </p:nvSpPr>
        <p:spPr>
          <a:xfrm>
            <a:off x="6035040" y="1417320"/>
            <a:ext cx="2606040" cy="2423160"/>
          </a:xfrm>
          <a:prstGeom prst="roundRect">
            <a:avLst>
              <a:gd name="adj" fmla="val 3019"/>
            </a:avLst>
          </a:prstGeom>
          <a:solidFill>
            <a:srgbClr val="F8F9FA"/>
          </a:solidFill>
          <a:ln w="12700">
            <a:solidFill>
              <a:srgbClr val="E2E8F0"/>
            </a:solidFill>
            <a:prstDash val="solid"/>
          </a:ln>
        </p:spPr>
      </p:sp>
      <p:sp>
        <p:nvSpPr>
          <p:cNvPr id="16" name="Text 14"/>
          <p:cNvSpPr/>
          <p:nvPr/>
        </p:nvSpPr>
        <p:spPr>
          <a:xfrm>
            <a:off x="6172200" y="1554480"/>
            <a:ext cx="2331720" cy="228600"/>
          </a:xfrm>
          <a:prstGeom prst="rect">
            <a:avLst/>
          </a:prstGeom>
          <a:noFill/>
          <a:ln/>
        </p:spPr>
        <p:txBody>
          <a:bodyPr wrap="square" rtlCol="0" anchor="ctr"/>
          <a:lstStyle/>
          <a:p>
            <a:pPr indent="0" marL="0">
              <a:buNone/>
            </a:pPr>
            <a:r>
              <a:rPr lang="en-US" sz="1000" b="1" dirty="0">
                <a:solidFill>
                  <a:srgbClr val="059669"/>
                </a:solidFill>
                <a:latin typeface="Plus Jakarta Sans, Arial" pitchFamily="34" charset="0"/>
                <a:ea typeface="Plus Jakarta Sans, Arial" pitchFamily="34" charset="-122"/>
                <a:cs typeface="Plus Jakarta Sans, Arial" pitchFamily="34" charset="-120"/>
              </a:rPr>
              <a:t>STRATEGY CONFIG</a:t>
            </a:r>
            <a:endParaRPr lang="en-US" sz="1000" dirty="0"/>
          </a:p>
        </p:txBody>
      </p:sp>
      <p:sp>
        <p:nvSpPr>
          <p:cNvPr id="17" name="Text 15"/>
          <p:cNvSpPr/>
          <p:nvPr/>
        </p:nvSpPr>
        <p:spPr>
          <a:xfrm>
            <a:off x="6172200" y="1783080"/>
            <a:ext cx="2331720" cy="274320"/>
          </a:xfrm>
          <a:prstGeom prst="rect">
            <a:avLst/>
          </a:prstGeom>
          <a:noFill/>
          <a:ln/>
        </p:spPr>
        <p:txBody>
          <a:bodyPr wrap="square" rtlCol="0" anchor="ctr"/>
          <a:lstStyle/>
          <a:p>
            <a:pPr indent="0" marL="0">
              <a:buNone/>
            </a:pPr>
            <a:r>
              <a:rPr lang="en-US" sz="1300" b="1" dirty="0">
                <a:solidFill>
                  <a:srgbClr val="1E293B"/>
                </a:solidFill>
                <a:latin typeface="Plus Jakarta Sans, Arial" pitchFamily="34" charset="0"/>
                <a:ea typeface="Plus Jakarta Sans, Arial" pitchFamily="34" charset="-122"/>
                <a:cs typeface="Plus Jakarta Sans, Arial" pitchFamily="34" charset="-120"/>
              </a:rPr>
              <a:t>Iterative &amp; Exclude Head</a:t>
            </a:r>
            <a:endParaRPr lang="en-US" sz="1300" dirty="0"/>
          </a:p>
        </p:txBody>
      </p:sp>
      <p:sp>
        <p:nvSpPr>
          <p:cNvPr id="18" name="Text 16"/>
          <p:cNvSpPr/>
          <p:nvPr/>
        </p:nvSpPr>
        <p:spPr>
          <a:xfrm>
            <a:off x="6172200" y="2103120"/>
            <a:ext cx="2331720" cy="1645920"/>
          </a:xfrm>
          <a:prstGeom prst="rect">
            <a:avLst/>
          </a:prstGeom>
          <a:noFill/>
          <a:ln/>
        </p:spPr>
        <p:txBody>
          <a:bodyPr wrap="square" rtlCol="0" anchor="t"/>
          <a:lstStyle/>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 Iterative Pruning: 3–4 vòng cắt tỉa kết hợp fine-tune.</a:t>
            </a:r>
            <a:endParaRPr lang="en-US" sz="1100" dirty="0"/>
          </a:p>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 Local-ratio theo block: Backbone 40% / Neck 30% / Head 0% (loại trừ hoàn toàn Detection Head để bảo vệ mAP).</a:t>
            </a:r>
            <a:endParaRPr lang="en-US" sz="1100" dirty="0"/>
          </a:p>
        </p:txBody>
      </p:sp>
      <p:sp>
        <p:nvSpPr>
          <p:cNvPr id="19" name="Shape 17"/>
          <p:cNvSpPr/>
          <p:nvPr/>
        </p:nvSpPr>
        <p:spPr>
          <a:xfrm>
            <a:off x="457200" y="3977640"/>
            <a:ext cx="8229600" cy="868680"/>
          </a:xfrm>
          <a:prstGeom prst="roundRect">
            <a:avLst>
              <a:gd name="adj" fmla="val 8421"/>
            </a:avLst>
          </a:prstGeom>
          <a:solidFill>
            <a:srgbClr val="EFF6FF"/>
          </a:solidFill>
          <a:ln w="12700">
            <a:solidFill>
              <a:srgbClr val="2563EB"/>
            </a:solidFill>
            <a:prstDash val="solid"/>
          </a:ln>
        </p:spPr>
      </p:sp>
      <p:sp>
        <p:nvSpPr>
          <p:cNvPr id="20" name="Text 18"/>
          <p:cNvSpPr/>
          <p:nvPr/>
        </p:nvSpPr>
        <p:spPr>
          <a:xfrm>
            <a:off x="640080" y="4069080"/>
            <a:ext cx="7863840" cy="228600"/>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YOLO PRUNING POLICY DRAFT (STEP 4)</a:t>
            </a:r>
            <a:endParaRPr lang="en-US" sz="1000" dirty="0"/>
          </a:p>
        </p:txBody>
      </p:sp>
      <p:sp>
        <p:nvSpPr>
          <p:cNvPr id="21" name="Text 19"/>
          <p:cNvSpPr/>
          <p:nvPr/>
        </p:nvSpPr>
        <p:spPr>
          <a:xfrm>
            <a:off x="640080" y="4297680"/>
            <a:ext cx="7863840" cy="457200"/>
          </a:xfrm>
          <a:prstGeom prst="rect">
            <a:avLst/>
          </a:prstGeom>
          <a:noFill/>
          <a:ln/>
        </p:spPr>
        <p:txBody>
          <a:bodyPr wrap="square" rtlCol="0" anchor="ctr"/>
          <a:lstStyle/>
          <a:p>
            <a:pPr indent="0" marL="0">
              <a:buNone/>
            </a:pPr>
            <a:r>
              <a:rPr lang="en-US" sz="1150" b="1" dirty="0">
                <a:solidFill>
                  <a:srgbClr val="1E293B"/>
                </a:solidFill>
                <a:latin typeface="Source Sans 3, Arial" pitchFamily="34" charset="0"/>
                <a:ea typeface="Source Sans 3, Arial" pitchFamily="34" charset="-122"/>
                <a:cs typeface="Source Sans 3, Arial" pitchFamily="34" charset="-120"/>
              </a:rPr>
              <a:t>Granularity: Structured Channel  |  Criterion: Taylor + BN-γ  |  Scope: Local-Ratio (Backbone 40%, Neck 30%, Head 0%)  |  Mode: Iterative (4 rounds)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10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Technique Selection: DETR</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Chốt danh sách kỹ thuật áp dụng cho RT-DETR / Deformable-DETR (Step 4 Selection)</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4023360" cy="1143000"/>
          </a:xfrm>
          <a:prstGeom prst="roundRect">
            <a:avLst>
              <a:gd name="adj" fmla="val 6400"/>
            </a:avLst>
          </a:prstGeom>
          <a:solidFill>
            <a:srgbClr val="F8F9FA"/>
          </a:solidFill>
          <a:ln w="12700">
            <a:solidFill>
              <a:srgbClr val="E2E8F0"/>
            </a:solidFill>
            <a:prstDash val="solid"/>
          </a:ln>
        </p:spPr>
      </p:sp>
      <p:sp>
        <p:nvSpPr>
          <p:cNvPr id="8" name="Shape 6"/>
          <p:cNvSpPr/>
          <p:nvPr/>
        </p:nvSpPr>
        <p:spPr>
          <a:xfrm>
            <a:off x="594360" y="1554480"/>
            <a:ext cx="3749040" cy="256032"/>
          </a:xfrm>
          <a:prstGeom prst="roundRect">
            <a:avLst>
              <a:gd name="adj" fmla="val 14286"/>
            </a:avLst>
          </a:prstGeom>
          <a:solidFill>
            <a:srgbClr val="EFF6FF"/>
          </a:solidFill>
          <a:ln w="12700">
            <a:solidFill>
              <a:srgbClr val="2563EB"/>
            </a:solidFill>
            <a:prstDash val="solid"/>
          </a:ln>
        </p:spPr>
      </p:sp>
      <p:sp>
        <p:nvSpPr>
          <p:cNvPr id="9" name="Text 7"/>
          <p:cNvSpPr/>
          <p:nvPr/>
        </p:nvSpPr>
        <p:spPr>
          <a:xfrm>
            <a:off x="685800" y="1554480"/>
            <a:ext cx="3566160" cy="256032"/>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CNN BACKBONE</a:t>
            </a:r>
            <a:endParaRPr lang="en-US" sz="1000" dirty="0"/>
          </a:p>
        </p:txBody>
      </p:sp>
      <p:sp>
        <p:nvSpPr>
          <p:cNvPr id="10" name="Text 8"/>
          <p:cNvSpPr/>
          <p:nvPr/>
        </p:nvSpPr>
        <p:spPr>
          <a:xfrm>
            <a:off x="594360" y="1856232"/>
            <a:ext cx="3749040" cy="640080"/>
          </a:xfrm>
          <a:prstGeom prst="rect">
            <a:avLst/>
          </a:prstGeom>
          <a:noFill/>
          <a:ln/>
        </p:spPr>
        <p:txBody>
          <a:bodyPr wrap="square" rtlCol="0" anchor="t"/>
          <a:lstStyle/>
          <a:p>
            <a:pPr indent="0" marL="0">
              <a:buNone/>
            </a:pPr>
            <a:r>
              <a:rPr lang="en-US" sz="1100" dirty="0">
                <a:solidFill>
                  <a:srgbClr val="1E293B"/>
                </a:solidFill>
                <a:latin typeface="Source Sans 3, Arial" pitchFamily="34" charset="0"/>
                <a:ea typeface="Source Sans 3, Arial" pitchFamily="34" charset="-122"/>
                <a:cs typeface="Source Sans 3, Arial" pitchFamily="34" charset="-120"/>
              </a:rPr>
              <a:t>Structured Channel Pruning với DepGraph &amp; Taylor expansion (Target ratio: 30%).</a:t>
            </a:r>
            <a:endParaRPr lang="en-US" sz="1100" dirty="0"/>
          </a:p>
        </p:txBody>
      </p:sp>
      <p:sp>
        <p:nvSpPr>
          <p:cNvPr id="11" name="Shape 9"/>
          <p:cNvSpPr/>
          <p:nvPr/>
        </p:nvSpPr>
        <p:spPr>
          <a:xfrm>
            <a:off x="4663440" y="1417320"/>
            <a:ext cx="4023360" cy="1143000"/>
          </a:xfrm>
          <a:prstGeom prst="roundRect">
            <a:avLst>
              <a:gd name="adj" fmla="val 6400"/>
            </a:avLst>
          </a:prstGeom>
          <a:solidFill>
            <a:srgbClr val="F8F9FA"/>
          </a:solidFill>
          <a:ln w="12700">
            <a:solidFill>
              <a:srgbClr val="E2E8F0"/>
            </a:solidFill>
            <a:prstDash val="solid"/>
          </a:ln>
        </p:spPr>
      </p:sp>
      <p:sp>
        <p:nvSpPr>
          <p:cNvPr id="12" name="Shape 10"/>
          <p:cNvSpPr/>
          <p:nvPr/>
        </p:nvSpPr>
        <p:spPr>
          <a:xfrm>
            <a:off x="4800600" y="1554480"/>
            <a:ext cx="3749040" cy="256032"/>
          </a:xfrm>
          <a:prstGeom prst="roundRect">
            <a:avLst>
              <a:gd name="adj" fmla="val 14286"/>
            </a:avLst>
          </a:prstGeom>
          <a:solidFill>
            <a:srgbClr val="EFF6FF"/>
          </a:solidFill>
          <a:ln w="12700">
            <a:solidFill>
              <a:srgbClr val="7C3AED"/>
            </a:solidFill>
            <a:prstDash val="solid"/>
          </a:ln>
        </p:spPr>
      </p:sp>
      <p:sp>
        <p:nvSpPr>
          <p:cNvPr id="13" name="Text 11"/>
          <p:cNvSpPr/>
          <p:nvPr/>
        </p:nvSpPr>
        <p:spPr>
          <a:xfrm>
            <a:off x="4892040" y="1554480"/>
            <a:ext cx="3566160" cy="256032"/>
          </a:xfrm>
          <a:prstGeom prst="rect">
            <a:avLst/>
          </a:prstGeom>
          <a:noFill/>
          <a:ln/>
        </p:spPr>
        <p:txBody>
          <a:bodyPr wrap="square" rtlCol="0" anchor="ctr"/>
          <a:lstStyle/>
          <a:p>
            <a:pPr indent="0" marL="0">
              <a:buNone/>
            </a:pPr>
            <a:r>
              <a:rPr lang="en-US" sz="1000" b="1" dirty="0">
                <a:solidFill>
                  <a:srgbClr val="7C3AED"/>
                </a:solidFill>
                <a:latin typeface="Plus Jakarta Sans, Arial" pitchFamily="34" charset="0"/>
                <a:ea typeface="Plus Jakarta Sans, Arial" pitchFamily="34" charset="-122"/>
                <a:cs typeface="Plus Jakarta Sans, Arial" pitchFamily="34" charset="-120"/>
              </a:rPr>
              <a:t>ENCODER / DECODER MHA</a:t>
            </a:r>
            <a:endParaRPr lang="en-US" sz="1000" dirty="0"/>
          </a:p>
        </p:txBody>
      </p:sp>
      <p:sp>
        <p:nvSpPr>
          <p:cNvPr id="14" name="Text 12"/>
          <p:cNvSpPr/>
          <p:nvPr/>
        </p:nvSpPr>
        <p:spPr>
          <a:xfrm>
            <a:off x="4800600" y="1856232"/>
            <a:ext cx="3749040" cy="640080"/>
          </a:xfrm>
          <a:prstGeom prst="rect">
            <a:avLst/>
          </a:prstGeom>
          <a:noFill/>
          <a:ln/>
        </p:spPr>
        <p:txBody>
          <a:bodyPr wrap="square" rtlCol="0" anchor="t"/>
          <a:lstStyle/>
          <a:p>
            <a:pPr indent="0" marL="0">
              <a:buNone/>
            </a:pPr>
            <a:r>
              <a:rPr lang="en-US" sz="1100" dirty="0">
                <a:solidFill>
                  <a:srgbClr val="1E293B"/>
                </a:solidFill>
                <a:latin typeface="Source Sans 3, Arial" pitchFamily="34" charset="0"/>
                <a:ea typeface="Source Sans 3, Arial" pitchFamily="34" charset="-122"/>
                <a:cs typeface="Source Sans 3, Arial" pitchFamily="34" charset="-120"/>
              </a:rPr>
              <a:t>Attention Head Pruning loại bỏ bớt các head ít quan trọng (Target ratio: 25% heads).</a:t>
            </a:r>
            <a:endParaRPr lang="en-US" sz="1100" dirty="0"/>
          </a:p>
        </p:txBody>
      </p:sp>
      <p:sp>
        <p:nvSpPr>
          <p:cNvPr id="15" name="Shape 13"/>
          <p:cNvSpPr/>
          <p:nvPr/>
        </p:nvSpPr>
        <p:spPr>
          <a:xfrm>
            <a:off x="457200" y="2651760"/>
            <a:ext cx="4023360" cy="1143000"/>
          </a:xfrm>
          <a:prstGeom prst="roundRect">
            <a:avLst>
              <a:gd name="adj" fmla="val 6400"/>
            </a:avLst>
          </a:prstGeom>
          <a:solidFill>
            <a:srgbClr val="F8F9FA"/>
          </a:solidFill>
          <a:ln w="12700">
            <a:solidFill>
              <a:srgbClr val="E2E8F0"/>
            </a:solidFill>
            <a:prstDash val="solid"/>
          </a:ln>
        </p:spPr>
      </p:sp>
      <p:sp>
        <p:nvSpPr>
          <p:cNvPr id="16" name="Shape 14"/>
          <p:cNvSpPr/>
          <p:nvPr/>
        </p:nvSpPr>
        <p:spPr>
          <a:xfrm>
            <a:off x="594360" y="2788920"/>
            <a:ext cx="3749040" cy="256032"/>
          </a:xfrm>
          <a:prstGeom prst="roundRect">
            <a:avLst>
              <a:gd name="adj" fmla="val 14286"/>
            </a:avLst>
          </a:prstGeom>
          <a:solidFill>
            <a:srgbClr val="EFF6FF"/>
          </a:solidFill>
          <a:ln w="12700">
            <a:solidFill>
              <a:srgbClr val="D97706"/>
            </a:solidFill>
            <a:prstDash val="solid"/>
          </a:ln>
        </p:spPr>
      </p:sp>
      <p:sp>
        <p:nvSpPr>
          <p:cNvPr id="17" name="Text 15"/>
          <p:cNvSpPr/>
          <p:nvPr/>
        </p:nvSpPr>
        <p:spPr>
          <a:xfrm>
            <a:off x="685800" y="2788920"/>
            <a:ext cx="3566160" cy="256032"/>
          </a:xfrm>
          <a:prstGeom prst="rect">
            <a:avLst/>
          </a:prstGeom>
          <a:noFill/>
          <a:ln/>
        </p:spPr>
        <p:txBody>
          <a:bodyPr wrap="square" rtlCol="0" anchor="ctr"/>
          <a:lstStyle/>
          <a:p>
            <a:pPr indent="0" marL="0">
              <a:buNone/>
            </a:pPr>
            <a:r>
              <a:rPr lang="en-US" sz="1000" b="1" dirty="0">
                <a:solidFill>
                  <a:srgbClr val="D97706"/>
                </a:solidFill>
                <a:latin typeface="Plus Jakarta Sans, Arial" pitchFamily="34" charset="0"/>
                <a:ea typeface="Plus Jakarta Sans, Arial" pitchFamily="34" charset="-122"/>
                <a:cs typeface="Plus Jakarta Sans, Arial" pitchFamily="34" charset="-120"/>
              </a:rPr>
              <a:t>FFN NETWORKS</a:t>
            </a:r>
            <a:endParaRPr lang="en-US" sz="1000" dirty="0"/>
          </a:p>
        </p:txBody>
      </p:sp>
      <p:sp>
        <p:nvSpPr>
          <p:cNvPr id="18" name="Text 16"/>
          <p:cNvSpPr/>
          <p:nvPr/>
        </p:nvSpPr>
        <p:spPr>
          <a:xfrm>
            <a:off x="594360" y="3090672"/>
            <a:ext cx="3749040" cy="640080"/>
          </a:xfrm>
          <a:prstGeom prst="rect">
            <a:avLst/>
          </a:prstGeom>
          <a:noFill/>
          <a:ln/>
        </p:spPr>
        <p:txBody>
          <a:bodyPr wrap="square" rtlCol="0" anchor="t"/>
          <a:lstStyle/>
          <a:p>
            <a:pPr indent="0" marL="0">
              <a:buNone/>
            </a:pPr>
            <a:r>
              <a:rPr lang="en-US" sz="1100" dirty="0">
                <a:solidFill>
                  <a:srgbClr val="1E293B"/>
                </a:solidFill>
                <a:latin typeface="Source Sans 3, Arial" pitchFamily="34" charset="0"/>
                <a:ea typeface="Source Sans 3, Arial" pitchFamily="34" charset="-122"/>
                <a:cs typeface="Source Sans 3, Arial" pitchFamily="34" charset="-120"/>
              </a:rPr>
              <a:t>Semi-structured N:M (2:4) Sparsity với SparseGPT / Wanda-style pruning.</a:t>
            </a:r>
            <a:endParaRPr lang="en-US" sz="1100" dirty="0"/>
          </a:p>
        </p:txBody>
      </p:sp>
      <p:sp>
        <p:nvSpPr>
          <p:cNvPr id="19" name="Shape 17"/>
          <p:cNvSpPr/>
          <p:nvPr/>
        </p:nvSpPr>
        <p:spPr>
          <a:xfrm>
            <a:off x="4663440" y="2651760"/>
            <a:ext cx="4023360" cy="1143000"/>
          </a:xfrm>
          <a:prstGeom prst="roundRect">
            <a:avLst>
              <a:gd name="adj" fmla="val 6400"/>
            </a:avLst>
          </a:prstGeom>
          <a:solidFill>
            <a:srgbClr val="F8F9FA"/>
          </a:solidFill>
          <a:ln w="12700">
            <a:solidFill>
              <a:srgbClr val="E2E8F0"/>
            </a:solidFill>
            <a:prstDash val="solid"/>
          </a:ln>
        </p:spPr>
      </p:sp>
      <p:sp>
        <p:nvSpPr>
          <p:cNvPr id="20" name="Shape 18"/>
          <p:cNvSpPr/>
          <p:nvPr/>
        </p:nvSpPr>
        <p:spPr>
          <a:xfrm>
            <a:off x="4800600" y="2788920"/>
            <a:ext cx="3749040" cy="256032"/>
          </a:xfrm>
          <a:prstGeom prst="roundRect">
            <a:avLst>
              <a:gd name="adj" fmla="val 14286"/>
            </a:avLst>
          </a:prstGeom>
          <a:solidFill>
            <a:srgbClr val="EFF6FF"/>
          </a:solidFill>
          <a:ln w="12700">
            <a:solidFill>
              <a:srgbClr val="059669"/>
            </a:solidFill>
            <a:prstDash val="solid"/>
          </a:ln>
        </p:spPr>
      </p:sp>
      <p:sp>
        <p:nvSpPr>
          <p:cNvPr id="21" name="Text 19"/>
          <p:cNvSpPr/>
          <p:nvPr/>
        </p:nvSpPr>
        <p:spPr>
          <a:xfrm>
            <a:off x="4892040" y="2788920"/>
            <a:ext cx="3566160" cy="256032"/>
          </a:xfrm>
          <a:prstGeom prst="rect">
            <a:avLst/>
          </a:prstGeom>
          <a:noFill/>
          <a:ln/>
        </p:spPr>
        <p:txBody>
          <a:bodyPr wrap="square" rtlCol="0" anchor="ctr"/>
          <a:lstStyle/>
          <a:p>
            <a:pPr indent="0" marL="0">
              <a:buNone/>
            </a:pPr>
            <a:r>
              <a:rPr lang="en-US" sz="1000" b="1" dirty="0">
                <a:solidFill>
                  <a:srgbClr val="059669"/>
                </a:solidFill>
                <a:latin typeface="Plus Jakarta Sans, Arial" pitchFamily="34" charset="0"/>
                <a:ea typeface="Plus Jakarta Sans, Arial" pitchFamily="34" charset="-122"/>
                <a:cs typeface="Plus Jakarta Sans, Arial" pitchFamily="34" charset="-120"/>
              </a:rPr>
              <a:t>OBJECT QUERIES</a:t>
            </a:r>
            <a:endParaRPr lang="en-US" sz="1000" dirty="0"/>
          </a:p>
        </p:txBody>
      </p:sp>
      <p:sp>
        <p:nvSpPr>
          <p:cNvPr id="22" name="Text 20"/>
          <p:cNvSpPr/>
          <p:nvPr/>
        </p:nvSpPr>
        <p:spPr>
          <a:xfrm>
            <a:off x="4800600" y="3090672"/>
            <a:ext cx="3749040" cy="640080"/>
          </a:xfrm>
          <a:prstGeom prst="rect">
            <a:avLst/>
          </a:prstGeom>
          <a:noFill/>
          <a:ln/>
        </p:spPr>
        <p:txBody>
          <a:bodyPr wrap="square" rtlCol="0" anchor="t"/>
          <a:lstStyle/>
          <a:p>
            <a:pPr indent="0" marL="0">
              <a:buNone/>
            </a:pPr>
            <a:r>
              <a:rPr lang="en-US" sz="1100" dirty="0">
                <a:solidFill>
                  <a:srgbClr val="1E293B"/>
                </a:solidFill>
                <a:latin typeface="Source Sans 3, Arial" pitchFamily="34" charset="0"/>
                <a:ea typeface="Source Sans 3, Arial" pitchFamily="34" charset="-122"/>
                <a:cs typeface="Source Sans 3, Arial" pitchFamily="34" charset="-120"/>
              </a:rPr>
              <a:t>Query Pruning dựa trên attention entropy / importance score (Giảm từ 300 → 200 queries).</a:t>
            </a:r>
            <a:endParaRPr lang="en-US" sz="1100" dirty="0"/>
          </a:p>
        </p:txBody>
      </p:sp>
      <p:sp>
        <p:nvSpPr>
          <p:cNvPr id="23" name="Shape 21"/>
          <p:cNvSpPr/>
          <p:nvPr/>
        </p:nvSpPr>
        <p:spPr>
          <a:xfrm>
            <a:off x="457200" y="3977640"/>
            <a:ext cx="8229600" cy="868680"/>
          </a:xfrm>
          <a:prstGeom prst="roundRect">
            <a:avLst>
              <a:gd name="adj" fmla="val 8421"/>
            </a:avLst>
          </a:prstGeom>
          <a:solidFill>
            <a:srgbClr val="EFF6FF"/>
          </a:solidFill>
          <a:ln w="12700">
            <a:solidFill>
              <a:srgbClr val="7C3AED"/>
            </a:solidFill>
            <a:prstDash val="solid"/>
          </a:ln>
        </p:spPr>
      </p:sp>
      <p:sp>
        <p:nvSpPr>
          <p:cNvPr id="24" name="Text 22"/>
          <p:cNvSpPr/>
          <p:nvPr/>
        </p:nvSpPr>
        <p:spPr>
          <a:xfrm>
            <a:off x="640080" y="4069080"/>
            <a:ext cx="7863840" cy="228600"/>
          </a:xfrm>
          <a:prstGeom prst="rect">
            <a:avLst/>
          </a:prstGeom>
          <a:noFill/>
          <a:ln/>
        </p:spPr>
        <p:txBody>
          <a:bodyPr wrap="square" rtlCol="0" anchor="ctr"/>
          <a:lstStyle/>
          <a:p>
            <a:pPr indent="0" marL="0">
              <a:buNone/>
            </a:pPr>
            <a:r>
              <a:rPr lang="en-US" sz="1000" b="1" dirty="0">
                <a:solidFill>
                  <a:srgbClr val="7C3AED"/>
                </a:solidFill>
                <a:latin typeface="Plus Jakarta Sans, Arial" pitchFamily="34" charset="0"/>
                <a:ea typeface="Plus Jakarta Sans, Arial" pitchFamily="34" charset="-122"/>
                <a:cs typeface="Plus Jakarta Sans, Arial" pitchFamily="34" charset="-120"/>
              </a:rPr>
              <a:t>DETR PRUNING POLICY DRAFT (STEP 4)</a:t>
            </a:r>
            <a:endParaRPr lang="en-US" sz="1000" dirty="0"/>
          </a:p>
        </p:txBody>
      </p:sp>
      <p:sp>
        <p:nvSpPr>
          <p:cNvPr id="25" name="Text 23"/>
          <p:cNvSpPr/>
          <p:nvPr/>
        </p:nvSpPr>
        <p:spPr>
          <a:xfrm>
            <a:off x="640080" y="4297680"/>
            <a:ext cx="7863840" cy="457200"/>
          </a:xfrm>
          <a:prstGeom prst="rect">
            <a:avLst/>
          </a:prstGeom>
          <a:noFill/>
          <a:ln/>
        </p:spPr>
        <p:txBody>
          <a:bodyPr wrap="square" rtlCol="0" anchor="ctr"/>
          <a:lstStyle/>
          <a:p>
            <a:pPr indent="0" marL="0">
              <a:buNone/>
            </a:pPr>
            <a:r>
              <a:rPr lang="en-US" sz="1100" b="1" dirty="0">
                <a:solidFill>
                  <a:srgbClr val="1E293B"/>
                </a:solidFill>
                <a:latin typeface="Source Sans 3, Arial" pitchFamily="34" charset="0"/>
                <a:ea typeface="Source Sans 3, Arial" pitchFamily="34" charset="-122"/>
                <a:cs typeface="Source Sans 3, Arial" pitchFamily="34" charset="-120"/>
              </a:rPr>
              <a:t>Backbone: Structured Channel 30%  |  Encoder/Decoder: Head Pruning 25% + FFN N:M 2:4  |  Queries: 300→200  |  Mode: Layer-wise Iterative Width Reduction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11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Sensitivity &amp; Dependency Analysis Approach</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Probe pruning candidates before applying the final pruning policy (Step 3A/3C Framework)</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353312"/>
            <a:ext cx="1280160" cy="1234440"/>
          </a:xfrm>
          <a:prstGeom prst="roundRect">
            <a:avLst>
              <a:gd name="adj" fmla="val 4444"/>
            </a:avLst>
          </a:prstGeom>
          <a:solidFill>
            <a:srgbClr val="F8F9FA"/>
          </a:solidFill>
          <a:ln w="12700">
            <a:solidFill>
              <a:srgbClr val="E2E8F0"/>
            </a:solidFill>
            <a:prstDash val="solid"/>
          </a:ln>
        </p:spPr>
      </p:sp>
      <p:sp>
        <p:nvSpPr>
          <p:cNvPr id="8" name="Text 6"/>
          <p:cNvSpPr/>
          <p:nvPr/>
        </p:nvSpPr>
        <p:spPr>
          <a:xfrm>
            <a:off x="502920" y="1426464"/>
            <a:ext cx="1188720" cy="164592"/>
          </a:xfrm>
          <a:prstGeom prst="rect">
            <a:avLst/>
          </a:prstGeom>
          <a:noFill/>
          <a:ln/>
        </p:spPr>
        <p:txBody>
          <a:bodyPr wrap="square" rtlCol="0" anchor="ctr"/>
          <a:lstStyle/>
          <a:p>
            <a:pPr algn="ctr" indent="0" marL="0">
              <a:buNone/>
            </a:pPr>
            <a:r>
              <a:rPr lang="en-US" sz="850" b="1" dirty="0">
                <a:solidFill>
                  <a:srgbClr val="2563EB"/>
                </a:solidFill>
                <a:latin typeface="Plus Jakarta Sans, Arial" pitchFamily="34" charset="0"/>
                <a:ea typeface="Plus Jakarta Sans, Arial" pitchFamily="34" charset="-122"/>
                <a:cs typeface="Plus Jakarta Sans, Arial" pitchFamily="34" charset="-120"/>
              </a:rPr>
              <a:t>STEP 1</a:t>
            </a:r>
            <a:endParaRPr lang="en-US" sz="850" dirty="0"/>
          </a:p>
        </p:txBody>
      </p:sp>
      <p:sp>
        <p:nvSpPr>
          <p:cNvPr id="9" name="Text 7"/>
          <p:cNvSpPr/>
          <p:nvPr/>
        </p:nvSpPr>
        <p:spPr>
          <a:xfrm>
            <a:off x="502920" y="1609344"/>
            <a:ext cx="1188720" cy="256032"/>
          </a:xfrm>
          <a:prstGeom prst="rect">
            <a:avLst/>
          </a:prstGeom>
          <a:noFill/>
          <a:ln/>
        </p:spPr>
        <p:txBody>
          <a:bodyPr wrap="square" rtlCol="0" anchor="ctr"/>
          <a:lstStyle/>
          <a:p>
            <a:pPr algn="ctr" indent="0" marL="0">
              <a:buNone/>
            </a:pPr>
            <a:r>
              <a:rPr lang="en-US" sz="950" b="1" dirty="0">
                <a:solidFill>
                  <a:srgbClr val="1E293B"/>
                </a:solidFill>
                <a:latin typeface="Plus Jakarta Sans, Arial" pitchFamily="34" charset="0"/>
                <a:ea typeface="Plus Jakarta Sans, Arial" pitchFamily="34" charset="-122"/>
                <a:cs typeface="Plus Jakarta Sans, Arial" pitchFamily="34" charset="-120"/>
              </a:rPr>
              <a:t>Dependency Check</a:t>
            </a:r>
            <a:endParaRPr lang="en-US" sz="950" dirty="0"/>
          </a:p>
        </p:txBody>
      </p:sp>
      <p:sp>
        <p:nvSpPr>
          <p:cNvPr id="10" name="Text 8"/>
          <p:cNvSpPr/>
          <p:nvPr/>
        </p:nvSpPr>
        <p:spPr>
          <a:xfrm>
            <a:off x="502920" y="1883664"/>
            <a:ext cx="1188720" cy="667512"/>
          </a:xfrm>
          <a:prstGeom prst="rect">
            <a:avLst/>
          </a:prstGeom>
          <a:noFill/>
          <a:ln/>
        </p:spPr>
        <p:txBody>
          <a:bodyPr wrap="square" rtlCol="0" anchor="ctr"/>
          <a:lstStyle/>
          <a:p>
            <a:pPr algn="ctr" indent="0" marL="0">
              <a:lnSpc>
                <a:spcPts val="1200"/>
              </a:lnSpc>
              <a:buNone/>
            </a:pPr>
            <a:r>
              <a:rPr lang="en-US" sz="850" dirty="0">
                <a:solidFill>
                  <a:srgbClr val="64748B"/>
                </a:solidFill>
                <a:latin typeface="Source Sans 3, Arial" pitchFamily="34" charset="0"/>
                <a:ea typeface="Source Sans 3, Arial" pitchFamily="34" charset="-122"/>
                <a:cs typeface="Source Sans 3, Arial" pitchFamily="34" charset="-120"/>
              </a:rPr>
              <a:t>Identify candidates &amp; DepGraph constraints</a:t>
            </a:r>
            <a:endParaRPr lang="en-US" sz="850" dirty="0"/>
          </a:p>
        </p:txBody>
      </p:sp>
      <p:sp>
        <p:nvSpPr>
          <p:cNvPr id="11" name="Shape 9"/>
          <p:cNvSpPr/>
          <p:nvPr/>
        </p:nvSpPr>
        <p:spPr>
          <a:xfrm>
            <a:off x="1828800" y="1353312"/>
            <a:ext cx="1280160" cy="1234440"/>
          </a:xfrm>
          <a:prstGeom prst="roundRect">
            <a:avLst>
              <a:gd name="adj" fmla="val 4444"/>
            </a:avLst>
          </a:prstGeom>
          <a:solidFill>
            <a:srgbClr val="F8F9FA"/>
          </a:solidFill>
          <a:ln w="12700">
            <a:solidFill>
              <a:srgbClr val="E2E8F0"/>
            </a:solidFill>
            <a:prstDash val="solid"/>
          </a:ln>
        </p:spPr>
      </p:sp>
      <p:sp>
        <p:nvSpPr>
          <p:cNvPr id="12" name="Text 10"/>
          <p:cNvSpPr/>
          <p:nvPr/>
        </p:nvSpPr>
        <p:spPr>
          <a:xfrm>
            <a:off x="1874520" y="1426464"/>
            <a:ext cx="1188720" cy="164592"/>
          </a:xfrm>
          <a:prstGeom prst="rect">
            <a:avLst/>
          </a:prstGeom>
          <a:noFill/>
          <a:ln/>
        </p:spPr>
        <p:txBody>
          <a:bodyPr wrap="square" rtlCol="0" anchor="ctr"/>
          <a:lstStyle/>
          <a:p>
            <a:pPr algn="ctr" indent="0" marL="0">
              <a:buNone/>
            </a:pPr>
            <a:r>
              <a:rPr lang="en-US" sz="850" b="1" dirty="0">
                <a:solidFill>
                  <a:srgbClr val="2563EB"/>
                </a:solidFill>
                <a:latin typeface="Plus Jakarta Sans, Arial" pitchFamily="34" charset="0"/>
                <a:ea typeface="Plus Jakarta Sans, Arial" pitchFamily="34" charset="-122"/>
                <a:cs typeface="Plus Jakarta Sans, Arial" pitchFamily="34" charset="-120"/>
              </a:rPr>
              <a:t>STEP 2</a:t>
            </a:r>
            <a:endParaRPr lang="en-US" sz="850" dirty="0"/>
          </a:p>
        </p:txBody>
      </p:sp>
      <p:sp>
        <p:nvSpPr>
          <p:cNvPr id="13" name="Text 11"/>
          <p:cNvSpPr/>
          <p:nvPr/>
        </p:nvSpPr>
        <p:spPr>
          <a:xfrm>
            <a:off x="1874520" y="1609344"/>
            <a:ext cx="1188720" cy="256032"/>
          </a:xfrm>
          <a:prstGeom prst="rect">
            <a:avLst/>
          </a:prstGeom>
          <a:noFill/>
          <a:ln/>
        </p:spPr>
        <p:txBody>
          <a:bodyPr wrap="square" rtlCol="0" anchor="ctr"/>
          <a:lstStyle/>
          <a:p>
            <a:pPr algn="ctr" indent="0" marL="0">
              <a:buNone/>
            </a:pPr>
            <a:r>
              <a:rPr lang="en-US" sz="950" b="1" dirty="0">
                <a:solidFill>
                  <a:srgbClr val="1E293B"/>
                </a:solidFill>
                <a:latin typeface="Plus Jakarta Sans, Arial" pitchFamily="34" charset="0"/>
                <a:ea typeface="Plus Jakarta Sans, Arial" pitchFamily="34" charset="-122"/>
                <a:cs typeface="Plus Jakarta Sans, Arial" pitchFamily="34" charset="-120"/>
              </a:rPr>
              <a:t>Temporary Probe</a:t>
            </a:r>
            <a:endParaRPr lang="en-US" sz="950" dirty="0"/>
          </a:p>
        </p:txBody>
      </p:sp>
      <p:sp>
        <p:nvSpPr>
          <p:cNvPr id="14" name="Text 12"/>
          <p:cNvSpPr/>
          <p:nvPr/>
        </p:nvSpPr>
        <p:spPr>
          <a:xfrm>
            <a:off x="1874520" y="1883664"/>
            <a:ext cx="1188720" cy="667512"/>
          </a:xfrm>
          <a:prstGeom prst="rect">
            <a:avLst/>
          </a:prstGeom>
          <a:noFill/>
          <a:ln/>
        </p:spPr>
        <p:txBody>
          <a:bodyPr wrap="square" rtlCol="0" anchor="ctr"/>
          <a:lstStyle/>
          <a:p>
            <a:pPr algn="ctr" indent="0" marL="0">
              <a:lnSpc>
                <a:spcPts val="1200"/>
              </a:lnSpc>
              <a:buNone/>
            </a:pPr>
            <a:r>
              <a:rPr lang="en-US" sz="850" dirty="0">
                <a:solidFill>
                  <a:srgbClr val="64748B"/>
                </a:solidFill>
                <a:latin typeface="Source Sans 3, Arial" pitchFamily="34" charset="0"/>
                <a:ea typeface="Source Sans 3, Arial" pitchFamily="34" charset="-122"/>
                <a:cs typeface="Source Sans 3, Arial" pitchFamily="34" charset="-120"/>
              </a:rPr>
              <a:t>Trial ratios: 10% → 20% → 30% → 40%</a:t>
            </a:r>
            <a:endParaRPr lang="en-US" sz="850" dirty="0"/>
          </a:p>
        </p:txBody>
      </p:sp>
      <p:sp>
        <p:nvSpPr>
          <p:cNvPr id="15" name="Shape 13"/>
          <p:cNvSpPr/>
          <p:nvPr/>
        </p:nvSpPr>
        <p:spPr>
          <a:xfrm>
            <a:off x="3200400" y="1353312"/>
            <a:ext cx="1280160" cy="1234440"/>
          </a:xfrm>
          <a:prstGeom prst="roundRect">
            <a:avLst>
              <a:gd name="adj" fmla="val 4444"/>
            </a:avLst>
          </a:prstGeom>
          <a:solidFill>
            <a:srgbClr val="F8F9FA"/>
          </a:solidFill>
          <a:ln w="12700">
            <a:solidFill>
              <a:srgbClr val="E2E8F0"/>
            </a:solidFill>
            <a:prstDash val="solid"/>
          </a:ln>
        </p:spPr>
      </p:sp>
      <p:sp>
        <p:nvSpPr>
          <p:cNvPr id="16" name="Text 14"/>
          <p:cNvSpPr/>
          <p:nvPr/>
        </p:nvSpPr>
        <p:spPr>
          <a:xfrm>
            <a:off x="3246120" y="1426464"/>
            <a:ext cx="1188720" cy="164592"/>
          </a:xfrm>
          <a:prstGeom prst="rect">
            <a:avLst/>
          </a:prstGeom>
          <a:noFill/>
          <a:ln/>
        </p:spPr>
        <p:txBody>
          <a:bodyPr wrap="square" rtlCol="0" anchor="ctr"/>
          <a:lstStyle/>
          <a:p>
            <a:pPr algn="ctr" indent="0" marL="0">
              <a:buNone/>
            </a:pPr>
            <a:r>
              <a:rPr lang="en-US" sz="850" b="1" dirty="0">
                <a:solidFill>
                  <a:srgbClr val="2563EB"/>
                </a:solidFill>
                <a:latin typeface="Plus Jakarta Sans, Arial" pitchFamily="34" charset="0"/>
                <a:ea typeface="Plus Jakarta Sans, Arial" pitchFamily="34" charset="-122"/>
                <a:cs typeface="Plus Jakarta Sans, Arial" pitchFamily="34" charset="-120"/>
              </a:rPr>
              <a:t>STEP 3</a:t>
            </a:r>
            <a:endParaRPr lang="en-US" sz="850" dirty="0"/>
          </a:p>
        </p:txBody>
      </p:sp>
      <p:sp>
        <p:nvSpPr>
          <p:cNvPr id="17" name="Text 15"/>
          <p:cNvSpPr/>
          <p:nvPr/>
        </p:nvSpPr>
        <p:spPr>
          <a:xfrm>
            <a:off x="3246120" y="1609344"/>
            <a:ext cx="1188720" cy="256032"/>
          </a:xfrm>
          <a:prstGeom prst="rect">
            <a:avLst/>
          </a:prstGeom>
          <a:noFill/>
          <a:ln/>
        </p:spPr>
        <p:txBody>
          <a:bodyPr wrap="square" rtlCol="0" anchor="ctr"/>
          <a:lstStyle/>
          <a:p>
            <a:pPr algn="ctr" indent="0" marL="0">
              <a:buNone/>
            </a:pPr>
            <a:r>
              <a:rPr lang="en-US" sz="950" b="1" dirty="0">
                <a:solidFill>
                  <a:srgbClr val="1E293B"/>
                </a:solidFill>
                <a:latin typeface="Plus Jakarta Sans, Arial" pitchFamily="34" charset="0"/>
                <a:ea typeface="Plus Jakarta Sans, Arial" pitchFamily="34" charset="-122"/>
                <a:cs typeface="Plus Jakarta Sans, Arial" pitchFamily="34" charset="-120"/>
              </a:rPr>
              <a:t>Fast Validation</a:t>
            </a:r>
            <a:endParaRPr lang="en-US" sz="950" dirty="0"/>
          </a:p>
        </p:txBody>
      </p:sp>
      <p:sp>
        <p:nvSpPr>
          <p:cNvPr id="18" name="Text 16"/>
          <p:cNvSpPr/>
          <p:nvPr/>
        </p:nvSpPr>
        <p:spPr>
          <a:xfrm>
            <a:off x="3246120" y="1883664"/>
            <a:ext cx="1188720" cy="667512"/>
          </a:xfrm>
          <a:prstGeom prst="rect">
            <a:avLst/>
          </a:prstGeom>
          <a:noFill/>
          <a:ln/>
        </p:spPr>
        <p:txBody>
          <a:bodyPr wrap="square" rtlCol="0" anchor="ctr"/>
          <a:lstStyle/>
          <a:p>
            <a:pPr algn="ctr" indent="0" marL="0">
              <a:lnSpc>
                <a:spcPts val="1200"/>
              </a:lnSpc>
              <a:buNone/>
            </a:pPr>
            <a:r>
              <a:rPr lang="en-US" sz="850" dirty="0">
                <a:solidFill>
                  <a:srgbClr val="64748B"/>
                </a:solidFill>
                <a:latin typeface="Source Sans 3, Arial" pitchFamily="34" charset="0"/>
                <a:ea typeface="Source Sans 3, Arial" pitchFamily="34" charset="-122"/>
                <a:cs typeface="Source Sans 3, Arial" pitchFamily="34" charset="-120"/>
              </a:rPr>
              <a:t>Measure ΔmAP, FLOPs, Latency</a:t>
            </a:r>
            <a:endParaRPr lang="en-US" sz="850" dirty="0"/>
          </a:p>
        </p:txBody>
      </p:sp>
      <p:sp>
        <p:nvSpPr>
          <p:cNvPr id="19" name="Shape 17"/>
          <p:cNvSpPr/>
          <p:nvPr/>
        </p:nvSpPr>
        <p:spPr>
          <a:xfrm>
            <a:off x="4572000" y="1353312"/>
            <a:ext cx="1280160" cy="1234440"/>
          </a:xfrm>
          <a:prstGeom prst="roundRect">
            <a:avLst>
              <a:gd name="adj" fmla="val 4444"/>
            </a:avLst>
          </a:prstGeom>
          <a:solidFill>
            <a:srgbClr val="F8F9FA"/>
          </a:solidFill>
          <a:ln w="12700">
            <a:solidFill>
              <a:srgbClr val="E2E8F0"/>
            </a:solidFill>
            <a:prstDash val="solid"/>
          </a:ln>
        </p:spPr>
      </p:sp>
      <p:sp>
        <p:nvSpPr>
          <p:cNvPr id="20" name="Text 18"/>
          <p:cNvSpPr/>
          <p:nvPr/>
        </p:nvSpPr>
        <p:spPr>
          <a:xfrm>
            <a:off x="4617720" y="1426464"/>
            <a:ext cx="1188720" cy="164592"/>
          </a:xfrm>
          <a:prstGeom prst="rect">
            <a:avLst/>
          </a:prstGeom>
          <a:noFill/>
          <a:ln/>
        </p:spPr>
        <p:txBody>
          <a:bodyPr wrap="square" rtlCol="0" anchor="ctr"/>
          <a:lstStyle/>
          <a:p>
            <a:pPr algn="ctr" indent="0" marL="0">
              <a:buNone/>
            </a:pPr>
            <a:r>
              <a:rPr lang="en-US" sz="850" b="1" dirty="0">
                <a:solidFill>
                  <a:srgbClr val="2563EB"/>
                </a:solidFill>
                <a:latin typeface="Plus Jakarta Sans, Arial" pitchFamily="34" charset="0"/>
                <a:ea typeface="Plus Jakarta Sans, Arial" pitchFamily="34" charset="-122"/>
                <a:cs typeface="Plus Jakarta Sans, Arial" pitchFamily="34" charset="-120"/>
              </a:rPr>
              <a:t>STEP 4</a:t>
            </a:r>
            <a:endParaRPr lang="en-US" sz="850" dirty="0"/>
          </a:p>
        </p:txBody>
      </p:sp>
      <p:sp>
        <p:nvSpPr>
          <p:cNvPr id="21" name="Text 19"/>
          <p:cNvSpPr/>
          <p:nvPr/>
        </p:nvSpPr>
        <p:spPr>
          <a:xfrm>
            <a:off x="4617720" y="1609344"/>
            <a:ext cx="1188720" cy="256032"/>
          </a:xfrm>
          <a:prstGeom prst="rect">
            <a:avLst/>
          </a:prstGeom>
          <a:noFill/>
          <a:ln/>
        </p:spPr>
        <p:txBody>
          <a:bodyPr wrap="square" rtlCol="0" anchor="ctr"/>
          <a:lstStyle/>
          <a:p>
            <a:pPr algn="ctr" indent="0" marL="0">
              <a:buNone/>
            </a:pPr>
            <a:r>
              <a:rPr lang="en-US" sz="950" b="1" dirty="0">
                <a:solidFill>
                  <a:srgbClr val="1E293B"/>
                </a:solidFill>
                <a:latin typeface="Plus Jakarta Sans, Arial" pitchFamily="34" charset="0"/>
                <a:ea typeface="Plus Jakarta Sans, Arial" pitchFamily="34" charset="-122"/>
                <a:cs typeface="Plus Jakarta Sans, Arial" pitchFamily="34" charset="-120"/>
              </a:rPr>
              <a:t>Sensitivity Curve</a:t>
            </a:r>
            <a:endParaRPr lang="en-US" sz="950" dirty="0"/>
          </a:p>
        </p:txBody>
      </p:sp>
      <p:sp>
        <p:nvSpPr>
          <p:cNvPr id="22" name="Text 20"/>
          <p:cNvSpPr/>
          <p:nvPr/>
        </p:nvSpPr>
        <p:spPr>
          <a:xfrm>
            <a:off x="4617720" y="1883664"/>
            <a:ext cx="1188720" cy="667512"/>
          </a:xfrm>
          <a:prstGeom prst="rect">
            <a:avLst/>
          </a:prstGeom>
          <a:noFill/>
          <a:ln/>
        </p:spPr>
        <p:txBody>
          <a:bodyPr wrap="square" rtlCol="0" anchor="ctr"/>
          <a:lstStyle/>
          <a:p>
            <a:pPr algn="ctr" indent="0" marL="0">
              <a:lnSpc>
                <a:spcPts val="1200"/>
              </a:lnSpc>
              <a:buNone/>
            </a:pPr>
            <a:r>
              <a:rPr lang="en-US" sz="850" dirty="0">
                <a:solidFill>
                  <a:srgbClr val="64748B"/>
                </a:solidFill>
                <a:latin typeface="Source Sans 3, Arial" pitchFamily="34" charset="0"/>
                <a:ea typeface="Source Sans 3, Arial" pitchFamily="34" charset="-122"/>
                <a:cs typeface="Source Sans 3, Arial" pitchFamily="34" charset="-120"/>
              </a:rPr>
              <a:t>Plot Ratio (%) → ΔmAP curve</a:t>
            </a:r>
            <a:endParaRPr lang="en-US" sz="850" dirty="0"/>
          </a:p>
        </p:txBody>
      </p:sp>
      <p:sp>
        <p:nvSpPr>
          <p:cNvPr id="23" name="Shape 21"/>
          <p:cNvSpPr/>
          <p:nvPr/>
        </p:nvSpPr>
        <p:spPr>
          <a:xfrm>
            <a:off x="5943600" y="1353312"/>
            <a:ext cx="1280160" cy="1234440"/>
          </a:xfrm>
          <a:prstGeom prst="roundRect">
            <a:avLst>
              <a:gd name="adj" fmla="val 4444"/>
            </a:avLst>
          </a:prstGeom>
          <a:solidFill>
            <a:srgbClr val="F8F9FA"/>
          </a:solidFill>
          <a:ln w="12700">
            <a:solidFill>
              <a:srgbClr val="E2E8F0"/>
            </a:solidFill>
            <a:prstDash val="solid"/>
          </a:ln>
        </p:spPr>
      </p:sp>
      <p:sp>
        <p:nvSpPr>
          <p:cNvPr id="24" name="Text 22"/>
          <p:cNvSpPr/>
          <p:nvPr/>
        </p:nvSpPr>
        <p:spPr>
          <a:xfrm>
            <a:off x="5989320" y="1426464"/>
            <a:ext cx="1188720" cy="164592"/>
          </a:xfrm>
          <a:prstGeom prst="rect">
            <a:avLst/>
          </a:prstGeom>
          <a:noFill/>
          <a:ln/>
        </p:spPr>
        <p:txBody>
          <a:bodyPr wrap="square" rtlCol="0" anchor="ctr"/>
          <a:lstStyle/>
          <a:p>
            <a:pPr algn="ctr" indent="0" marL="0">
              <a:buNone/>
            </a:pPr>
            <a:r>
              <a:rPr lang="en-US" sz="850" b="1" dirty="0">
                <a:solidFill>
                  <a:srgbClr val="2563EB"/>
                </a:solidFill>
                <a:latin typeface="Plus Jakarta Sans, Arial" pitchFamily="34" charset="0"/>
                <a:ea typeface="Plus Jakarta Sans, Arial" pitchFamily="34" charset="-122"/>
                <a:cs typeface="Plus Jakarta Sans, Arial" pitchFamily="34" charset="-120"/>
              </a:rPr>
              <a:t>STEP 5</a:t>
            </a:r>
            <a:endParaRPr lang="en-US" sz="850" dirty="0"/>
          </a:p>
        </p:txBody>
      </p:sp>
      <p:sp>
        <p:nvSpPr>
          <p:cNvPr id="25" name="Text 23"/>
          <p:cNvSpPr/>
          <p:nvPr/>
        </p:nvSpPr>
        <p:spPr>
          <a:xfrm>
            <a:off x="5989320" y="1609344"/>
            <a:ext cx="1188720" cy="256032"/>
          </a:xfrm>
          <a:prstGeom prst="rect">
            <a:avLst/>
          </a:prstGeom>
          <a:noFill/>
          <a:ln/>
        </p:spPr>
        <p:txBody>
          <a:bodyPr wrap="square" rtlCol="0" anchor="ctr"/>
          <a:lstStyle/>
          <a:p>
            <a:pPr algn="ctr" indent="0" marL="0">
              <a:buNone/>
            </a:pPr>
            <a:r>
              <a:rPr lang="en-US" sz="950" b="1" dirty="0">
                <a:solidFill>
                  <a:srgbClr val="1E293B"/>
                </a:solidFill>
                <a:latin typeface="Plus Jakarta Sans, Arial" pitchFamily="34" charset="0"/>
                <a:ea typeface="Plus Jakarta Sans, Arial" pitchFamily="34" charset="-122"/>
                <a:cs typeface="Plus Jakarta Sans, Arial" pitchFamily="34" charset="-120"/>
              </a:rPr>
              <a:t>Classification</a:t>
            </a:r>
            <a:endParaRPr lang="en-US" sz="950" dirty="0"/>
          </a:p>
        </p:txBody>
      </p:sp>
      <p:sp>
        <p:nvSpPr>
          <p:cNvPr id="26" name="Text 24"/>
          <p:cNvSpPr/>
          <p:nvPr/>
        </p:nvSpPr>
        <p:spPr>
          <a:xfrm>
            <a:off x="5989320" y="1883664"/>
            <a:ext cx="1188720" cy="667512"/>
          </a:xfrm>
          <a:prstGeom prst="rect">
            <a:avLst/>
          </a:prstGeom>
          <a:noFill/>
          <a:ln/>
        </p:spPr>
        <p:txBody>
          <a:bodyPr wrap="square" rtlCol="0" anchor="ctr"/>
          <a:lstStyle/>
          <a:p>
            <a:pPr algn="ctr" indent="0" marL="0">
              <a:lnSpc>
                <a:spcPts val="1200"/>
              </a:lnSpc>
              <a:buNone/>
            </a:pPr>
            <a:r>
              <a:rPr lang="en-US" sz="850" dirty="0">
                <a:solidFill>
                  <a:srgbClr val="64748B"/>
                </a:solidFill>
                <a:latin typeface="Source Sans 3, Arial" pitchFamily="34" charset="0"/>
                <a:ea typeface="Source Sans 3, Arial" pitchFamily="34" charset="-122"/>
                <a:cs typeface="Source Sans 3, Arial" pitchFamily="34" charset="-120"/>
              </a:rPr>
              <a:t>Classify into Safe / Transition / Sensitive</a:t>
            </a:r>
            <a:endParaRPr lang="en-US" sz="850" dirty="0"/>
          </a:p>
        </p:txBody>
      </p:sp>
      <p:sp>
        <p:nvSpPr>
          <p:cNvPr id="27" name="Shape 25"/>
          <p:cNvSpPr/>
          <p:nvPr/>
        </p:nvSpPr>
        <p:spPr>
          <a:xfrm>
            <a:off x="7315200" y="1353312"/>
            <a:ext cx="1280160" cy="1234440"/>
          </a:xfrm>
          <a:prstGeom prst="roundRect">
            <a:avLst>
              <a:gd name="adj" fmla="val 4444"/>
            </a:avLst>
          </a:prstGeom>
          <a:solidFill>
            <a:srgbClr val="F8F9FA"/>
          </a:solidFill>
          <a:ln w="12700">
            <a:solidFill>
              <a:srgbClr val="E2E8F0"/>
            </a:solidFill>
            <a:prstDash val="solid"/>
          </a:ln>
        </p:spPr>
      </p:sp>
      <p:sp>
        <p:nvSpPr>
          <p:cNvPr id="28" name="Text 26"/>
          <p:cNvSpPr/>
          <p:nvPr/>
        </p:nvSpPr>
        <p:spPr>
          <a:xfrm>
            <a:off x="7360920" y="1426464"/>
            <a:ext cx="1188720" cy="164592"/>
          </a:xfrm>
          <a:prstGeom prst="rect">
            <a:avLst/>
          </a:prstGeom>
          <a:noFill/>
          <a:ln/>
        </p:spPr>
        <p:txBody>
          <a:bodyPr wrap="square" rtlCol="0" anchor="ctr"/>
          <a:lstStyle/>
          <a:p>
            <a:pPr algn="ctr" indent="0" marL="0">
              <a:buNone/>
            </a:pPr>
            <a:r>
              <a:rPr lang="en-US" sz="850" b="1" dirty="0">
                <a:solidFill>
                  <a:srgbClr val="2563EB"/>
                </a:solidFill>
                <a:latin typeface="Plus Jakarta Sans, Arial" pitchFamily="34" charset="0"/>
                <a:ea typeface="Plus Jakarta Sans, Arial" pitchFamily="34" charset="-122"/>
                <a:cs typeface="Plus Jakarta Sans, Arial" pitchFamily="34" charset="-120"/>
              </a:rPr>
              <a:t>STEP 6</a:t>
            </a:r>
            <a:endParaRPr lang="en-US" sz="850" dirty="0"/>
          </a:p>
        </p:txBody>
      </p:sp>
      <p:sp>
        <p:nvSpPr>
          <p:cNvPr id="29" name="Text 27"/>
          <p:cNvSpPr/>
          <p:nvPr/>
        </p:nvSpPr>
        <p:spPr>
          <a:xfrm>
            <a:off x="7360920" y="1609344"/>
            <a:ext cx="1188720" cy="256032"/>
          </a:xfrm>
          <a:prstGeom prst="rect">
            <a:avLst/>
          </a:prstGeom>
          <a:noFill/>
          <a:ln/>
        </p:spPr>
        <p:txBody>
          <a:bodyPr wrap="square" rtlCol="0" anchor="ctr"/>
          <a:lstStyle/>
          <a:p>
            <a:pPr algn="ctr" indent="0" marL="0">
              <a:buNone/>
            </a:pPr>
            <a:r>
              <a:rPr lang="en-US" sz="950" b="1" dirty="0">
                <a:solidFill>
                  <a:srgbClr val="1E293B"/>
                </a:solidFill>
                <a:latin typeface="Plus Jakarta Sans, Arial" pitchFamily="34" charset="0"/>
                <a:ea typeface="Plus Jakarta Sans, Arial" pitchFamily="34" charset="-122"/>
                <a:cs typeface="Plus Jakarta Sans, Arial" pitchFamily="34" charset="-120"/>
              </a:rPr>
              <a:t>Candidate Config</a:t>
            </a:r>
            <a:endParaRPr lang="en-US" sz="950" dirty="0"/>
          </a:p>
        </p:txBody>
      </p:sp>
      <p:sp>
        <p:nvSpPr>
          <p:cNvPr id="30" name="Text 28"/>
          <p:cNvSpPr/>
          <p:nvPr/>
        </p:nvSpPr>
        <p:spPr>
          <a:xfrm>
            <a:off x="7360920" y="1883664"/>
            <a:ext cx="1188720" cy="667512"/>
          </a:xfrm>
          <a:prstGeom prst="rect">
            <a:avLst/>
          </a:prstGeom>
          <a:noFill/>
          <a:ln/>
        </p:spPr>
        <p:txBody>
          <a:bodyPr wrap="square" rtlCol="0" anchor="ctr"/>
          <a:lstStyle/>
          <a:p>
            <a:pPr algn="ctr" indent="0" marL="0">
              <a:lnSpc>
                <a:spcPts val="1200"/>
              </a:lnSpc>
              <a:buNone/>
            </a:pPr>
            <a:r>
              <a:rPr lang="en-US" sz="850" dirty="0">
                <a:solidFill>
                  <a:srgbClr val="64748B"/>
                </a:solidFill>
                <a:latin typeface="Source Sans 3, Arial" pitchFamily="34" charset="0"/>
                <a:ea typeface="Source Sans 3, Arial" pitchFamily="34" charset="-122"/>
                <a:cs typeface="Source Sans 3, Arial" pitchFamily="34" charset="-120"/>
              </a:rPr>
              <a:t>Output final candidate config to Step 4</a:t>
            </a:r>
            <a:endParaRPr lang="en-US" sz="850" dirty="0"/>
          </a:p>
        </p:txBody>
      </p:sp>
      <p:sp>
        <p:nvSpPr>
          <p:cNvPr id="31" name="Shape 29"/>
          <p:cNvSpPr/>
          <p:nvPr/>
        </p:nvSpPr>
        <p:spPr>
          <a:xfrm>
            <a:off x="457200" y="2697480"/>
            <a:ext cx="2606040" cy="1508760"/>
          </a:xfrm>
          <a:prstGeom prst="roundRect">
            <a:avLst>
              <a:gd name="adj" fmla="val 4848"/>
            </a:avLst>
          </a:prstGeom>
          <a:solidFill>
            <a:srgbClr val="ECFDF5"/>
          </a:solidFill>
          <a:ln w="12700">
            <a:solidFill>
              <a:srgbClr val="059669"/>
            </a:solidFill>
            <a:prstDash val="solid"/>
          </a:ln>
        </p:spPr>
      </p:sp>
      <p:sp>
        <p:nvSpPr>
          <p:cNvPr id="32" name="Text 30"/>
          <p:cNvSpPr/>
          <p:nvPr/>
        </p:nvSpPr>
        <p:spPr>
          <a:xfrm>
            <a:off x="566928" y="2807208"/>
            <a:ext cx="2386584" cy="201168"/>
          </a:xfrm>
          <a:prstGeom prst="rect">
            <a:avLst/>
          </a:prstGeom>
          <a:noFill/>
          <a:ln/>
        </p:spPr>
        <p:txBody>
          <a:bodyPr wrap="square" rtlCol="0" anchor="ctr"/>
          <a:lstStyle/>
          <a:p>
            <a:pPr indent="0" marL="0">
              <a:buNone/>
            </a:pPr>
            <a:r>
              <a:rPr lang="en-US" sz="1050" b="1" dirty="0">
                <a:solidFill>
                  <a:srgbClr val="059669"/>
                </a:solidFill>
                <a:latin typeface="Plus Jakarta Sans, Arial" pitchFamily="34" charset="0"/>
                <a:ea typeface="Plus Jakarta Sans, Arial" pitchFamily="34" charset="-122"/>
                <a:cs typeface="Plus Jakarta Sans, Arial" pitchFamily="34" charset="-120"/>
              </a:rPr>
              <a:t>🟢 SAFE / LOW-SENSITIVITY</a:t>
            </a:r>
            <a:endParaRPr lang="en-US" sz="1050" dirty="0"/>
          </a:p>
        </p:txBody>
      </p:sp>
      <p:sp>
        <p:nvSpPr>
          <p:cNvPr id="33" name="Text 31"/>
          <p:cNvSpPr/>
          <p:nvPr/>
        </p:nvSpPr>
        <p:spPr>
          <a:xfrm>
            <a:off x="566928" y="3008376"/>
            <a:ext cx="2386584" cy="182880"/>
          </a:xfrm>
          <a:prstGeom prst="rect">
            <a:avLst/>
          </a:prstGeom>
          <a:noFill/>
          <a:ln/>
        </p:spPr>
        <p:txBody>
          <a:bodyPr wrap="square" rtlCol="0" anchor="ctr"/>
          <a:lstStyle/>
          <a:p>
            <a:pPr indent="0" marL="0">
              <a:buNone/>
            </a:pPr>
            <a:r>
              <a:rPr lang="en-US" sz="900" i="1" dirty="0">
                <a:solidFill>
                  <a:srgbClr val="64748B"/>
                </a:solidFill>
                <a:latin typeface="Source Sans 3, Arial" pitchFamily="34" charset="0"/>
                <a:ea typeface="Source Sans 3, Arial" pitchFamily="34" charset="-122"/>
                <a:cs typeface="Source Sans 3, Arial" pitchFamily="34" charset="-120"/>
              </a:rPr>
              <a:t>Can tolerate deeper pruning</a:t>
            </a:r>
            <a:endParaRPr lang="en-US" sz="900" dirty="0"/>
          </a:p>
        </p:txBody>
      </p:sp>
      <p:sp>
        <p:nvSpPr>
          <p:cNvPr id="34" name="Text 32"/>
          <p:cNvSpPr/>
          <p:nvPr/>
        </p:nvSpPr>
        <p:spPr>
          <a:xfrm>
            <a:off x="566928" y="3227832"/>
            <a:ext cx="2386584" cy="914400"/>
          </a:xfrm>
          <a:prstGeom prst="rect">
            <a:avLst/>
          </a:prstGeom>
          <a:noFill/>
          <a:ln/>
        </p:spPr>
        <p:txBody>
          <a:bodyPr wrap="square" rtlCol="0" anchor="ctr"/>
          <a:lstStyle/>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Flat sensitivity curve &amp; ΔmAP remains within project accuracy budget.</a:t>
            </a:r>
            <a:endParaRPr lang="en-US" sz="950" dirty="0"/>
          </a:p>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Decision: Higher pruning ratio is eligible; use highest validated ratio.</a:t>
            </a:r>
            <a:endParaRPr lang="en-US" sz="950" dirty="0"/>
          </a:p>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Typical: Intermediate / redundant backbone blocks.</a:t>
            </a:r>
            <a:endParaRPr lang="en-US" sz="950" dirty="0"/>
          </a:p>
        </p:txBody>
      </p:sp>
      <p:sp>
        <p:nvSpPr>
          <p:cNvPr id="35" name="Shape 33"/>
          <p:cNvSpPr/>
          <p:nvPr/>
        </p:nvSpPr>
        <p:spPr>
          <a:xfrm>
            <a:off x="3246120" y="2697480"/>
            <a:ext cx="2606040" cy="1508760"/>
          </a:xfrm>
          <a:prstGeom prst="roundRect">
            <a:avLst>
              <a:gd name="adj" fmla="val 4848"/>
            </a:avLst>
          </a:prstGeom>
          <a:solidFill>
            <a:srgbClr val="FEF3C7"/>
          </a:solidFill>
          <a:ln w="12700">
            <a:solidFill>
              <a:srgbClr val="D97706"/>
            </a:solidFill>
            <a:prstDash val="solid"/>
          </a:ln>
        </p:spPr>
      </p:sp>
      <p:sp>
        <p:nvSpPr>
          <p:cNvPr id="36" name="Text 34"/>
          <p:cNvSpPr/>
          <p:nvPr/>
        </p:nvSpPr>
        <p:spPr>
          <a:xfrm>
            <a:off x="3355848" y="2807208"/>
            <a:ext cx="2386584" cy="201168"/>
          </a:xfrm>
          <a:prstGeom prst="rect">
            <a:avLst/>
          </a:prstGeom>
          <a:noFill/>
          <a:ln/>
        </p:spPr>
        <p:txBody>
          <a:bodyPr wrap="square" rtlCol="0" anchor="ctr"/>
          <a:lstStyle/>
          <a:p>
            <a:pPr indent="0" marL="0">
              <a:buNone/>
            </a:pPr>
            <a:r>
              <a:rPr lang="en-US" sz="1050" b="1" dirty="0">
                <a:solidFill>
                  <a:srgbClr val="D97706"/>
                </a:solidFill>
                <a:latin typeface="Plus Jakarta Sans, Arial" pitchFamily="34" charset="0"/>
                <a:ea typeface="Plus Jakarta Sans, Arial" pitchFamily="34" charset="-122"/>
                <a:cs typeface="Plus Jakarta Sans, Arial" pitchFamily="34" charset="-120"/>
              </a:rPr>
              <a:t>🟡 TRANSITION / UNCERTAIN</a:t>
            </a:r>
            <a:endParaRPr lang="en-US" sz="1050" dirty="0"/>
          </a:p>
        </p:txBody>
      </p:sp>
      <p:sp>
        <p:nvSpPr>
          <p:cNvPr id="37" name="Text 35"/>
          <p:cNvSpPr/>
          <p:nvPr/>
        </p:nvSpPr>
        <p:spPr>
          <a:xfrm>
            <a:off x="3355848" y="3008376"/>
            <a:ext cx="2386584" cy="182880"/>
          </a:xfrm>
          <a:prstGeom prst="rect">
            <a:avLst/>
          </a:prstGeom>
          <a:noFill/>
          <a:ln/>
        </p:spPr>
        <p:txBody>
          <a:bodyPr wrap="square" rtlCol="0" anchor="ctr"/>
          <a:lstStyle/>
          <a:p>
            <a:pPr indent="0" marL="0">
              <a:buNone/>
            </a:pPr>
            <a:r>
              <a:rPr lang="en-US" sz="900" i="1" dirty="0">
                <a:solidFill>
                  <a:srgbClr val="64748B"/>
                </a:solidFill>
                <a:latin typeface="Source Sans 3, Arial" pitchFamily="34" charset="0"/>
                <a:ea typeface="Source Sans 3, Arial" pitchFamily="34" charset="-122"/>
                <a:cs typeface="Source Sans 3, Arial" pitchFamily="34" charset="-120"/>
              </a:rPr>
              <a:t>Moderate sensitivity curve</a:t>
            </a:r>
            <a:endParaRPr lang="en-US" sz="900" dirty="0"/>
          </a:p>
        </p:txBody>
      </p:sp>
      <p:sp>
        <p:nvSpPr>
          <p:cNvPr id="38" name="Text 36"/>
          <p:cNvSpPr/>
          <p:nvPr/>
        </p:nvSpPr>
        <p:spPr>
          <a:xfrm>
            <a:off x="3355848" y="3227832"/>
            <a:ext cx="2386584" cy="914400"/>
          </a:xfrm>
          <a:prstGeom prst="rect">
            <a:avLst/>
          </a:prstGeom>
          <a:noFill/>
          <a:ln/>
        </p:spPr>
        <p:txBody>
          <a:bodyPr wrap="square" rtlCol="0" anchor="ctr"/>
          <a:lstStyle/>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Moderate ΔmAP degradation near inflection point threshold.</a:t>
            </a:r>
            <a:endParaRPr lang="en-US" sz="950" dirty="0"/>
          </a:p>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Decision: Select conservative ratio; perform additional probing.</a:t>
            </a:r>
            <a:endParaRPr lang="en-US" sz="950" dirty="0"/>
          </a:p>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Typical: Neck feature fusion &amp; cross-scale attention layers.</a:t>
            </a:r>
            <a:endParaRPr lang="en-US" sz="950" dirty="0"/>
          </a:p>
        </p:txBody>
      </p:sp>
      <p:sp>
        <p:nvSpPr>
          <p:cNvPr id="39" name="Shape 37"/>
          <p:cNvSpPr/>
          <p:nvPr/>
        </p:nvSpPr>
        <p:spPr>
          <a:xfrm>
            <a:off x="6035040" y="2697480"/>
            <a:ext cx="2606040" cy="1508760"/>
          </a:xfrm>
          <a:prstGeom prst="roundRect">
            <a:avLst>
              <a:gd name="adj" fmla="val 4848"/>
            </a:avLst>
          </a:prstGeom>
          <a:solidFill>
            <a:srgbClr val="FEF2F2"/>
          </a:solidFill>
          <a:ln w="12700">
            <a:solidFill>
              <a:srgbClr val="EF4444"/>
            </a:solidFill>
            <a:prstDash val="solid"/>
          </a:ln>
        </p:spPr>
      </p:sp>
      <p:sp>
        <p:nvSpPr>
          <p:cNvPr id="40" name="Text 38"/>
          <p:cNvSpPr/>
          <p:nvPr/>
        </p:nvSpPr>
        <p:spPr>
          <a:xfrm>
            <a:off x="6144768" y="2807208"/>
            <a:ext cx="2386584" cy="201168"/>
          </a:xfrm>
          <a:prstGeom prst="rect">
            <a:avLst/>
          </a:prstGeom>
          <a:noFill/>
          <a:ln/>
        </p:spPr>
        <p:txBody>
          <a:bodyPr wrap="square" rtlCol="0" anchor="ctr"/>
          <a:lstStyle/>
          <a:p>
            <a:pPr indent="0" marL="0">
              <a:buNone/>
            </a:pPr>
            <a:r>
              <a:rPr lang="en-US" sz="1050" b="1" dirty="0">
                <a:solidFill>
                  <a:srgbClr val="DC2626"/>
                </a:solidFill>
                <a:latin typeface="Plus Jakarta Sans, Arial" pitchFamily="34" charset="0"/>
                <a:ea typeface="Plus Jakarta Sans, Arial" pitchFamily="34" charset="-122"/>
                <a:cs typeface="Plus Jakarta Sans, Arial" pitchFamily="34" charset="-120"/>
              </a:rPr>
              <a:t>🔴 SENSITIVE / HIGH-SENSITIVITY</a:t>
            </a:r>
            <a:endParaRPr lang="en-US" sz="1050" dirty="0"/>
          </a:p>
        </p:txBody>
      </p:sp>
      <p:sp>
        <p:nvSpPr>
          <p:cNvPr id="41" name="Text 39"/>
          <p:cNvSpPr/>
          <p:nvPr/>
        </p:nvSpPr>
        <p:spPr>
          <a:xfrm>
            <a:off x="6144768" y="3008376"/>
            <a:ext cx="2386584" cy="182880"/>
          </a:xfrm>
          <a:prstGeom prst="rect">
            <a:avLst/>
          </a:prstGeom>
          <a:noFill/>
          <a:ln/>
        </p:spPr>
        <p:txBody>
          <a:bodyPr wrap="square" rtlCol="0" anchor="ctr"/>
          <a:lstStyle/>
          <a:p>
            <a:pPr indent="0" marL="0">
              <a:buNone/>
            </a:pPr>
            <a:r>
              <a:rPr lang="en-US" sz="900" i="1" dirty="0">
                <a:solidFill>
                  <a:srgbClr val="64748B"/>
                </a:solidFill>
                <a:latin typeface="Source Sans 3, Arial" pitchFamily="34" charset="0"/>
                <a:ea typeface="Source Sans 3, Arial" pitchFamily="34" charset="-122"/>
                <a:cs typeface="Source Sans 3, Arial" pitchFamily="34" charset="-120"/>
              </a:rPr>
              <a:t>Protect or prune conservatively</a:t>
            </a:r>
            <a:endParaRPr lang="en-US" sz="900" dirty="0"/>
          </a:p>
        </p:txBody>
      </p:sp>
      <p:sp>
        <p:nvSpPr>
          <p:cNvPr id="42" name="Text 40"/>
          <p:cNvSpPr/>
          <p:nvPr/>
        </p:nvSpPr>
        <p:spPr>
          <a:xfrm>
            <a:off x="6144768" y="3227832"/>
            <a:ext cx="2386584" cy="914400"/>
          </a:xfrm>
          <a:prstGeom prst="rect">
            <a:avLst/>
          </a:prstGeom>
          <a:noFill/>
          <a:ln/>
        </p:spPr>
        <p:txBody>
          <a:bodyPr wrap="square" rtlCol="0" anchor="ctr"/>
          <a:lstStyle/>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Steep curve with rapid ΔmAP drop beyond accuracy budget.</a:t>
            </a:r>
            <a:endParaRPr lang="en-US" sz="950" dirty="0"/>
          </a:p>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Decision: Reduce pruning ratio or exclude / protect component.</a:t>
            </a:r>
            <a:endParaRPr lang="en-US" sz="950" dirty="0"/>
          </a:p>
          <a:p>
            <a:pPr indent="0" marL="0">
              <a:lnSpc>
                <a:spcPts val="1400"/>
              </a:lnSpc>
              <a:buNone/>
            </a:pPr>
            <a:r>
              <a:rPr lang="en-US" sz="950" dirty="0">
                <a:solidFill>
                  <a:srgbClr val="1E293B"/>
                </a:solidFill>
                <a:latin typeface="Source Sans 3, Arial" pitchFamily="34" charset="0"/>
                <a:ea typeface="Source Sans 3, Arial" pitchFamily="34" charset="-122"/>
                <a:cs typeface="Source Sans 3, Arial" pitchFamily="34" charset="-120"/>
              </a:rPr>
              <a:t>• Typical: Detection heads, output heads &amp; deep decoder layers.</a:t>
            </a:r>
            <a:endParaRPr lang="en-US" sz="950" dirty="0"/>
          </a:p>
        </p:txBody>
      </p:sp>
      <p:sp>
        <p:nvSpPr>
          <p:cNvPr id="43" name="Shape 41"/>
          <p:cNvSpPr/>
          <p:nvPr/>
        </p:nvSpPr>
        <p:spPr>
          <a:xfrm>
            <a:off x="457200" y="4297680"/>
            <a:ext cx="8229600" cy="548640"/>
          </a:xfrm>
          <a:prstGeom prst="roundRect">
            <a:avLst>
              <a:gd name="adj" fmla="val 10000"/>
            </a:avLst>
          </a:prstGeom>
          <a:solidFill>
            <a:srgbClr val="EFF6FF"/>
          </a:solidFill>
          <a:ln w="12700">
            <a:solidFill>
              <a:srgbClr val="2563EB"/>
            </a:solidFill>
            <a:prstDash val="solid"/>
          </a:ln>
        </p:spPr>
      </p:sp>
      <p:sp>
        <p:nvSpPr>
          <p:cNvPr id="44" name="Text 42"/>
          <p:cNvSpPr/>
          <p:nvPr/>
        </p:nvSpPr>
        <p:spPr>
          <a:xfrm>
            <a:off x="640080" y="4343400"/>
            <a:ext cx="7863840" cy="182880"/>
          </a:xfrm>
          <a:prstGeom prst="rect">
            <a:avLst/>
          </a:prstGeom>
          <a:noFill/>
          <a:ln/>
        </p:spPr>
        <p:txBody>
          <a:bodyPr wrap="square" rtlCol="0" anchor="ctr"/>
          <a:lstStyle/>
          <a:p>
            <a:pPr indent="0" marL="0">
              <a:buNone/>
            </a:pPr>
            <a:r>
              <a:rPr lang="en-US" sz="900" b="1" dirty="0">
                <a:solidFill>
                  <a:srgbClr val="2563EB"/>
                </a:solidFill>
                <a:latin typeface="Plus Jakarta Sans, Arial" pitchFamily="34" charset="0"/>
                <a:ea typeface="Plus Jakarta Sans, Arial" pitchFamily="34" charset="-122"/>
                <a:cs typeface="Plus Jakarta Sans, Arial" pitchFamily="34" charset="-120"/>
              </a:rPr>
              <a:t>EXAMPLE PROJECT ACCURACY BUDGET THRESHOLDS:</a:t>
            </a:r>
            <a:endParaRPr lang="en-US" sz="900" dirty="0"/>
          </a:p>
        </p:txBody>
      </p:sp>
      <p:sp>
        <p:nvSpPr>
          <p:cNvPr id="45" name="Text 43"/>
          <p:cNvSpPr/>
          <p:nvPr/>
        </p:nvSpPr>
        <p:spPr>
          <a:xfrm>
            <a:off x="640080" y="4544568"/>
            <a:ext cx="7863840" cy="256032"/>
          </a:xfrm>
          <a:prstGeom prst="rect">
            <a:avLst/>
          </a:prstGeom>
          <a:noFill/>
          <a:ln/>
        </p:spPr>
        <p:txBody>
          <a:bodyPr wrap="square" rtlCol="0" anchor="ctr"/>
          <a:lstStyle/>
          <a:p>
            <a:pPr indent="0" marL="0">
              <a:buNone/>
            </a:pPr>
            <a:r>
              <a:rPr lang="en-US" sz="950" b="1" dirty="0">
                <a:solidFill>
                  <a:srgbClr val="1E293B"/>
                </a:solidFill>
                <a:latin typeface="Source Sans 3, Arial" pitchFamily="34" charset="0"/>
                <a:ea typeface="Source Sans 3, Arial" pitchFamily="34" charset="-122"/>
                <a:cs typeface="Source Sans 3, Arial" pitchFamily="34" charset="-120"/>
              </a:rPr>
              <a:t>🟢 Safe Zone: ΔmAP ≤ 0.5% (Higher ratio eligible)   |   🟡 Transition Zone: 0.5% – 1.5% (Conservative ratio)   |   🔴 Sensitive Zone: ΔmAP ≥ 1.5% (Protect / Light ratio)</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12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Implementation Plan</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Kế hoạch triển khai kỹ thuật đã chọn cho YOLO và DETR (Step 5 Preparation)</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2011680"/>
                <a:gridCol w="3108960"/>
                <a:gridCol w="3108960"/>
              </a:tblGrid>
              <a:tr h="0">
                <a:tc>
                  <a:txBody>
                    <a:bodyPr/>
                    <a:lstStyle/>
                    <a:p>
                      <a:pPr algn="ctr" indent="0" marL="0">
                        <a:buNone/>
                      </a:pPr>
                      <a:r>
                        <a:rPr lang="en-US" sz="1100" b="1" dirty="0">
                          <a:solidFill>
                            <a:srgbClr val="FFFFFF"/>
                          </a:solidFill>
                          <a:latin typeface="Source Sans 3, Arial" pitchFamily="34" charset="0"/>
                          <a:ea typeface="Source Sans 3, Arial" pitchFamily="34" charset="-122"/>
                          <a:cs typeface="Source Sans 3, Arial" pitchFamily="34" charset="-120"/>
                        </a:rPr>
                        <a:t>Hạng mục Triển khai</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100" b="1" dirty="0">
                          <a:solidFill>
                            <a:srgbClr val="FFFFFF"/>
                          </a:solidFill>
                          <a:latin typeface="Source Sans 3, Arial" pitchFamily="34" charset="0"/>
                          <a:ea typeface="Source Sans 3, Arial" pitchFamily="34" charset="-122"/>
                          <a:cs typeface="Source Sans 3, Arial" pitchFamily="34" charset="-120"/>
                        </a:rPr>
                        <a:t>YOLO Implementation Plan</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100" b="1" dirty="0">
                          <a:solidFill>
                            <a:srgbClr val="FFFFFF"/>
                          </a:solidFill>
                          <a:latin typeface="Source Sans 3, Arial" pitchFamily="34" charset="0"/>
                          <a:ea typeface="Source Sans 3, Arial" pitchFamily="34" charset="-122"/>
                          <a:cs typeface="Source Sans 3, Arial" pitchFamily="34" charset="-120"/>
                        </a:rPr>
                        <a:t>DETR Implementation Plan</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0">
                <a:tc>
                  <a:txBody>
                    <a:bodyPr/>
                    <a:lstStyle/>
                    <a:p>
                      <a:pPr indent="0" marL="0">
                        <a:buNone/>
                      </a:pPr>
                      <a:r>
                        <a:rPr lang="en-US" sz="1100" b="1" dirty="0">
                          <a:solidFill>
                            <a:srgbClr val="000000"/>
                          </a:solidFill>
                          <a:latin typeface="Source Sans 3, Arial" pitchFamily="34" charset="0"/>
                          <a:ea typeface="Source Sans 3, Arial" pitchFamily="34" charset="-122"/>
                          <a:cs typeface="Source Sans 3, Arial" pitchFamily="34" charset="-120"/>
                        </a:rPr>
                        <a:t>Tooling Framework</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Torch-Pruning (DepGraph engine)</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Torch-Pruning + Custom Attention/Query masking</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100" b="1" dirty="0">
                          <a:solidFill>
                            <a:srgbClr val="000000"/>
                          </a:solidFill>
                          <a:latin typeface="Source Sans 3, Arial" pitchFamily="34" charset="0"/>
                          <a:ea typeface="Source Sans 3, Arial" pitchFamily="34" charset="-122"/>
                          <a:cs typeface="Source Sans 3, Arial" pitchFamily="34" charset="-120"/>
                        </a:rPr>
                        <a:t>Criterion Implementation</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Taylor Expansion + BN-γ scaling factor</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Taylor (Backbone) + Movement/Entropy (Enc/Dec)</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0000"/>
                          </a:solidFill>
                          <a:latin typeface="Source Sans 3, Arial" pitchFamily="34" charset="0"/>
                          <a:ea typeface="Source Sans 3, Arial" pitchFamily="34" charset="-122"/>
                          <a:cs typeface="Source Sans 3, Arial" pitchFamily="34" charset="-120"/>
                        </a:rPr>
                        <a:t>Fine-tune Protocol</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Standard SGD, Cosine LR scheduler with warm restart</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AdamW, Learning Rate nhỏ hơn (Transformer nhạy LR)</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100" b="1" dirty="0">
                          <a:solidFill>
                            <a:srgbClr val="000000"/>
                          </a:solidFill>
                          <a:latin typeface="Source Sans 3, Arial" pitchFamily="34" charset="0"/>
                          <a:ea typeface="Source Sans 3, Arial" pitchFamily="34" charset="-122"/>
                          <a:cs typeface="Source Sans 3, Arial" pitchFamily="34" charset="-120"/>
                        </a:rPr>
                        <a:t>Iteration Loop</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3–5 vòng prune-finetune liên tục</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3–5 vòng, theo dõi chặt chẽ hiện tượng query collapse</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000000"/>
                          </a:solidFill>
                          <a:latin typeface="Source Sans 3, Arial" pitchFamily="34" charset="0"/>
                          <a:ea typeface="Source Sans 3, Arial" pitchFamily="34" charset="-122"/>
                          <a:cs typeface="Source Sans 3, Arial" pitchFamily="34" charset="-120"/>
                        </a:rPr>
                        <a:t>Output Artifact</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Pruned YOLO Model -&gt; Chuyển Step 6 Recovery</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100" dirty="0">
                          <a:solidFill>
                            <a:srgbClr val="000000"/>
                          </a:solidFill>
                          <a:latin typeface="Source Sans 3, Arial" pitchFamily="34" charset="0"/>
                          <a:ea typeface="Source Sans 3, Arial" pitchFamily="34" charset="-122"/>
                          <a:cs typeface="Source Sans 3, Arial" pitchFamily="34" charset="-120"/>
                        </a:rPr>
                        <a:t>Pruned DETR Model -&gt; Chuyển Step 6 Recovery</a:t>
                      </a:r>
                      <a:endParaRPr lang="en-US" sz="11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13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Benchmark Methodology</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Định nghĩa cách đo lường &amp; so sánh model trước/sau Pruning (Step 7 Protocol)</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2606040" cy="3429000"/>
          </a:xfrm>
          <a:prstGeom prst="roundRect">
            <a:avLst>
              <a:gd name="adj" fmla="val 2807"/>
            </a:avLst>
          </a:prstGeom>
          <a:solidFill>
            <a:srgbClr val="F8F9FA"/>
          </a:solidFill>
          <a:ln w="12700">
            <a:solidFill>
              <a:srgbClr val="E2E8F0"/>
            </a:solidFill>
            <a:prstDash val="solid"/>
          </a:ln>
        </p:spPr>
      </p:sp>
      <p:sp>
        <p:nvSpPr>
          <p:cNvPr id="8" name="Shape 6"/>
          <p:cNvSpPr/>
          <p:nvPr/>
        </p:nvSpPr>
        <p:spPr>
          <a:xfrm>
            <a:off x="594360" y="1554480"/>
            <a:ext cx="2331720" cy="411480"/>
          </a:xfrm>
          <a:prstGeom prst="roundRect">
            <a:avLst>
              <a:gd name="adj" fmla="val 11111"/>
            </a:avLst>
          </a:prstGeom>
          <a:solidFill>
            <a:srgbClr val="2563EB"/>
          </a:solidFill>
          <a:ln/>
        </p:spPr>
      </p:sp>
      <p:sp>
        <p:nvSpPr>
          <p:cNvPr id="9" name="Text 7"/>
          <p:cNvSpPr/>
          <p:nvPr/>
        </p:nvSpPr>
        <p:spPr>
          <a:xfrm>
            <a:off x="640080" y="1572768"/>
            <a:ext cx="2240280" cy="201168"/>
          </a:xfrm>
          <a:prstGeom prst="rect">
            <a:avLst/>
          </a:prstGeom>
          <a:noFill/>
          <a:ln/>
        </p:spPr>
        <p:txBody>
          <a:bodyPr wrap="square" rtlCol="0" anchor="ctr"/>
          <a:lstStyle/>
          <a:p>
            <a:pPr algn="ctr" indent="0" marL="0">
              <a:buNone/>
            </a:pPr>
            <a:r>
              <a:rPr lang="en-US" sz="1100" b="1" dirty="0">
                <a:solidFill>
                  <a:srgbClr val="FFFFFF"/>
                </a:solidFill>
                <a:latin typeface="Plus Jakarta Sans, Arial" pitchFamily="34" charset="0"/>
                <a:ea typeface="Plus Jakarta Sans, Arial" pitchFamily="34" charset="-122"/>
                <a:cs typeface="Plus Jakarta Sans, Arial" pitchFamily="34" charset="-120"/>
              </a:rPr>
              <a:t>ACCURACY METRICS</a:t>
            </a:r>
            <a:endParaRPr lang="en-US" sz="1100" dirty="0"/>
          </a:p>
        </p:txBody>
      </p:sp>
      <p:sp>
        <p:nvSpPr>
          <p:cNvPr id="10" name="Text 8"/>
          <p:cNvSpPr/>
          <p:nvPr/>
        </p:nvSpPr>
        <p:spPr>
          <a:xfrm>
            <a:off x="640080" y="1764792"/>
            <a:ext cx="2240280" cy="164592"/>
          </a:xfrm>
          <a:prstGeom prst="rect">
            <a:avLst/>
          </a:prstGeom>
          <a:noFill/>
          <a:ln/>
        </p:spPr>
        <p:txBody>
          <a:bodyPr wrap="square" rtlCol="0" anchor="ctr"/>
          <a:lstStyle/>
          <a:p>
            <a:pPr algn="ctr" indent="0" marL="0">
              <a:buNone/>
            </a:pPr>
            <a:r>
              <a:rPr lang="en-US" sz="800" dirty="0">
                <a:solidFill>
                  <a:srgbClr val="FFFFFF"/>
                </a:solidFill>
                <a:latin typeface="Source Sans 3, Arial" pitchFamily="34" charset="0"/>
                <a:ea typeface="Source Sans 3, Arial" pitchFamily="34" charset="-122"/>
                <a:cs typeface="Source Sans 3, Arial" pitchFamily="34" charset="-120"/>
              </a:rPr>
              <a:t>ĐỘ CHÍNH XÁC</a:t>
            </a:r>
            <a:endParaRPr lang="en-US" sz="800" dirty="0"/>
          </a:p>
        </p:txBody>
      </p:sp>
      <p:sp>
        <p:nvSpPr>
          <p:cNvPr id="11" name="Text 9"/>
          <p:cNvSpPr/>
          <p:nvPr/>
        </p:nvSpPr>
        <p:spPr>
          <a:xfrm>
            <a:off x="594360" y="2103120"/>
            <a:ext cx="2331720" cy="2606040"/>
          </a:xfrm>
          <a:prstGeom prst="rect">
            <a:avLst/>
          </a:prstGeom>
          <a:noFill/>
          <a:ln/>
        </p:spPr>
        <p:txBody>
          <a:bodyPr wrap="square" rtlCol="0" anchor="t"/>
          <a:lstStyle/>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mAP@0.5: Ngưỡng phát hiện mAP tiêu chuẩn tại IoU=0.5.</a:t>
            </a: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mAP@0.5:0.95: Chỉ số tổng hợp chuẩn COCO dataset.</a:t>
            </a: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Tolerance Constraint: Yêu cầu Δ mAP ≤ 2.0 điểm so với Baseline model.</a:t>
            </a:r>
            <a:endParaRPr lang="en-US" sz="1100" dirty="0"/>
          </a:p>
        </p:txBody>
      </p:sp>
      <p:sp>
        <p:nvSpPr>
          <p:cNvPr id="12" name="Shape 10"/>
          <p:cNvSpPr/>
          <p:nvPr/>
        </p:nvSpPr>
        <p:spPr>
          <a:xfrm>
            <a:off x="3246120" y="1417320"/>
            <a:ext cx="2606040" cy="3429000"/>
          </a:xfrm>
          <a:prstGeom prst="roundRect">
            <a:avLst>
              <a:gd name="adj" fmla="val 2807"/>
            </a:avLst>
          </a:prstGeom>
          <a:solidFill>
            <a:srgbClr val="F8F9FA"/>
          </a:solidFill>
          <a:ln w="12700">
            <a:solidFill>
              <a:srgbClr val="E2E8F0"/>
            </a:solidFill>
            <a:prstDash val="solid"/>
          </a:ln>
        </p:spPr>
      </p:sp>
      <p:sp>
        <p:nvSpPr>
          <p:cNvPr id="13" name="Shape 11"/>
          <p:cNvSpPr/>
          <p:nvPr/>
        </p:nvSpPr>
        <p:spPr>
          <a:xfrm>
            <a:off x="3383280" y="1554480"/>
            <a:ext cx="2331720" cy="411480"/>
          </a:xfrm>
          <a:prstGeom prst="roundRect">
            <a:avLst>
              <a:gd name="adj" fmla="val 11111"/>
            </a:avLst>
          </a:prstGeom>
          <a:solidFill>
            <a:srgbClr val="7C3AED"/>
          </a:solidFill>
          <a:ln/>
        </p:spPr>
      </p:sp>
      <p:sp>
        <p:nvSpPr>
          <p:cNvPr id="14" name="Text 12"/>
          <p:cNvSpPr/>
          <p:nvPr/>
        </p:nvSpPr>
        <p:spPr>
          <a:xfrm>
            <a:off x="3429000" y="1572768"/>
            <a:ext cx="2240280" cy="201168"/>
          </a:xfrm>
          <a:prstGeom prst="rect">
            <a:avLst/>
          </a:prstGeom>
          <a:noFill/>
          <a:ln/>
        </p:spPr>
        <p:txBody>
          <a:bodyPr wrap="square" rtlCol="0" anchor="ctr"/>
          <a:lstStyle/>
          <a:p>
            <a:pPr algn="ctr" indent="0" marL="0">
              <a:buNone/>
            </a:pPr>
            <a:r>
              <a:rPr lang="en-US" sz="1100" b="1" dirty="0">
                <a:solidFill>
                  <a:srgbClr val="FFFFFF"/>
                </a:solidFill>
                <a:latin typeface="Plus Jakarta Sans, Arial" pitchFamily="34" charset="0"/>
                <a:ea typeface="Plus Jakarta Sans, Arial" pitchFamily="34" charset="-122"/>
                <a:cs typeface="Plus Jakarta Sans, Arial" pitchFamily="34" charset="-120"/>
              </a:rPr>
              <a:t>EFFICIENCY METRICS</a:t>
            </a:r>
            <a:endParaRPr lang="en-US" sz="1100" dirty="0"/>
          </a:p>
        </p:txBody>
      </p:sp>
      <p:sp>
        <p:nvSpPr>
          <p:cNvPr id="15" name="Text 13"/>
          <p:cNvSpPr/>
          <p:nvPr/>
        </p:nvSpPr>
        <p:spPr>
          <a:xfrm>
            <a:off x="3429000" y="1764792"/>
            <a:ext cx="2240280" cy="164592"/>
          </a:xfrm>
          <a:prstGeom prst="rect">
            <a:avLst/>
          </a:prstGeom>
          <a:noFill/>
          <a:ln/>
        </p:spPr>
        <p:txBody>
          <a:bodyPr wrap="square" rtlCol="0" anchor="ctr"/>
          <a:lstStyle/>
          <a:p>
            <a:pPr algn="ctr" indent="0" marL="0">
              <a:buNone/>
            </a:pPr>
            <a:r>
              <a:rPr lang="en-US" sz="800" dirty="0">
                <a:solidFill>
                  <a:srgbClr val="FFFFFF"/>
                </a:solidFill>
                <a:latin typeface="Source Sans 3, Arial" pitchFamily="34" charset="0"/>
                <a:ea typeface="Source Sans 3, Arial" pitchFamily="34" charset="-122"/>
                <a:cs typeface="Source Sans 3, Arial" pitchFamily="34" charset="-120"/>
              </a:rPr>
              <a:t>HIỆU QUẢ CẤU TRÚC</a:t>
            </a:r>
            <a:endParaRPr lang="en-US" sz="800" dirty="0"/>
          </a:p>
        </p:txBody>
      </p:sp>
      <p:sp>
        <p:nvSpPr>
          <p:cNvPr id="16" name="Text 14"/>
          <p:cNvSpPr/>
          <p:nvPr/>
        </p:nvSpPr>
        <p:spPr>
          <a:xfrm>
            <a:off x="3383280" y="2103120"/>
            <a:ext cx="2331720" cy="2606040"/>
          </a:xfrm>
          <a:prstGeom prst="rect">
            <a:avLst/>
          </a:prstGeom>
          <a:noFill/>
          <a:ln/>
        </p:spPr>
        <p:txBody>
          <a:bodyPr wrap="square" rtlCol="0" anchor="t"/>
          <a:lstStyle/>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Parameters (M): Tổng số lượng tham số mô hình sau nén.</a:t>
            </a: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FLOPs / GMACs (G): Số lượng phép tính số thực phẩy động.</a:t>
            </a: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Model Size (MB): Dung lượng file trọng số lưu trữ (ONNX/PT).</a:t>
            </a:r>
            <a:endParaRPr lang="en-US" sz="1100" dirty="0"/>
          </a:p>
        </p:txBody>
      </p:sp>
      <p:sp>
        <p:nvSpPr>
          <p:cNvPr id="17" name="Shape 15"/>
          <p:cNvSpPr/>
          <p:nvPr/>
        </p:nvSpPr>
        <p:spPr>
          <a:xfrm>
            <a:off x="6035040" y="1417320"/>
            <a:ext cx="2606040" cy="3429000"/>
          </a:xfrm>
          <a:prstGeom prst="roundRect">
            <a:avLst>
              <a:gd name="adj" fmla="val 2807"/>
            </a:avLst>
          </a:prstGeom>
          <a:solidFill>
            <a:srgbClr val="F8F9FA"/>
          </a:solidFill>
          <a:ln w="12700">
            <a:solidFill>
              <a:srgbClr val="E2E8F0"/>
            </a:solidFill>
            <a:prstDash val="solid"/>
          </a:ln>
        </p:spPr>
      </p:sp>
      <p:sp>
        <p:nvSpPr>
          <p:cNvPr id="18" name="Shape 16"/>
          <p:cNvSpPr/>
          <p:nvPr/>
        </p:nvSpPr>
        <p:spPr>
          <a:xfrm>
            <a:off x="6172200" y="1554480"/>
            <a:ext cx="2331720" cy="411480"/>
          </a:xfrm>
          <a:prstGeom prst="roundRect">
            <a:avLst>
              <a:gd name="adj" fmla="val 11111"/>
            </a:avLst>
          </a:prstGeom>
          <a:solidFill>
            <a:srgbClr val="059669"/>
          </a:solidFill>
          <a:ln/>
        </p:spPr>
      </p:sp>
      <p:sp>
        <p:nvSpPr>
          <p:cNvPr id="19" name="Text 17"/>
          <p:cNvSpPr/>
          <p:nvPr/>
        </p:nvSpPr>
        <p:spPr>
          <a:xfrm>
            <a:off x="6217920" y="1572768"/>
            <a:ext cx="2240280" cy="201168"/>
          </a:xfrm>
          <a:prstGeom prst="rect">
            <a:avLst/>
          </a:prstGeom>
          <a:noFill/>
          <a:ln/>
        </p:spPr>
        <p:txBody>
          <a:bodyPr wrap="square" rtlCol="0" anchor="ctr"/>
          <a:lstStyle/>
          <a:p>
            <a:pPr algn="ctr" indent="0" marL="0">
              <a:buNone/>
            </a:pPr>
            <a:r>
              <a:rPr lang="en-US" sz="1100" b="1" dirty="0">
                <a:solidFill>
                  <a:srgbClr val="FFFFFF"/>
                </a:solidFill>
                <a:latin typeface="Plus Jakarta Sans, Arial" pitchFamily="34" charset="0"/>
                <a:ea typeface="Plus Jakarta Sans, Arial" pitchFamily="34" charset="-122"/>
                <a:cs typeface="Plus Jakarta Sans, Arial" pitchFamily="34" charset="-120"/>
              </a:rPr>
              <a:t>RUNTIME PERFORMANCE</a:t>
            </a:r>
            <a:endParaRPr lang="en-US" sz="1100" dirty="0"/>
          </a:p>
        </p:txBody>
      </p:sp>
      <p:sp>
        <p:nvSpPr>
          <p:cNvPr id="20" name="Text 18"/>
          <p:cNvSpPr/>
          <p:nvPr/>
        </p:nvSpPr>
        <p:spPr>
          <a:xfrm>
            <a:off x="6217920" y="1764792"/>
            <a:ext cx="2240280" cy="164592"/>
          </a:xfrm>
          <a:prstGeom prst="rect">
            <a:avLst/>
          </a:prstGeom>
          <a:noFill/>
          <a:ln/>
        </p:spPr>
        <p:txBody>
          <a:bodyPr wrap="square" rtlCol="0" anchor="ctr"/>
          <a:lstStyle/>
          <a:p>
            <a:pPr algn="ctr" indent="0" marL="0">
              <a:buNone/>
            </a:pPr>
            <a:r>
              <a:rPr lang="en-US" sz="800" dirty="0">
                <a:solidFill>
                  <a:srgbClr val="FFFFFF"/>
                </a:solidFill>
                <a:latin typeface="Source Sans 3, Arial" pitchFamily="34" charset="0"/>
                <a:ea typeface="Source Sans 3, Arial" pitchFamily="34" charset="-122"/>
                <a:cs typeface="Source Sans 3, Arial" pitchFamily="34" charset="-120"/>
              </a:rPr>
              <a:t>TỐC ĐỘ THỰC TẾ</a:t>
            </a:r>
            <a:endParaRPr lang="en-US" sz="800" dirty="0"/>
          </a:p>
        </p:txBody>
      </p:sp>
      <p:sp>
        <p:nvSpPr>
          <p:cNvPr id="21" name="Text 19"/>
          <p:cNvSpPr/>
          <p:nvPr/>
        </p:nvSpPr>
        <p:spPr>
          <a:xfrm>
            <a:off x="6172200" y="2103120"/>
            <a:ext cx="2331720" cy="2606040"/>
          </a:xfrm>
          <a:prstGeom prst="rect">
            <a:avLst/>
          </a:prstGeom>
          <a:noFill/>
          <a:ln/>
        </p:spPr>
        <p:txBody>
          <a:bodyPr wrap="square" rtlCol="0" anchor="t"/>
          <a:lstStyle/>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Latency (ms): Độ trễ xử lý 1 frame hình ảnh trên Target Hardware.</a:t>
            </a: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Throughput (FPS): Tốc độ khung hình thực tế.</a:t>
            </a:r>
            <a:endParaRPr lang="en-US" sz="1100" dirty="0"/>
          </a:p>
          <a:p>
            <a:pPr indent="0" marL="0">
              <a:lnSpc>
                <a:spcPts val="1800"/>
              </a:lnSpc>
              <a:buNone/>
            </a:pPr>
            <a:r>
              <a:rPr lang="en-US" sz="1100" dirty="0">
                <a:solidFill>
                  <a:srgbClr val="1E293B"/>
                </a:solidFill>
                <a:latin typeface="Source Sans 3, Arial" pitchFamily="34" charset="0"/>
                <a:ea typeface="Source Sans 3, Arial" pitchFamily="34" charset="-122"/>
                <a:cs typeface="Source Sans 3, Arial" pitchFamily="34" charset="-120"/>
              </a:rPr>
              <a:t>• Hardware Target: Đo lường đồng thời trên GPU Server &amp; Edge NPU.</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14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BENCHMARK COMPARISON TABLE (YOLO vs DETR)</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Trình bày kết quả định lượng trước/sau Pruning trên Target Hardware (Step 7 Verification)</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188720"/>
                <a:gridCol w="1554480"/>
                <a:gridCol w="1005840"/>
                <a:gridCol w="822960"/>
                <a:gridCol w="822960"/>
                <a:gridCol w="731520"/>
                <a:gridCol w="822960"/>
                <a:gridCol w="548640"/>
                <a:gridCol w="731520"/>
              </a:tblGrid>
              <a:tr h="0">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Model Kiến trúc</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Trạng thái</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mAP@0.5:0.95</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Params (M)</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FLOPs (G)</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Size (MB)</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Latency (ms)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FPS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algn="ctr" indent="0" marL="0">
                        <a:buNone/>
                      </a:pPr>
                      <a:r>
                        <a:rPr lang="en-US" sz="1000" b="1" dirty="0">
                          <a:solidFill>
                            <a:srgbClr val="FFFFFF"/>
                          </a:solidFill>
                          <a:latin typeface="Source Sans 3, Arial" pitchFamily="34" charset="0"/>
                          <a:ea typeface="Source Sans 3, Arial" pitchFamily="34" charset="-122"/>
                          <a:cs typeface="Source Sans 3, Arial" pitchFamily="34" charset="-120"/>
                        </a:rPr>
                        <a:t>Target Met?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YOLOv8-s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Baseline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44.9</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11.2</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28.6</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22.5</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6.8</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147</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YOLOv8-s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1000" b="1" dirty="0">
                          <a:solidFill>
                            <a:srgbClr val="059669"/>
                          </a:solidFill>
                          <a:latin typeface="Source Sans 3, Arial" pitchFamily="34" charset="0"/>
                          <a:ea typeface="Source Sans 3, Arial" pitchFamily="34" charset="-122"/>
                          <a:cs typeface="Source Sans 3, Arial" pitchFamily="34" charset="-120"/>
                        </a:rPr>
                        <a:t>Pruned (Structured 40%)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43.6 (-1.3)</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6.7 (-40%)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17.2 (-40%)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13.6 (-39%)</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4.2 (-38%)</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238 (+62%)</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59669"/>
                          </a:solidFill>
                          <a:latin typeface="Source Sans 3, Arial" pitchFamily="34" charset="0"/>
                          <a:ea typeface="Source Sans 3, Arial" pitchFamily="34" charset="-122"/>
                          <a:cs typeface="Source Sans 3, Arial" pitchFamily="34" charset="-120"/>
                        </a:rPr>
                        <a:t>✅ YES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RT-DETR-R50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Baseline</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53.1</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42.0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136.0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165.0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15.0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66</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9FA"/>
                    </a:solidFill>
                  </a:tcPr>
                </a:tc>
              </a:tr>
              <a:tr h="0">
                <a:tc>
                  <a:txBody>
                    <a:bodyPr/>
                    <a:lstStyle/>
                    <a:p>
                      <a:pP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RT-DETR-R50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indent="0" marL="0">
                        <a:buNone/>
                      </a:pPr>
                      <a:r>
                        <a:rPr lang="en-US" sz="1000" b="1" dirty="0">
                          <a:solidFill>
                            <a:srgbClr val="059669"/>
                          </a:solidFill>
                          <a:latin typeface="Source Sans 3, Arial" pitchFamily="34" charset="0"/>
                          <a:ea typeface="Source Sans 3, Arial" pitchFamily="34" charset="-122"/>
                          <a:cs typeface="Source Sans 3, Arial" pitchFamily="34" charset="-120"/>
                        </a:rPr>
                        <a:t>Pruned (Chan+Head+Query)</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51.4 (-1.7)</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27.5 (-35%)</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88.4 (-35%)</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dirty="0">
                          <a:solidFill>
                            <a:srgbClr val="000000"/>
                          </a:solidFill>
                          <a:latin typeface="Source Sans 3, Arial" pitchFamily="34" charset="0"/>
                          <a:ea typeface="Source Sans 3, Arial" pitchFamily="34" charset="-122"/>
                          <a:cs typeface="Source Sans 3, Arial" pitchFamily="34" charset="-120"/>
                        </a:rPr>
                        <a:t>108.0 (-35%)</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10.1 (-33%)</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00000"/>
                          </a:solidFill>
                          <a:latin typeface="Source Sans 3, Arial" pitchFamily="34" charset="0"/>
                          <a:ea typeface="Source Sans 3, Arial" pitchFamily="34" charset="-122"/>
                          <a:cs typeface="Source Sans 3, Arial" pitchFamily="34" charset="-120"/>
                        </a:rPr>
                        <a:t>99 (+50%)</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c>
                  <a:txBody>
                    <a:bodyPr/>
                    <a:lstStyle/>
                    <a:p>
                      <a:pPr algn="ctr" indent="0" marL="0">
                        <a:buNone/>
                      </a:pPr>
                      <a:r>
                        <a:rPr lang="en-US" sz="1000" b="1" dirty="0">
                          <a:solidFill>
                            <a:srgbClr val="059669"/>
                          </a:solidFill>
                          <a:latin typeface="Source Sans 3, Arial" pitchFamily="34" charset="0"/>
                          <a:ea typeface="Source Sans 3, Arial" pitchFamily="34" charset="-122"/>
                          <a:cs typeface="Source Sans 3, Arial" pitchFamily="34" charset="-120"/>
                        </a:rPr>
                        <a:t>✅ YES</a:t>
                      </a:r>
                      <a:endParaRPr lang="en-US" sz="1000" dirty="0">
                        <a:latin typeface="Source Sans 3, Arial" charset="0"/>
                        <a:ea typeface="Source Sans 3, Arial" charset="0"/>
                        <a:cs typeface="Source Sans 3, Arial"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CFDF5"/>
                    </a:solidFill>
                  </a:tcPr>
                </a:tc>
              </a:tr>
            </a:tbl>
          </a:graphicData>
        </a:graphic>
      </p:graphicFrame>
      <p:sp>
        <p:nvSpPr>
          <p:cNvPr id="8" name="Shape 5"/>
          <p:cNvSpPr/>
          <p:nvPr/>
        </p:nvSpPr>
        <p:spPr>
          <a:xfrm>
            <a:off x="457200" y="3977640"/>
            <a:ext cx="8229600" cy="868680"/>
          </a:xfrm>
          <a:prstGeom prst="roundRect">
            <a:avLst>
              <a:gd name="adj" fmla="val 8421"/>
            </a:avLst>
          </a:prstGeom>
          <a:solidFill>
            <a:srgbClr val="EFF6FF"/>
          </a:solidFill>
          <a:ln w="12700">
            <a:solidFill>
              <a:srgbClr val="2563EB"/>
            </a:solidFill>
            <a:prstDash val="solid"/>
          </a:ln>
        </p:spPr>
      </p:sp>
      <p:sp>
        <p:nvSpPr>
          <p:cNvPr id="9" name="Text 6"/>
          <p:cNvSpPr/>
          <p:nvPr/>
        </p:nvSpPr>
        <p:spPr>
          <a:xfrm>
            <a:off x="640080" y="4069080"/>
            <a:ext cx="7863840" cy="228600"/>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KẾT LUẬN BENCHMARK (STEP 7 VERIFICATION)</a:t>
            </a:r>
            <a:endParaRPr lang="en-US" sz="1000" dirty="0"/>
          </a:p>
        </p:txBody>
      </p:sp>
      <p:sp>
        <p:nvSpPr>
          <p:cNvPr id="10" name="Text 7"/>
          <p:cNvSpPr/>
          <p:nvPr/>
        </p:nvSpPr>
        <p:spPr>
          <a:xfrm>
            <a:off x="640080" y="4297680"/>
            <a:ext cx="7863840" cy="457200"/>
          </a:xfrm>
          <a:prstGeom prst="rect">
            <a:avLst/>
          </a:prstGeom>
          <a:noFill/>
          <a:ln/>
        </p:spPr>
        <p:txBody>
          <a:bodyPr wrap="square" rtlCol="0" anchor="ctr"/>
          <a:lstStyle/>
          <a:p>
            <a:pPr indent="0" marL="0">
              <a:buNone/>
            </a:pPr>
            <a:r>
              <a:rPr lang="en-US" sz="1100" dirty="0">
                <a:solidFill>
                  <a:srgbClr val="1E293B"/>
                </a:solidFill>
                <a:latin typeface="Source Sans 3, Arial" pitchFamily="34" charset="0"/>
                <a:ea typeface="Source Sans 3, Arial" pitchFamily="34" charset="-122"/>
                <a:cs typeface="Source Sans 3, Arial" pitchFamily="34" charset="-120"/>
              </a:rPr>
              <a:t>• Cả YOLOv8-s và RT-DETR-R50 đều đạt chỉ tiêu mAP delta ≤ 2.0 điểm.</a:t>
            </a:r>
            <a:endParaRPr lang="en-US" sz="1100" dirty="0"/>
          </a:p>
          <a:p>
            <a:pPr indent="0" marL="0">
              <a:buNone/>
            </a:pPr>
            <a:r>
              <a:rPr lang="en-US" sz="1100" dirty="0">
                <a:solidFill>
                  <a:srgbClr val="1E293B"/>
                </a:solidFill>
                <a:latin typeface="Source Sans 3, Arial" pitchFamily="34" charset="0"/>
                <a:ea typeface="Source Sans 3, Arial" pitchFamily="34" charset="-122"/>
                <a:cs typeface="Source Sans 3, Arial" pitchFamily="34" charset="-120"/>
              </a:rPr>
              <a:t>• Tốc độ xử lý tăng đáng kể: YOLO đạt 238 FPS (+62%), RT-DETR đạt 99 FPS (+50%), giảm 35-40% FLOPs và Params.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15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Final Pruning Policy</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Tổng hợp Policy cuối cùng sau khi Benchmark đạt Target (Step 4/8 Finalization)</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4023360" cy="3429000"/>
          </a:xfrm>
          <a:prstGeom prst="roundRect">
            <a:avLst>
              <a:gd name="adj" fmla="val 2133"/>
            </a:avLst>
          </a:prstGeom>
          <a:solidFill>
            <a:srgbClr val="F8F9FA"/>
          </a:solidFill>
          <a:ln w="12700">
            <a:solidFill>
              <a:srgbClr val="CBD5E1"/>
            </a:solidFill>
            <a:prstDash val="solid"/>
          </a:ln>
        </p:spPr>
      </p:sp>
      <p:sp>
        <p:nvSpPr>
          <p:cNvPr id="8" name="Shape 6"/>
          <p:cNvSpPr/>
          <p:nvPr/>
        </p:nvSpPr>
        <p:spPr>
          <a:xfrm>
            <a:off x="594360" y="1554480"/>
            <a:ext cx="3749040" cy="365760"/>
          </a:xfrm>
          <a:prstGeom prst="roundRect">
            <a:avLst>
              <a:gd name="adj" fmla="val 10000"/>
            </a:avLst>
          </a:prstGeom>
          <a:solidFill>
            <a:srgbClr val="2563EB"/>
          </a:solidFill>
          <a:ln/>
        </p:spPr>
      </p:sp>
      <p:sp>
        <p:nvSpPr>
          <p:cNvPr id="9" name="Text 7"/>
          <p:cNvSpPr/>
          <p:nvPr/>
        </p:nvSpPr>
        <p:spPr>
          <a:xfrm>
            <a:off x="640080" y="1554480"/>
            <a:ext cx="3657600" cy="36576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YOLO FINAL PRUNING POLICY</a:t>
            </a:r>
            <a:endParaRPr lang="en-US" sz="1200" dirty="0"/>
          </a:p>
        </p:txBody>
      </p:sp>
      <p:sp>
        <p:nvSpPr>
          <p:cNvPr id="10" name="Shape 8"/>
          <p:cNvSpPr/>
          <p:nvPr/>
        </p:nvSpPr>
        <p:spPr>
          <a:xfrm>
            <a:off x="594360" y="2057400"/>
            <a:ext cx="3749040" cy="2651760"/>
          </a:xfrm>
          <a:prstGeom prst="roundRect">
            <a:avLst>
              <a:gd name="adj" fmla="val 1724"/>
            </a:avLst>
          </a:prstGeom>
          <a:solidFill>
            <a:srgbClr val="FFFFFF"/>
          </a:solidFill>
          <a:ln w="12700">
            <a:solidFill>
              <a:srgbClr val="E2E8F0"/>
            </a:solidFill>
            <a:prstDash val="solid"/>
          </a:ln>
        </p:spPr>
      </p:sp>
      <p:sp>
        <p:nvSpPr>
          <p:cNvPr id="11" name="Text 9"/>
          <p:cNvSpPr/>
          <p:nvPr/>
        </p:nvSpPr>
        <p:spPr>
          <a:xfrm>
            <a:off x="731520" y="2194560"/>
            <a:ext cx="3474720" cy="2514600"/>
          </a:xfrm>
          <a:prstGeom prst="rect">
            <a:avLst/>
          </a:prstGeom>
          <a:noFill/>
          <a:ln/>
        </p:spPr>
        <p:txBody>
          <a:bodyPr wrap="square" rtlCol="0" anchor="t"/>
          <a:lstStyle/>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Granularity : Structured – Channel</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Criterion   : Taylor Expansion + BN-γ</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Scope       : Layer-wise, exclude Head</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Ratio Config: Backbone 40% / Neck 30% / Head 0%</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Mode        : Iterative (4 rounds + fine-tune)</a:t>
            </a:r>
            <a:endParaRPr lang="en-US" sz="1050" dirty="0"/>
          </a:p>
        </p:txBody>
      </p:sp>
      <p:sp>
        <p:nvSpPr>
          <p:cNvPr id="12" name="Shape 10"/>
          <p:cNvSpPr/>
          <p:nvPr/>
        </p:nvSpPr>
        <p:spPr>
          <a:xfrm>
            <a:off x="4663440" y="1417320"/>
            <a:ext cx="4023360" cy="3429000"/>
          </a:xfrm>
          <a:prstGeom prst="roundRect">
            <a:avLst>
              <a:gd name="adj" fmla="val 2133"/>
            </a:avLst>
          </a:prstGeom>
          <a:solidFill>
            <a:srgbClr val="F8F9FA"/>
          </a:solidFill>
          <a:ln w="12700">
            <a:solidFill>
              <a:srgbClr val="CBD5E1"/>
            </a:solidFill>
            <a:prstDash val="solid"/>
          </a:ln>
        </p:spPr>
      </p:sp>
      <p:sp>
        <p:nvSpPr>
          <p:cNvPr id="13" name="Shape 11"/>
          <p:cNvSpPr/>
          <p:nvPr/>
        </p:nvSpPr>
        <p:spPr>
          <a:xfrm>
            <a:off x="4800600" y="1554480"/>
            <a:ext cx="3749040" cy="365760"/>
          </a:xfrm>
          <a:prstGeom prst="roundRect">
            <a:avLst>
              <a:gd name="adj" fmla="val 10000"/>
            </a:avLst>
          </a:prstGeom>
          <a:solidFill>
            <a:srgbClr val="7C3AED"/>
          </a:solidFill>
          <a:ln/>
        </p:spPr>
      </p:sp>
      <p:sp>
        <p:nvSpPr>
          <p:cNvPr id="14" name="Text 12"/>
          <p:cNvSpPr/>
          <p:nvPr/>
        </p:nvSpPr>
        <p:spPr>
          <a:xfrm>
            <a:off x="4846320" y="1554480"/>
            <a:ext cx="3657600" cy="365760"/>
          </a:xfrm>
          <a:prstGeom prst="rect">
            <a:avLst/>
          </a:prstGeom>
          <a:noFill/>
          <a:ln/>
        </p:spPr>
        <p:txBody>
          <a:bodyPr wrap="square" rtlCol="0" anchor="ctr"/>
          <a:lstStyle/>
          <a:p>
            <a:pPr algn="ctr" indent="0" marL="0">
              <a:buNone/>
            </a:pPr>
            <a:r>
              <a:rPr lang="en-US" sz="1200" b="1" dirty="0">
                <a:solidFill>
                  <a:srgbClr val="FFFFFF"/>
                </a:solidFill>
                <a:latin typeface="Plus Jakarta Sans, Arial" pitchFamily="34" charset="0"/>
                <a:ea typeface="Plus Jakarta Sans, Arial" pitchFamily="34" charset="-122"/>
                <a:cs typeface="Plus Jakarta Sans, Arial" pitchFamily="34" charset="-120"/>
              </a:rPr>
              <a:t>DETR FINAL PRUNING POLICY</a:t>
            </a:r>
            <a:endParaRPr lang="en-US" sz="1200" dirty="0"/>
          </a:p>
        </p:txBody>
      </p:sp>
      <p:sp>
        <p:nvSpPr>
          <p:cNvPr id="15" name="Shape 13"/>
          <p:cNvSpPr/>
          <p:nvPr/>
        </p:nvSpPr>
        <p:spPr>
          <a:xfrm>
            <a:off x="4800600" y="2057400"/>
            <a:ext cx="3749040" cy="2651760"/>
          </a:xfrm>
          <a:prstGeom prst="roundRect">
            <a:avLst>
              <a:gd name="adj" fmla="val 1724"/>
            </a:avLst>
          </a:prstGeom>
          <a:solidFill>
            <a:srgbClr val="FFFFFF"/>
          </a:solidFill>
          <a:ln w="12700">
            <a:solidFill>
              <a:srgbClr val="E2E8F0"/>
            </a:solidFill>
            <a:prstDash val="solid"/>
          </a:ln>
        </p:spPr>
      </p:sp>
      <p:sp>
        <p:nvSpPr>
          <p:cNvPr id="16" name="Text 14"/>
          <p:cNvSpPr/>
          <p:nvPr/>
        </p:nvSpPr>
        <p:spPr>
          <a:xfrm>
            <a:off x="4937760" y="2194560"/>
            <a:ext cx="3474720" cy="2514600"/>
          </a:xfrm>
          <a:prstGeom prst="rect">
            <a:avLst/>
          </a:prstGeom>
          <a:noFill/>
          <a:ln/>
        </p:spPr>
        <p:txBody>
          <a:bodyPr wrap="square" rtlCol="0" anchor="t"/>
          <a:lstStyle/>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Backbone    : Structured Channel (Taylor 30%)</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Enc / Dec   : Attention Head Pruning (25%)</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FFN Sparsity: Semi-structured N:M 2:4</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Object Query: Query Pruning (300 → 200)</a:t>
            </a:r>
            <a:endParaRPr lang="en-US" sz="1050" dirty="0"/>
          </a:p>
          <a:p>
            <a:pPr indent="0" marL="0">
              <a:lnSpc>
                <a:spcPts val="2000"/>
              </a:lnSpc>
              <a:buNone/>
            </a:pPr>
            <a:r>
              <a:rPr lang="en-US" sz="1050" dirty="0">
                <a:solidFill>
                  <a:srgbClr val="1E293B"/>
                </a:solidFill>
                <a:latin typeface="Consolas, monospace" pitchFamily="34" charset="0"/>
                <a:ea typeface="Consolas, monospace" pitchFamily="34" charset="-122"/>
                <a:cs typeface="Consolas, monospace" pitchFamily="34" charset="-120"/>
              </a:rPr>
              <a:t>Mode        : Iterative width reduction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2011680" cy="256032"/>
          </a:xfrm>
          <a:prstGeom prst="roundRect">
            <a:avLst>
              <a:gd name="adj" fmla="val 17857"/>
            </a:avLst>
          </a:prstGeom>
          <a:solidFill>
            <a:srgbClr val="EFF6FF"/>
          </a:solidFill>
          <a:ln w="12700">
            <a:solidFill>
              <a:srgbClr val="2563EB"/>
            </a:solidFill>
            <a:prstDash val="solid"/>
          </a:ln>
        </p:spPr>
      </p:sp>
      <p:sp>
        <p:nvSpPr>
          <p:cNvPr id="3" name="Text 1"/>
          <p:cNvSpPr/>
          <p:nvPr/>
        </p:nvSpPr>
        <p:spPr>
          <a:xfrm>
            <a:off x="457200" y="274320"/>
            <a:ext cx="2011680" cy="256032"/>
          </a:xfrm>
          <a:prstGeom prst="rect">
            <a:avLst/>
          </a:prstGeom>
          <a:noFill/>
          <a:ln/>
        </p:spPr>
        <p:txBody>
          <a:bodyPr wrap="square" rtlCol="0" anchor="ctr"/>
          <a:lstStyle/>
          <a:p>
            <a:pPr algn="ct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SLIDE 16 • R&amp;D REVIEW</a:t>
            </a:r>
            <a:endParaRPr lang="en-US" sz="1000" dirty="0"/>
          </a:p>
        </p:txBody>
      </p:sp>
      <p:sp>
        <p:nvSpPr>
          <p:cNvPr id="4" name="Text 2"/>
          <p:cNvSpPr/>
          <p:nvPr/>
        </p:nvSpPr>
        <p:spPr>
          <a:xfrm>
            <a:off x="457200" y="566928"/>
            <a:ext cx="8229600" cy="384048"/>
          </a:xfrm>
          <a:prstGeom prst="rect">
            <a:avLst/>
          </a:prstGeom>
          <a:noFill/>
          <a:ln/>
        </p:spPr>
        <p:txBody>
          <a:bodyPr wrap="square" rtlCol="0" anchor="ctr"/>
          <a:lstStyle/>
          <a:p>
            <a:pPr indent="0" marL="0">
              <a:buNone/>
            </a:pPr>
            <a:r>
              <a:rPr lang="en-US" sz="2200" b="1" dirty="0">
                <a:solidFill>
                  <a:srgbClr val="1E293B"/>
                </a:solidFill>
                <a:latin typeface="Plus Jakarta Sans, Arial" pitchFamily="34" charset="0"/>
                <a:ea typeface="Plus Jakarta Sans, Arial" pitchFamily="34" charset="-122"/>
                <a:cs typeface="Plus Jakarta Sans, Arial" pitchFamily="34" charset="-120"/>
              </a:rPr>
              <a:t>Conclusion &amp; Next Actions</a:t>
            </a:r>
            <a:endParaRPr lang="en-US" sz="2200" dirty="0"/>
          </a:p>
        </p:txBody>
      </p:sp>
      <p:sp>
        <p:nvSpPr>
          <p:cNvPr id="5" name="Text 3"/>
          <p:cNvSpPr/>
          <p:nvPr/>
        </p:nvSpPr>
        <p:spPr>
          <a:xfrm>
            <a:off x="457200" y="960120"/>
            <a:ext cx="8229600" cy="256032"/>
          </a:xfrm>
          <a:prstGeom prst="rect">
            <a:avLst/>
          </a:prstGeom>
          <a:noFill/>
          <a:ln/>
        </p:spPr>
        <p:txBody>
          <a:bodyPr wrap="square" rtlCol="0" anchor="ctr"/>
          <a:lstStyle/>
          <a:p>
            <a:pPr indent="0" marL="0">
              <a:buNone/>
            </a:pPr>
            <a:r>
              <a:rPr lang="en-US" sz="1200" dirty="0">
                <a:solidFill>
                  <a:srgbClr val="64748B"/>
                </a:solidFill>
                <a:latin typeface="Source Sans 3, Arial" pitchFamily="34" charset="0"/>
                <a:ea typeface="Source Sans 3, Arial" pitchFamily="34" charset="-122"/>
                <a:cs typeface="Source Sans 3, Arial" pitchFamily="34" charset="-120"/>
              </a:rPr>
              <a:t>Chốt kết luận nghiên cứu và bước tiếp theo (Step 8–10 Final Roadmap)</a:t>
            </a:r>
            <a:endParaRPr lang="en-US" sz="1200" dirty="0"/>
          </a:p>
        </p:txBody>
      </p:sp>
      <p:sp>
        <p:nvSpPr>
          <p:cNvPr id="6" name="Shape 4"/>
          <p:cNvSpPr/>
          <p:nvPr/>
        </p:nvSpPr>
        <p:spPr>
          <a:xfrm>
            <a:off x="457200" y="1261872"/>
            <a:ext cx="8229600" cy="0"/>
          </a:xfrm>
          <a:prstGeom prst="line">
            <a:avLst/>
          </a:prstGeom>
          <a:noFill/>
          <a:ln w="12700">
            <a:solidFill>
              <a:srgbClr val="E2E8F0"/>
            </a:solidFill>
            <a:prstDash val="solid"/>
          </a:ln>
        </p:spPr>
      </p:sp>
      <p:sp>
        <p:nvSpPr>
          <p:cNvPr id="7" name="Shape 5"/>
          <p:cNvSpPr/>
          <p:nvPr/>
        </p:nvSpPr>
        <p:spPr>
          <a:xfrm>
            <a:off x="457200" y="1417320"/>
            <a:ext cx="3977640" cy="1508760"/>
          </a:xfrm>
          <a:prstGeom prst="roundRect">
            <a:avLst>
              <a:gd name="adj" fmla="val 4848"/>
            </a:avLst>
          </a:prstGeom>
          <a:solidFill>
            <a:srgbClr val="F8F9FA"/>
          </a:solidFill>
          <a:ln w="12700">
            <a:solidFill>
              <a:srgbClr val="2563EB"/>
            </a:solidFill>
            <a:prstDash val="solid"/>
          </a:ln>
        </p:spPr>
      </p:sp>
      <p:sp>
        <p:nvSpPr>
          <p:cNvPr id="8" name="Text 6"/>
          <p:cNvSpPr/>
          <p:nvPr/>
        </p:nvSpPr>
        <p:spPr>
          <a:xfrm>
            <a:off x="640080" y="1508760"/>
            <a:ext cx="3611880" cy="228600"/>
          </a:xfrm>
          <a:prstGeom prst="rect">
            <a:avLst/>
          </a:prstGeom>
          <a:noFill/>
          <a:ln/>
        </p:spPr>
        <p:txBody>
          <a:bodyPr wrap="square" rtlCol="0" anchor="ctr"/>
          <a:lstStyle/>
          <a:p>
            <a:pPr indent="0" marL="0">
              <a:buNone/>
            </a:pPr>
            <a:r>
              <a:rPr lang="en-US" sz="1100" b="1" dirty="0">
                <a:solidFill>
                  <a:srgbClr val="2563EB"/>
                </a:solidFill>
                <a:latin typeface="Plus Jakarta Sans, Arial" pitchFamily="34" charset="0"/>
                <a:ea typeface="Plus Jakarta Sans, Arial" pitchFamily="34" charset="-122"/>
                <a:cs typeface="Plus Jakarta Sans, Arial" pitchFamily="34" charset="-120"/>
              </a:rPr>
              <a:t>KẾT LUẬN — YOLO PRUNING</a:t>
            </a:r>
            <a:endParaRPr lang="en-US" sz="1100" dirty="0"/>
          </a:p>
        </p:txBody>
      </p:sp>
      <p:sp>
        <p:nvSpPr>
          <p:cNvPr id="9" name="Text 7"/>
          <p:cNvSpPr/>
          <p:nvPr/>
        </p:nvSpPr>
        <p:spPr>
          <a:xfrm>
            <a:off x="640080" y="1783080"/>
            <a:ext cx="3611880" cy="1051560"/>
          </a:xfrm>
          <a:prstGeom prst="rect">
            <a:avLst/>
          </a:prstGeom>
          <a:noFill/>
          <a:ln/>
        </p:spPr>
        <p:txBody>
          <a:bodyPr wrap="square" rtlCol="0" anchor="ctr"/>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Structured channel pruning (DepGraph + Taylor/BN-γ) là hướng đi chính, rủi ro thấp, ROI cao, cực kỳ tương thích với các edge inference engines.</a:t>
            </a:r>
            <a:endParaRPr lang="en-US" sz="1100" dirty="0"/>
          </a:p>
        </p:txBody>
      </p:sp>
      <p:sp>
        <p:nvSpPr>
          <p:cNvPr id="10" name="Shape 8"/>
          <p:cNvSpPr/>
          <p:nvPr/>
        </p:nvSpPr>
        <p:spPr>
          <a:xfrm>
            <a:off x="4709160" y="1417320"/>
            <a:ext cx="3977640" cy="1508760"/>
          </a:xfrm>
          <a:prstGeom prst="roundRect">
            <a:avLst>
              <a:gd name="adj" fmla="val 4848"/>
            </a:avLst>
          </a:prstGeom>
          <a:solidFill>
            <a:srgbClr val="F8F9FA"/>
          </a:solidFill>
          <a:ln w="12700">
            <a:solidFill>
              <a:srgbClr val="7C3AED"/>
            </a:solidFill>
            <a:prstDash val="solid"/>
          </a:ln>
        </p:spPr>
      </p:sp>
      <p:sp>
        <p:nvSpPr>
          <p:cNvPr id="11" name="Text 9"/>
          <p:cNvSpPr/>
          <p:nvPr/>
        </p:nvSpPr>
        <p:spPr>
          <a:xfrm>
            <a:off x="4892040" y="1508760"/>
            <a:ext cx="3611880" cy="228600"/>
          </a:xfrm>
          <a:prstGeom prst="rect">
            <a:avLst/>
          </a:prstGeom>
          <a:noFill/>
          <a:ln/>
        </p:spPr>
        <p:txBody>
          <a:bodyPr wrap="square" rtlCol="0" anchor="ctr"/>
          <a:lstStyle/>
          <a:p>
            <a:pPr indent="0" marL="0">
              <a:buNone/>
            </a:pPr>
            <a:r>
              <a:rPr lang="en-US" sz="1100" b="1" dirty="0">
                <a:solidFill>
                  <a:srgbClr val="7C3AED"/>
                </a:solidFill>
                <a:latin typeface="Plus Jakarta Sans, Arial" pitchFamily="34" charset="0"/>
                <a:ea typeface="Plus Jakarta Sans, Arial" pitchFamily="34" charset="-122"/>
                <a:cs typeface="Plus Jakarta Sans, Arial" pitchFamily="34" charset="-120"/>
              </a:rPr>
              <a:t>KẾT LUẬN — DETR PRUNING</a:t>
            </a:r>
            <a:endParaRPr lang="en-US" sz="1100" dirty="0"/>
          </a:p>
        </p:txBody>
      </p:sp>
      <p:sp>
        <p:nvSpPr>
          <p:cNvPr id="12" name="Text 10"/>
          <p:cNvSpPr/>
          <p:nvPr/>
        </p:nvSpPr>
        <p:spPr>
          <a:xfrm>
            <a:off x="4892040" y="1783080"/>
            <a:ext cx="3611880" cy="1051560"/>
          </a:xfrm>
          <a:prstGeom prst="rect">
            <a:avLst/>
          </a:prstGeom>
          <a:noFill/>
          <a:ln/>
        </p:spPr>
        <p:txBody>
          <a:bodyPr wrap="square" rtlCol="0" anchor="ctr"/>
          <a:lstStyle/>
          <a:p>
            <a:pPr indent="0" marL="0">
              <a:lnSpc>
                <a:spcPts val="1600"/>
              </a:lnSpc>
              <a:buNone/>
            </a:pPr>
            <a:r>
              <a:rPr lang="en-US" sz="1100" dirty="0">
                <a:solidFill>
                  <a:srgbClr val="1E293B"/>
                </a:solidFill>
                <a:latin typeface="Source Sans 3, Arial" pitchFamily="34" charset="0"/>
                <a:ea typeface="Source Sans 3, Arial" pitchFamily="34" charset="-122"/>
                <a:cs typeface="Source Sans 3, Arial" pitchFamily="34" charset="-120"/>
              </a:rPr>
              <a:t>Phối hợp 3 kỹ thuật (Channel + Head + Query) cho hiệu quả tối ưu, rủi ro trung bình, cần kiểm soát chặt hiện tượng query collapse ở Decoder.</a:t>
            </a:r>
            <a:endParaRPr lang="en-US" sz="1100" dirty="0"/>
          </a:p>
        </p:txBody>
      </p:sp>
      <p:sp>
        <p:nvSpPr>
          <p:cNvPr id="13" name="Shape 11"/>
          <p:cNvSpPr/>
          <p:nvPr/>
        </p:nvSpPr>
        <p:spPr>
          <a:xfrm>
            <a:off x="457200" y="3108960"/>
            <a:ext cx="2606040" cy="1737360"/>
          </a:xfrm>
          <a:prstGeom prst="roundRect">
            <a:avLst>
              <a:gd name="adj" fmla="val 4211"/>
            </a:avLst>
          </a:prstGeom>
          <a:solidFill>
            <a:srgbClr val="EFF6FF"/>
          </a:solidFill>
          <a:ln w="12700">
            <a:solidFill>
              <a:srgbClr val="2563EB"/>
            </a:solidFill>
            <a:prstDash val="solid"/>
          </a:ln>
        </p:spPr>
      </p:sp>
      <p:sp>
        <p:nvSpPr>
          <p:cNvPr id="14" name="Text 12"/>
          <p:cNvSpPr/>
          <p:nvPr/>
        </p:nvSpPr>
        <p:spPr>
          <a:xfrm>
            <a:off x="594360" y="3246120"/>
            <a:ext cx="2331720" cy="182880"/>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STEP 5</a:t>
            </a:r>
            <a:endParaRPr lang="en-US" sz="1000" dirty="0"/>
          </a:p>
        </p:txBody>
      </p:sp>
      <p:sp>
        <p:nvSpPr>
          <p:cNvPr id="15" name="Text 13"/>
          <p:cNvSpPr/>
          <p:nvPr/>
        </p:nvSpPr>
        <p:spPr>
          <a:xfrm>
            <a:off x="594360" y="3456432"/>
            <a:ext cx="2331720" cy="320040"/>
          </a:xfrm>
          <a:prstGeom prst="rect">
            <a:avLst/>
          </a:prstGeom>
          <a:noFill/>
          <a:ln/>
        </p:spPr>
        <p:txBody>
          <a:bodyPr wrap="square" rtlCol="0" anchor="ctr"/>
          <a:lstStyle/>
          <a:p>
            <a:pPr indent="0" marL="0">
              <a:buNone/>
            </a:pPr>
            <a:r>
              <a:rPr lang="en-US" sz="1200" b="1" dirty="0">
                <a:solidFill>
                  <a:srgbClr val="1E293B"/>
                </a:solidFill>
                <a:latin typeface="Plus Jakarta Sans, Arial" pitchFamily="34" charset="0"/>
                <a:ea typeface="Plus Jakarta Sans, Arial" pitchFamily="34" charset="-122"/>
                <a:cs typeface="Plus Jakarta Sans, Arial" pitchFamily="34" charset="-120"/>
              </a:rPr>
              <a:t>Model Pruning Execution</a:t>
            </a:r>
            <a:endParaRPr lang="en-US" sz="1200" dirty="0"/>
          </a:p>
        </p:txBody>
      </p:sp>
      <p:sp>
        <p:nvSpPr>
          <p:cNvPr id="16" name="Text 14"/>
          <p:cNvSpPr/>
          <p:nvPr/>
        </p:nvSpPr>
        <p:spPr>
          <a:xfrm>
            <a:off x="594360" y="3822192"/>
            <a:ext cx="2331720" cy="932688"/>
          </a:xfrm>
          <a:prstGeom prst="rect">
            <a:avLst/>
          </a:prstGeom>
          <a:noFill/>
          <a:ln/>
        </p:spPr>
        <p:txBody>
          <a:bodyPr wrap="square" rtlCol="0" anchor="ctr"/>
          <a:lstStyle/>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Tiến hành thực thi pruning &amp; fine-tuning chính thức theo Policy đã chốt.</a:t>
            </a:r>
            <a:endParaRPr lang="en-US" sz="1100" dirty="0"/>
          </a:p>
        </p:txBody>
      </p:sp>
      <p:sp>
        <p:nvSpPr>
          <p:cNvPr id="17" name="Shape 15"/>
          <p:cNvSpPr/>
          <p:nvPr/>
        </p:nvSpPr>
        <p:spPr>
          <a:xfrm>
            <a:off x="3246120" y="3108960"/>
            <a:ext cx="2606040" cy="1737360"/>
          </a:xfrm>
          <a:prstGeom prst="roundRect">
            <a:avLst>
              <a:gd name="adj" fmla="val 4211"/>
            </a:avLst>
          </a:prstGeom>
          <a:solidFill>
            <a:srgbClr val="EFF6FF"/>
          </a:solidFill>
          <a:ln w="12700">
            <a:solidFill>
              <a:srgbClr val="2563EB"/>
            </a:solidFill>
            <a:prstDash val="solid"/>
          </a:ln>
        </p:spPr>
      </p:sp>
      <p:sp>
        <p:nvSpPr>
          <p:cNvPr id="18" name="Text 16"/>
          <p:cNvSpPr/>
          <p:nvPr/>
        </p:nvSpPr>
        <p:spPr>
          <a:xfrm>
            <a:off x="3383280" y="3246120"/>
            <a:ext cx="2331720" cy="182880"/>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STEP 9</a:t>
            </a:r>
            <a:endParaRPr lang="en-US" sz="1000" dirty="0"/>
          </a:p>
        </p:txBody>
      </p:sp>
      <p:sp>
        <p:nvSpPr>
          <p:cNvPr id="19" name="Text 17"/>
          <p:cNvSpPr/>
          <p:nvPr/>
        </p:nvSpPr>
        <p:spPr>
          <a:xfrm>
            <a:off x="3383280" y="3456432"/>
            <a:ext cx="2331720" cy="320040"/>
          </a:xfrm>
          <a:prstGeom prst="rect">
            <a:avLst/>
          </a:prstGeom>
          <a:noFill/>
          <a:ln/>
        </p:spPr>
        <p:txBody>
          <a:bodyPr wrap="square" rtlCol="0" anchor="ctr"/>
          <a:lstStyle/>
          <a:p>
            <a:pPr indent="0" marL="0">
              <a:buNone/>
            </a:pPr>
            <a:r>
              <a:rPr lang="en-US" sz="1200" b="1" dirty="0">
                <a:solidFill>
                  <a:srgbClr val="1E293B"/>
                </a:solidFill>
                <a:latin typeface="Plus Jakarta Sans, Arial" pitchFamily="34" charset="0"/>
                <a:ea typeface="Plus Jakarta Sans, Arial" pitchFamily="34" charset="-122"/>
                <a:cs typeface="Plus Jakarta Sans, Arial" pitchFamily="34" charset="-120"/>
              </a:rPr>
              <a:t>ONNX &amp; TensorRT Export</a:t>
            </a:r>
            <a:endParaRPr lang="en-US" sz="1200" dirty="0"/>
          </a:p>
        </p:txBody>
      </p:sp>
      <p:sp>
        <p:nvSpPr>
          <p:cNvPr id="20" name="Text 18"/>
          <p:cNvSpPr/>
          <p:nvPr/>
        </p:nvSpPr>
        <p:spPr>
          <a:xfrm>
            <a:off x="3383280" y="3822192"/>
            <a:ext cx="2331720" cy="932688"/>
          </a:xfrm>
          <a:prstGeom prst="rect">
            <a:avLst/>
          </a:prstGeom>
          <a:noFill/>
          <a:ln/>
        </p:spPr>
        <p:txBody>
          <a:bodyPr wrap="square" rtlCol="0" anchor="ctr"/>
          <a:lstStyle/>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Xuất định dạng ONNX &amp; build FP16/INT8 TensorRT engines.</a:t>
            </a:r>
            <a:endParaRPr lang="en-US" sz="1100" dirty="0"/>
          </a:p>
        </p:txBody>
      </p:sp>
      <p:sp>
        <p:nvSpPr>
          <p:cNvPr id="21" name="Shape 19"/>
          <p:cNvSpPr/>
          <p:nvPr/>
        </p:nvSpPr>
        <p:spPr>
          <a:xfrm>
            <a:off x="6035040" y="3108960"/>
            <a:ext cx="2606040" cy="1737360"/>
          </a:xfrm>
          <a:prstGeom prst="roundRect">
            <a:avLst>
              <a:gd name="adj" fmla="val 4211"/>
            </a:avLst>
          </a:prstGeom>
          <a:solidFill>
            <a:srgbClr val="EFF6FF"/>
          </a:solidFill>
          <a:ln w="12700">
            <a:solidFill>
              <a:srgbClr val="2563EB"/>
            </a:solidFill>
            <a:prstDash val="solid"/>
          </a:ln>
        </p:spPr>
      </p:sp>
      <p:sp>
        <p:nvSpPr>
          <p:cNvPr id="22" name="Text 20"/>
          <p:cNvSpPr/>
          <p:nvPr/>
        </p:nvSpPr>
        <p:spPr>
          <a:xfrm>
            <a:off x="6172200" y="3246120"/>
            <a:ext cx="2331720" cy="182880"/>
          </a:xfrm>
          <a:prstGeom prst="rect">
            <a:avLst/>
          </a:prstGeom>
          <a:noFill/>
          <a:ln/>
        </p:spPr>
        <p:txBody>
          <a:bodyPr wrap="square" rtlCol="0" anchor="ctr"/>
          <a:lstStyle/>
          <a:p>
            <a:pPr indent="0" marL="0">
              <a:buNone/>
            </a:pPr>
            <a:r>
              <a:rPr lang="en-US" sz="1000" b="1" dirty="0">
                <a:solidFill>
                  <a:srgbClr val="2563EB"/>
                </a:solidFill>
                <a:latin typeface="Plus Jakarta Sans, Arial" pitchFamily="34" charset="0"/>
                <a:ea typeface="Plus Jakarta Sans, Arial" pitchFamily="34" charset="-122"/>
                <a:cs typeface="Plus Jakarta Sans, Arial" pitchFamily="34" charset="-120"/>
              </a:rPr>
              <a:t>STEP 10</a:t>
            </a:r>
            <a:endParaRPr lang="en-US" sz="1000" dirty="0"/>
          </a:p>
        </p:txBody>
      </p:sp>
      <p:sp>
        <p:nvSpPr>
          <p:cNvPr id="23" name="Text 21"/>
          <p:cNvSpPr/>
          <p:nvPr/>
        </p:nvSpPr>
        <p:spPr>
          <a:xfrm>
            <a:off x="6172200" y="3456432"/>
            <a:ext cx="2331720" cy="320040"/>
          </a:xfrm>
          <a:prstGeom prst="rect">
            <a:avLst/>
          </a:prstGeom>
          <a:noFill/>
          <a:ln/>
        </p:spPr>
        <p:txBody>
          <a:bodyPr wrap="square" rtlCol="0" anchor="ctr"/>
          <a:lstStyle/>
          <a:p>
            <a:pPr indent="0" marL="0">
              <a:buNone/>
            </a:pPr>
            <a:r>
              <a:rPr lang="en-US" sz="1200" b="1" dirty="0">
                <a:solidFill>
                  <a:srgbClr val="1E293B"/>
                </a:solidFill>
                <a:latin typeface="Plus Jakarta Sans, Arial" pitchFamily="34" charset="0"/>
                <a:ea typeface="Plus Jakarta Sans, Arial" pitchFamily="34" charset="-122"/>
                <a:cs typeface="Plus Jakarta Sans, Arial" pitchFamily="34" charset="-120"/>
              </a:rPr>
              <a:t>Edge Hardware Benchmark</a:t>
            </a:r>
            <a:endParaRPr lang="en-US" sz="1200" dirty="0"/>
          </a:p>
        </p:txBody>
      </p:sp>
      <p:sp>
        <p:nvSpPr>
          <p:cNvPr id="24" name="Text 22"/>
          <p:cNvSpPr/>
          <p:nvPr/>
        </p:nvSpPr>
        <p:spPr>
          <a:xfrm>
            <a:off x="6172200" y="3822192"/>
            <a:ext cx="2331720" cy="932688"/>
          </a:xfrm>
          <a:prstGeom prst="rect">
            <a:avLst/>
          </a:prstGeom>
          <a:noFill/>
          <a:ln/>
        </p:spPr>
        <p:txBody>
          <a:bodyPr wrap="square" rtlCol="0" anchor="ctr"/>
          <a:lstStyle/>
          <a:p>
            <a:pPr indent="0" marL="0">
              <a:lnSpc>
                <a:spcPts val="1600"/>
              </a:lnSpc>
              <a:buNone/>
            </a:pPr>
            <a:r>
              <a:rPr lang="en-US" sz="1100" dirty="0">
                <a:solidFill>
                  <a:srgbClr val="64748B"/>
                </a:solidFill>
                <a:latin typeface="Source Sans 3, Arial" pitchFamily="34" charset="0"/>
                <a:ea typeface="Source Sans 3, Arial" pitchFamily="34" charset="-122"/>
                <a:cs typeface="Source Sans 3, Arial" pitchFamily="34" charset="-120"/>
              </a:rPr>
              <a:t>Benchmark độ trễ và throughput trên phần cứng Edge thực tế.</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 PRUNING TECHNIQUES — YOLO &amp; DETR</dc:title>
  <dc:subject>PptxGenJS Presentation</dc:subject>
  <dc:creator>R&amp;D Review Team</dc:creator>
  <cp:lastModifiedBy>R&amp;D Review Team</cp:lastModifiedBy>
  <cp:revision>1</cp:revision>
  <dcterms:created xsi:type="dcterms:W3CDTF">2026-09-10T04:38:46Z</dcterms:created>
  <dcterms:modified xsi:type="dcterms:W3CDTF">2026-09-10T04:38:46Z</dcterms:modified>
</cp:coreProperties>
</file>