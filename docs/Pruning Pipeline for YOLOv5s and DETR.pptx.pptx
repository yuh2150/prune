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Quattrocento Bold" charset="1" panose="02020802030000000404"/>
      <p:regular r:id="rId23"/>
    </p:embeddedFont>
    <p:embeddedFont>
      <p:font typeface="Quattrocento" charset="1" panose="020205020300000004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92314" y="2764088"/>
            <a:ext cx="2899801" cy="42853"/>
            <a:chOff x="0" y="0"/>
            <a:chExt cx="3866401" cy="571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6388" cy="57150"/>
            </a:xfrm>
            <a:custGeom>
              <a:avLst/>
              <a:gdLst/>
              <a:ahLst/>
              <a:cxnLst/>
              <a:rect r="r" b="b" t="t" l="l"/>
              <a:pathLst>
                <a:path h="57150" w="3866388">
                  <a:moveTo>
                    <a:pt x="0" y="0"/>
                  </a:moveTo>
                  <a:lnTo>
                    <a:pt x="3866388" y="571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68243" r="0" b="-1268221"/>
              </a:stretch>
            </a:blipFill>
            <a:ln w="42854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28474" y="3071212"/>
            <a:ext cx="15427490" cy="785659"/>
            <a:chOff x="0" y="0"/>
            <a:chExt cx="20569987" cy="10475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69983" cy="1047544"/>
            </a:xfrm>
            <a:custGeom>
              <a:avLst/>
              <a:gdLst/>
              <a:ahLst/>
              <a:cxnLst/>
              <a:rect r="r" b="b" t="t" l="l"/>
              <a:pathLst>
                <a:path h="1047544" w="20569983">
                  <a:moveTo>
                    <a:pt x="0" y="0"/>
                  </a:moveTo>
                  <a:lnTo>
                    <a:pt x="20569983" y="0"/>
                  </a:lnTo>
                  <a:lnTo>
                    <a:pt x="20569983" y="1047544"/>
                  </a:lnTo>
                  <a:lnTo>
                    <a:pt x="0" y="1047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0569987" cy="1152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78"/>
                </a:lnSpc>
              </a:pPr>
              <a:r>
                <a:rPr lang="en-US" sz="4499" b="true">
                  <a:solidFill>
                    <a:srgbClr val="F1F5F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Pruning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474" y="3999719"/>
            <a:ext cx="15427490" cy="642814"/>
            <a:chOff x="0" y="0"/>
            <a:chExt cx="20569987" cy="8570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69983" cy="857083"/>
            </a:xfrm>
            <a:custGeom>
              <a:avLst/>
              <a:gdLst/>
              <a:ahLst/>
              <a:cxnLst/>
              <a:rect r="r" b="b" t="t" l="l"/>
              <a:pathLst>
                <a:path h="857083" w="20569983">
                  <a:moveTo>
                    <a:pt x="0" y="0"/>
                  </a:moveTo>
                  <a:lnTo>
                    <a:pt x="20569983" y="0"/>
                  </a:lnTo>
                  <a:lnTo>
                    <a:pt x="20569983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569987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>
                  <a:solidFill>
                    <a:srgbClr val="F1F5F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for YOLOv5s and DETR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85225" y="4913938"/>
            <a:ext cx="4313987" cy="28565"/>
            <a:chOff x="0" y="0"/>
            <a:chExt cx="5751982" cy="380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1957" cy="38100"/>
            </a:xfrm>
            <a:custGeom>
              <a:avLst/>
              <a:gdLst/>
              <a:ahLst/>
              <a:cxnLst/>
              <a:rect r="r" b="b" t="t" l="l"/>
              <a:pathLst>
                <a:path h="38100" w="5751957">
                  <a:moveTo>
                    <a:pt x="0" y="0"/>
                  </a:moveTo>
                  <a:lnTo>
                    <a:pt x="5751957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891685" r="0" b="-2891652"/>
              </a:stretch>
            </a:blipFill>
            <a:ln w="28569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856938" y="5285346"/>
            <a:ext cx="12570543" cy="428539"/>
            <a:chOff x="0" y="0"/>
            <a:chExt cx="16760723" cy="5713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760726" cy="571388"/>
            </a:xfrm>
            <a:custGeom>
              <a:avLst/>
              <a:gdLst/>
              <a:ahLst/>
              <a:cxnLst/>
              <a:rect r="r" b="b" t="t" l="l"/>
              <a:pathLst>
                <a:path h="571388" w="16760726">
                  <a:moveTo>
                    <a:pt x="0" y="0"/>
                  </a:moveTo>
                  <a:lnTo>
                    <a:pt x="16760726" y="0"/>
                  </a:lnTo>
                  <a:lnTo>
                    <a:pt x="1676072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760723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>
                  <a:solidFill>
                    <a:srgbClr val="64748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Model Compression &amp; Benchmarking on COCO Dataset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10142144"/>
            <a:ext cx="18284428" cy="142846"/>
            <a:chOff x="0" y="0"/>
            <a:chExt cx="24379238" cy="1904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79301" cy="190500"/>
            </a:xfrm>
            <a:custGeom>
              <a:avLst/>
              <a:gdLst/>
              <a:ahLst/>
              <a:cxnLst/>
              <a:rect r="r" b="b" t="t" l="l"/>
              <a:pathLst>
                <a:path h="19050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428539"/>
            <a:ext cx="8570824" cy="571388"/>
            <a:chOff x="0" y="0"/>
            <a:chExt cx="11427765" cy="7618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27768" cy="761855"/>
            </a:xfrm>
            <a:custGeom>
              <a:avLst/>
              <a:gdLst/>
              <a:ahLst/>
              <a:cxnLst/>
              <a:rect r="r" b="b" t="t" l="l"/>
              <a:pathLst>
                <a:path h="761855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4" r="0" b="-2422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1427765" cy="88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3"/>
                </a:lnSpc>
              </a:pPr>
              <a:r>
                <a:rPr lang="en-US" sz="31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Yolov5s Architecture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840368" y="999928"/>
            <a:ext cx="12317103" cy="9258300"/>
          </a:xfrm>
          <a:custGeom>
            <a:avLst/>
            <a:gdLst/>
            <a:ahLst/>
            <a:cxnLst/>
            <a:rect r="r" b="b" t="t" l="l"/>
            <a:pathLst>
              <a:path h="9258300" w="12317103">
                <a:moveTo>
                  <a:pt x="0" y="0"/>
                </a:moveTo>
                <a:lnTo>
                  <a:pt x="12317103" y="0"/>
                </a:lnTo>
                <a:lnTo>
                  <a:pt x="12317103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9" t="-1125" r="-1129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428539"/>
            <a:ext cx="8570824" cy="571388"/>
            <a:chOff x="0" y="0"/>
            <a:chExt cx="11427765" cy="7618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27768" cy="761855"/>
            </a:xfrm>
            <a:custGeom>
              <a:avLst/>
              <a:gdLst/>
              <a:ahLst/>
              <a:cxnLst/>
              <a:rect r="r" b="b" t="t" l="l"/>
              <a:pathLst>
                <a:path h="761855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4" r="0" b="-2422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1427765" cy="88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3"/>
                </a:lnSpc>
              </a:pPr>
              <a:r>
                <a:rPr lang="en-US" sz="31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Yolov5s Architecture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019171" y="2025955"/>
            <a:ext cx="7265257" cy="5461018"/>
          </a:xfrm>
          <a:custGeom>
            <a:avLst/>
            <a:gdLst/>
            <a:ahLst/>
            <a:cxnLst/>
            <a:rect r="r" b="b" t="t" l="l"/>
            <a:pathLst>
              <a:path h="5461018" w="7265257">
                <a:moveTo>
                  <a:pt x="0" y="0"/>
                </a:moveTo>
                <a:lnTo>
                  <a:pt x="7265257" y="0"/>
                </a:lnTo>
                <a:lnTo>
                  <a:pt x="7265257" y="5461019"/>
                </a:lnTo>
                <a:lnTo>
                  <a:pt x="0" y="5461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9" t="-1125" r="-112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1805" y="1599272"/>
            <a:ext cx="10419078" cy="62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Architecture</a:t>
            </a:r>
          </a:p>
          <a:p>
            <a:pPr algn="l" marL="567327" indent="-283663" lvl="1">
              <a:lnSpc>
                <a:spcPts val="4099"/>
              </a:lnSpc>
              <a:buFont typeface="Arial"/>
              <a:buChar char="•"/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Backbone: CSPDarknet53 – lightweight and efficient feature extraction.</a:t>
            </a:r>
          </a:p>
          <a:p>
            <a:pPr algn="l" marL="567327" indent="-283663" lvl="1">
              <a:lnSpc>
                <a:spcPts val="4099"/>
              </a:lnSpc>
              <a:buFont typeface="Arial"/>
              <a:buChar char="•"/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Neck: PANet – multi-scale feature aggregation using top-down and bottom-up pathways.</a:t>
            </a:r>
          </a:p>
          <a:p>
            <a:pPr algn="l" marL="567327" indent="-283663" lvl="1">
              <a:lnSpc>
                <a:spcPts val="4099"/>
              </a:lnSpc>
              <a:buFont typeface="Arial"/>
              <a:buChar char="•"/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Head: Anchor-Free detection head for direct object localization and classification.</a:t>
            </a:r>
          </a:p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Model Specifications</a:t>
            </a:r>
          </a:p>
          <a:p>
            <a:pPr algn="l" marL="567327" indent="-283663" lvl="1">
              <a:lnSpc>
                <a:spcPts val="4099"/>
              </a:lnSpc>
              <a:buFont typeface="Arial"/>
              <a:buChar char="•"/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Input size: 640 × 640</a:t>
            </a:r>
          </a:p>
          <a:p>
            <a:pPr algn="l" marL="567327" indent="-283663" lvl="1">
              <a:lnSpc>
                <a:spcPts val="4099"/>
              </a:lnSpc>
              <a:buFont typeface="Arial"/>
              <a:buChar char="•"/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Parameters: ~7.05 million (YOLOv5s)</a:t>
            </a:r>
          </a:p>
          <a:p>
            <a:pPr algn="l" marL="567327" indent="-283663" lvl="1">
              <a:lnSpc>
                <a:spcPts val="4099"/>
              </a:lnSpc>
              <a:buFont typeface="Arial"/>
              <a:buChar char="•"/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Width multiplier: 0.5</a:t>
            </a:r>
          </a:p>
          <a:p>
            <a:pPr algn="l" marL="567327" indent="-283663" lvl="1">
              <a:lnSpc>
                <a:spcPts val="4099"/>
              </a:lnSpc>
              <a:buFont typeface="Arial"/>
              <a:buChar char="•"/>
            </a:pPr>
            <a:r>
              <a:rPr lang="en-US" sz="2627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Depth multiplier: 0.33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428539"/>
            <a:ext cx="8570824" cy="571388"/>
            <a:chOff x="0" y="0"/>
            <a:chExt cx="11427765" cy="7618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27768" cy="761855"/>
            </a:xfrm>
            <a:custGeom>
              <a:avLst/>
              <a:gdLst/>
              <a:ahLst/>
              <a:cxnLst/>
              <a:rect r="r" b="b" t="t" l="l"/>
              <a:pathLst>
                <a:path h="761855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4" r="0" b="-2422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1427765" cy="88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3"/>
                </a:lnSpc>
              </a:pPr>
              <a:r>
                <a:rPr lang="en-US" sz="31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DETR Architecture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970428" y="3557198"/>
            <a:ext cx="5609651" cy="6008258"/>
          </a:xfrm>
          <a:custGeom>
            <a:avLst/>
            <a:gdLst/>
            <a:ahLst/>
            <a:cxnLst/>
            <a:rect r="r" b="b" t="t" l="l"/>
            <a:pathLst>
              <a:path h="6008258" w="5609651">
                <a:moveTo>
                  <a:pt x="0" y="0"/>
                </a:moveTo>
                <a:lnTo>
                  <a:pt x="5609652" y="0"/>
                </a:lnTo>
                <a:lnTo>
                  <a:pt x="5609652" y="6008258"/>
                </a:lnTo>
                <a:lnTo>
                  <a:pt x="0" y="600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29371" y="2281817"/>
            <a:ext cx="12223292" cy="3199473"/>
          </a:xfrm>
          <a:custGeom>
            <a:avLst/>
            <a:gdLst/>
            <a:ahLst/>
            <a:cxnLst/>
            <a:rect r="r" b="b" t="t" l="l"/>
            <a:pathLst>
              <a:path h="3199473" w="12223292">
                <a:moveTo>
                  <a:pt x="0" y="0"/>
                </a:moveTo>
                <a:lnTo>
                  <a:pt x="12223291" y="0"/>
                </a:lnTo>
                <a:lnTo>
                  <a:pt x="12223291" y="3199473"/>
                </a:lnTo>
                <a:lnTo>
                  <a:pt x="0" y="3199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428539"/>
            <a:ext cx="8570824" cy="571388"/>
            <a:chOff x="0" y="0"/>
            <a:chExt cx="11427765" cy="7618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27768" cy="761855"/>
            </a:xfrm>
            <a:custGeom>
              <a:avLst/>
              <a:gdLst/>
              <a:ahLst/>
              <a:cxnLst/>
              <a:rect r="r" b="b" t="t" l="l"/>
              <a:pathLst>
                <a:path h="761855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4" r="0" b="-2422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1427765" cy="88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3"/>
                </a:lnSpc>
              </a:pPr>
              <a:r>
                <a:rPr lang="en-US" sz="31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DETR Architecture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448103"/>
            <a:ext cx="15436049" cy="705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9"/>
              </a:lnSpc>
              <a:spcBef>
                <a:spcPct val="0"/>
              </a:spcBef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Core Idea</a:t>
            </a:r>
          </a:p>
          <a:p>
            <a:pPr algn="just">
              <a:lnSpc>
                <a:spcPts val="4039"/>
              </a:lnSpc>
              <a:spcBef>
                <a:spcPct val="0"/>
              </a:spcBef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Formulates object detection as a set prediction problem, eliminating the need for anchor boxes and Non-Maximum Suppression (NMS).</a:t>
            </a:r>
          </a:p>
          <a:p>
            <a:pPr algn="just">
              <a:lnSpc>
                <a:spcPts val="4039"/>
              </a:lnSpc>
              <a:spcBef>
                <a:spcPct val="0"/>
              </a:spcBef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Architecture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Backbone (ResNet-50): Extracts image features.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Transformer Encoder : Applies global self-attention to capture long-range contextual information.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Transformer Decoder : Uses 100 learnable object queries to detect objects.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Prediction Heads: Predict object classes and bounding boxes.</a:t>
            </a:r>
          </a:p>
          <a:p>
            <a:pPr algn="just">
              <a:lnSpc>
                <a:spcPts val="4039"/>
              </a:lnSpc>
              <a:spcBef>
                <a:spcPct val="0"/>
              </a:spcBef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Training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Uses Hungarian Matching for one-to-one assignment between predictions and ground truth.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Loss function combines: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Classification Loss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L1 Bounding Box Loss</a:t>
            </a:r>
          </a:p>
          <a:p>
            <a:pPr algn="l" marL="559035" indent="-279517" lvl="1">
              <a:lnSpc>
                <a:spcPts val="4039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Generalized IoU (GIoU) Loss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428539"/>
            <a:ext cx="8570824" cy="571386"/>
            <a:chOff x="0" y="0"/>
            <a:chExt cx="11427765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27768" cy="761851"/>
            </a:xfrm>
            <a:custGeom>
              <a:avLst/>
              <a:gdLst/>
              <a:ahLst/>
              <a:cxnLst/>
              <a:rect r="r" b="b" t="t" l="l"/>
              <a:pathLst>
                <a:path h="761851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1427765" cy="8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3"/>
                </a:lnSpc>
              </a:pPr>
              <a:r>
                <a:rPr lang="en-US" sz="31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Preprocessing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5657" y="1049922"/>
            <a:ext cx="1185634" cy="42853"/>
            <a:chOff x="0" y="0"/>
            <a:chExt cx="1580845" cy="571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0896" cy="57150"/>
            </a:xfrm>
            <a:custGeom>
              <a:avLst/>
              <a:gdLst/>
              <a:ahLst/>
              <a:cxnLst/>
              <a:rect r="r" b="b" t="t" l="l"/>
              <a:pathLst>
                <a:path h="57150" w="1580896">
                  <a:moveTo>
                    <a:pt x="0" y="0"/>
                  </a:moveTo>
                  <a:lnTo>
                    <a:pt x="1580896" y="571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88993" r="3" b="-488971"/>
              </a:stretch>
            </a:blipFill>
            <a:ln w="42854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49944" y="1421330"/>
            <a:ext cx="7942297" cy="3585458"/>
            <a:chOff x="0" y="0"/>
            <a:chExt cx="10589730" cy="47806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89768" cy="4780661"/>
            </a:xfrm>
            <a:custGeom>
              <a:avLst/>
              <a:gdLst/>
              <a:ahLst/>
              <a:cxnLst/>
              <a:rect r="r" b="b" t="t" l="l"/>
              <a:pathLst>
                <a:path h="4780661" w="10589768">
                  <a:moveTo>
                    <a:pt x="0" y="0"/>
                  </a:moveTo>
                  <a:lnTo>
                    <a:pt x="10589768" y="0"/>
                  </a:lnTo>
                  <a:lnTo>
                    <a:pt x="10589768" y="4780661"/>
                  </a:lnTo>
                  <a:lnTo>
                    <a:pt x="0" y="4780661"/>
                  </a:lnTo>
                  <a:close/>
                </a:path>
              </a:pathLst>
            </a:custGeom>
            <a:solidFill>
              <a:srgbClr val="FFFFFF"/>
            </a:solidFill>
            <a:ln w="1428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42781" y="1599886"/>
            <a:ext cx="4285412" cy="428539"/>
            <a:chOff x="0" y="0"/>
            <a:chExt cx="5713882" cy="571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3884" cy="571388"/>
            </a:xfrm>
            <a:custGeom>
              <a:avLst/>
              <a:gdLst/>
              <a:ahLst/>
              <a:cxnLst/>
              <a:rect r="r" b="b" t="t" l="l"/>
              <a:pathLst>
                <a:path h="571388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5713882" cy="6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Dataset Loading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42781" y="1980790"/>
            <a:ext cx="7356624" cy="284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COCO dataset loading &amp; annotation parsing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Image conversion to RGB format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Bounding box normalization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Label mapping to COCO 80 classes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063647" y="1421330"/>
            <a:ext cx="8370837" cy="2228412"/>
            <a:chOff x="0" y="0"/>
            <a:chExt cx="11161116" cy="2971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61141" cy="2971165"/>
            </a:xfrm>
            <a:custGeom>
              <a:avLst/>
              <a:gdLst/>
              <a:ahLst/>
              <a:cxnLst/>
              <a:rect r="r" b="b" t="t" l="l"/>
              <a:pathLst>
                <a:path h="2971165" w="11161141">
                  <a:moveTo>
                    <a:pt x="0" y="0"/>
                  </a:moveTo>
                  <a:lnTo>
                    <a:pt x="11161141" y="0"/>
                  </a:lnTo>
                  <a:lnTo>
                    <a:pt x="11161141" y="2971165"/>
                  </a:lnTo>
                  <a:lnTo>
                    <a:pt x="0" y="2971165"/>
                  </a:lnTo>
                  <a:close/>
                </a:path>
              </a:pathLst>
            </a:custGeom>
            <a:solidFill>
              <a:srgbClr val="FFFFFF"/>
            </a:solidFill>
            <a:ln w="1428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56484" y="1599886"/>
            <a:ext cx="4285412" cy="428539"/>
            <a:chOff x="0" y="0"/>
            <a:chExt cx="5713882" cy="5713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3884" cy="571388"/>
            </a:xfrm>
            <a:custGeom>
              <a:avLst/>
              <a:gdLst/>
              <a:ahLst/>
              <a:cxnLst/>
              <a:rect r="r" b="b" t="t" l="l"/>
              <a:pathLst>
                <a:path h="571388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5713882" cy="6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Resize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356484" y="1980790"/>
            <a:ext cx="7785164" cy="149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YOLOv5s: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640 x 640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DETR: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800 x 800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063647" y="3778310"/>
            <a:ext cx="8370837" cy="2228412"/>
            <a:chOff x="0" y="0"/>
            <a:chExt cx="11161116" cy="2971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161141" cy="2971165"/>
            </a:xfrm>
            <a:custGeom>
              <a:avLst/>
              <a:gdLst/>
              <a:ahLst/>
              <a:cxnLst/>
              <a:rect r="r" b="b" t="t" l="l"/>
              <a:pathLst>
                <a:path h="2971165" w="11161141">
                  <a:moveTo>
                    <a:pt x="0" y="0"/>
                  </a:moveTo>
                  <a:lnTo>
                    <a:pt x="11161141" y="0"/>
                  </a:lnTo>
                  <a:lnTo>
                    <a:pt x="11161141" y="2971165"/>
                  </a:lnTo>
                  <a:lnTo>
                    <a:pt x="0" y="2971165"/>
                  </a:lnTo>
                  <a:close/>
                </a:path>
              </a:pathLst>
            </a:custGeom>
            <a:solidFill>
              <a:srgbClr val="FFFFFF"/>
            </a:solidFill>
            <a:ln w="1428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356484" y="3956866"/>
            <a:ext cx="4285412" cy="428539"/>
            <a:chOff x="0" y="0"/>
            <a:chExt cx="5713882" cy="5713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13884" cy="571388"/>
            </a:xfrm>
            <a:custGeom>
              <a:avLst/>
              <a:gdLst/>
              <a:ahLst/>
              <a:cxnLst/>
              <a:rect r="r" b="b" t="t" l="l"/>
              <a:pathLst>
                <a:path h="571388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5713882" cy="6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Normalization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356484" y="4337761"/>
            <a:ext cx="7785164" cy="149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DETR: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ImageNet mean / std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YOLOv5s: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Pixel value scaling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713108" y="9713605"/>
            <a:ext cx="1071353" cy="357121"/>
            <a:chOff x="0" y="0"/>
            <a:chExt cx="1428471" cy="4761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28471" cy="476157"/>
            </a:xfrm>
            <a:custGeom>
              <a:avLst/>
              <a:gdLst/>
              <a:ahLst/>
              <a:cxnLst/>
              <a:rect r="r" b="b" t="t" l="l"/>
              <a:pathLst>
                <a:path h="476157" w="1428471">
                  <a:moveTo>
                    <a:pt x="0" y="0"/>
                  </a:moveTo>
                  <a:lnTo>
                    <a:pt x="1428471" y="0"/>
                  </a:lnTo>
                  <a:lnTo>
                    <a:pt x="1428471" y="476157"/>
                  </a:lnTo>
                  <a:lnTo>
                    <a:pt x="0" y="476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4" r="0" b="-84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428471" cy="552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5"/>
                </a:lnSpc>
              </a:pPr>
              <a:r>
                <a:rPr lang="en-US" sz="1574">
                  <a:solidFill>
                    <a:srgbClr val="64748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02 / 07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428539"/>
            <a:ext cx="8570824" cy="571386"/>
            <a:chOff x="0" y="0"/>
            <a:chExt cx="11427765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27768" cy="761851"/>
            </a:xfrm>
            <a:custGeom>
              <a:avLst/>
              <a:gdLst/>
              <a:ahLst/>
              <a:cxnLst/>
              <a:rect r="r" b="b" t="t" l="l"/>
              <a:pathLst>
                <a:path h="761851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1427765" cy="8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3"/>
                </a:lnSpc>
              </a:pPr>
              <a:r>
                <a:rPr lang="en-US" sz="31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Postprocessing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5657" y="1049922"/>
            <a:ext cx="1185634" cy="42853"/>
            <a:chOff x="0" y="0"/>
            <a:chExt cx="1580845" cy="571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0896" cy="57150"/>
            </a:xfrm>
            <a:custGeom>
              <a:avLst/>
              <a:gdLst/>
              <a:ahLst/>
              <a:cxnLst/>
              <a:rect r="r" b="b" t="t" l="l"/>
              <a:pathLst>
                <a:path h="57150" w="1580896">
                  <a:moveTo>
                    <a:pt x="0" y="0"/>
                  </a:moveTo>
                  <a:lnTo>
                    <a:pt x="1580896" y="571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88993" r="3" b="-488971"/>
              </a:stretch>
            </a:blipFill>
            <a:ln w="42854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49944" y="1421330"/>
            <a:ext cx="7942297" cy="6299559"/>
            <a:chOff x="0" y="0"/>
            <a:chExt cx="10589730" cy="83994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89768" cy="8399399"/>
            </a:xfrm>
            <a:custGeom>
              <a:avLst/>
              <a:gdLst/>
              <a:ahLst/>
              <a:cxnLst/>
              <a:rect r="r" b="b" t="t" l="l"/>
              <a:pathLst>
                <a:path h="8399399" w="10589768">
                  <a:moveTo>
                    <a:pt x="0" y="0"/>
                  </a:moveTo>
                  <a:lnTo>
                    <a:pt x="10589768" y="0"/>
                  </a:lnTo>
                  <a:lnTo>
                    <a:pt x="10589768" y="8399399"/>
                  </a:lnTo>
                  <a:lnTo>
                    <a:pt x="0" y="8399399"/>
                  </a:lnTo>
                  <a:close/>
                </a:path>
              </a:pathLst>
            </a:custGeom>
            <a:solidFill>
              <a:srgbClr val="FFFFFF"/>
            </a:solidFill>
            <a:ln w="1428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57079" y="1428474"/>
            <a:ext cx="7928010" cy="714232"/>
            <a:chOff x="0" y="0"/>
            <a:chExt cx="10570680" cy="952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70718" cy="952373"/>
            </a:xfrm>
            <a:custGeom>
              <a:avLst/>
              <a:gdLst/>
              <a:ahLst/>
              <a:cxnLst/>
              <a:rect r="r" b="b" t="t" l="l"/>
              <a:pathLst>
                <a:path h="952373" w="10570718">
                  <a:moveTo>
                    <a:pt x="0" y="0"/>
                  </a:moveTo>
                  <a:lnTo>
                    <a:pt x="10570718" y="0"/>
                  </a:lnTo>
                  <a:lnTo>
                    <a:pt x="10570718" y="952373"/>
                  </a:lnTo>
                  <a:lnTo>
                    <a:pt x="0" y="952373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079" y="1428474"/>
            <a:ext cx="7928010" cy="714232"/>
            <a:chOff x="0" y="0"/>
            <a:chExt cx="10570680" cy="9523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70686" cy="952314"/>
            </a:xfrm>
            <a:custGeom>
              <a:avLst/>
              <a:gdLst/>
              <a:ahLst/>
              <a:cxnLst/>
              <a:rect r="r" b="b" t="t" l="l"/>
              <a:pathLst>
                <a:path h="952314" w="10570686">
                  <a:moveTo>
                    <a:pt x="0" y="0"/>
                  </a:moveTo>
                  <a:lnTo>
                    <a:pt x="10570686" y="0"/>
                  </a:lnTo>
                  <a:lnTo>
                    <a:pt x="10570686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284" r="0" b="-16628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570680" cy="1009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F1F5F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DETR Postprocessing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14199" y="2428399"/>
            <a:ext cx="457114" cy="457114"/>
          </a:xfrm>
          <a:custGeom>
            <a:avLst/>
            <a:gdLst/>
            <a:ahLst/>
            <a:cxnLst/>
            <a:rect r="r" b="b" t="t" l="l"/>
            <a:pathLst>
              <a:path h="457114" w="457114">
                <a:moveTo>
                  <a:pt x="0" y="0"/>
                </a:moveTo>
                <a:lnTo>
                  <a:pt x="457115" y="0"/>
                </a:lnTo>
                <a:lnTo>
                  <a:pt x="457115" y="457114"/>
                </a:lnTo>
                <a:lnTo>
                  <a:pt x="0" y="457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14199" y="2937862"/>
            <a:ext cx="7285206" cy="456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49" b="true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Box Decoding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(cx, cy, w, h) -&gt; (x1, y1, x2, y2)</a:t>
            </a:r>
          </a:p>
          <a:p>
            <a:pPr algn="l" marL="305276" indent="-152638" lvl="1">
              <a:lnSpc>
                <a:spcPts val="4049"/>
              </a:lnSpc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Filtering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Confidence thresholding on class logits</a:t>
            </a:r>
          </a:p>
          <a:p>
            <a:pPr algn="l" marL="305276" indent="-152638" lvl="1">
              <a:lnSpc>
                <a:spcPts val="4049"/>
              </a:lnSpc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Key Characteristic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D97706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 NMS required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— set-based prediction eliminates duplicates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92186" y="1421330"/>
            <a:ext cx="7942297" cy="6299559"/>
            <a:chOff x="0" y="0"/>
            <a:chExt cx="10589730" cy="83994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89768" cy="8399399"/>
            </a:xfrm>
            <a:custGeom>
              <a:avLst/>
              <a:gdLst/>
              <a:ahLst/>
              <a:cxnLst/>
              <a:rect r="r" b="b" t="t" l="l"/>
              <a:pathLst>
                <a:path h="8399399" w="10589768">
                  <a:moveTo>
                    <a:pt x="0" y="0"/>
                  </a:moveTo>
                  <a:lnTo>
                    <a:pt x="10589768" y="0"/>
                  </a:lnTo>
                  <a:lnTo>
                    <a:pt x="10589768" y="8399399"/>
                  </a:lnTo>
                  <a:lnTo>
                    <a:pt x="0" y="8399399"/>
                  </a:lnTo>
                  <a:close/>
                </a:path>
              </a:pathLst>
            </a:custGeom>
            <a:solidFill>
              <a:srgbClr val="FFFFFF"/>
            </a:solidFill>
            <a:ln w="1428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499330" y="1428474"/>
            <a:ext cx="7928010" cy="714232"/>
            <a:chOff x="0" y="0"/>
            <a:chExt cx="10570680" cy="9523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70718" cy="952373"/>
            </a:xfrm>
            <a:custGeom>
              <a:avLst/>
              <a:gdLst/>
              <a:ahLst/>
              <a:cxnLst/>
              <a:rect r="r" b="b" t="t" l="l"/>
              <a:pathLst>
                <a:path h="952373" w="10570718">
                  <a:moveTo>
                    <a:pt x="0" y="0"/>
                  </a:moveTo>
                  <a:lnTo>
                    <a:pt x="10570718" y="0"/>
                  </a:lnTo>
                  <a:lnTo>
                    <a:pt x="10570718" y="952373"/>
                  </a:lnTo>
                  <a:lnTo>
                    <a:pt x="0" y="952373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99330" y="1428474"/>
            <a:ext cx="7928010" cy="714232"/>
            <a:chOff x="0" y="0"/>
            <a:chExt cx="10570680" cy="9523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70686" cy="952314"/>
            </a:xfrm>
            <a:custGeom>
              <a:avLst/>
              <a:gdLst/>
              <a:ahLst/>
              <a:cxnLst/>
              <a:rect r="r" b="b" t="t" l="l"/>
              <a:pathLst>
                <a:path h="952314" w="10570686">
                  <a:moveTo>
                    <a:pt x="0" y="0"/>
                  </a:moveTo>
                  <a:lnTo>
                    <a:pt x="10570686" y="0"/>
                  </a:lnTo>
                  <a:lnTo>
                    <a:pt x="10570686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284" r="0" b="-16628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570680" cy="1009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F1F5F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YOLOv5s Postprocessing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56451" y="2428399"/>
            <a:ext cx="457114" cy="457114"/>
            <a:chOff x="0" y="0"/>
            <a:chExt cx="609486" cy="60948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141" y="76200"/>
              <a:ext cx="609633" cy="533292"/>
            </a:xfrm>
            <a:custGeom>
              <a:avLst/>
              <a:gdLst/>
              <a:ahLst/>
              <a:cxnLst/>
              <a:rect r="r" b="b" t="t" l="l"/>
              <a:pathLst>
                <a:path h="533292" w="609633">
                  <a:moveTo>
                    <a:pt x="38241" y="0"/>
                  </a:moveTo>
                  <a:cubicBezTo>
                    <a:pt x="22874" y="0"/>
                    <a:pt x="8904" y="9271"/>
                    <a:pt x="2935" y="23495"/>
                  </a:cubicBezTo>
                  <a:cubicBezTo>
                    <a:pt x="-3034" y="37719"/>
                    <a:pt x="268" y="54102"/>
                    <a:pt x="11317" y="64897"/>
                  </a:cubicBezTo>
                  <a:lnTo>
                    <a:pt x="228741" y="282448"/>
                  </a:lnTo>
                  <a:lnTo>
                    <a:pt x="228741" y="418973"/>
                  </a:lnTo>
                  <a:cubicBezTo>
                    <a:pt x="228741" y="429133"/>
                    <a:pt x="232805" y="438785"/>
                    <a:pt x="239917" y="445897"/>
                  </a:cubicBezTo>
                  <a:lnTo>
                    <a:pt x="316117" y="522097"/>
                  </a:lnTo>
                  <a:cubicBezTo>
                    <a:pt x="327039" y="533019"/>
                    <a:pt x="343422" y="536321"/>
                    <a:pt x="357646" y="530352"/>
                  </a:cubicBezTo>
                  <a:cubicBezTo>
                    <a:pt x="371870" y="524383"/>
                    <a:pt x="381141" y="510540"/>
                    <a:pt x="381141" y="495173"/>
                  </a:cubicBezTo>
                  <a:lnTo>
                    <a:pt x="381141" y="282448"/>
                  </a:lnTo>
                  <a:lnTo>
                    <a:pt x="598438" y="65151"/>
                  </a:lnTo>
                  <a:cubicBezTo>
                    <a:pt x="609360" y="54229"/>
                    <a:pt x="612662" y="37846"/>
                    <a:pt x="606693" y="23622"/>
                  </a:cubicBezTo>
                  <a:cubicBezTo>
                    <a:pt x="600724" y="9398"/>
                    <a:pt x="586881" y="0"/>
                    <a:pt x="571514" y="0"/>
                  </a:cubicBezTo>
                  <a:lnTo>
                    <a:pt x="38241" y="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856451" y="2937862"/>
            <a:ext cx="7285206" cy="349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249" b="true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Anchor Decoding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Decode anchor boxes at multiple scales</a:t>
            </a:r>
          </a:p>
          <a:p>
            <a:pPr algn="l" marL="305276" indent="-152638" lvl="1">
              <a:lnSpc>
                <a:spcPts val="4049"/>
              </a:lnSpc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Score Computation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Score = objectness x class confidence</a:t>
            </a:r>
          </a:p>
          <a:p>
            <a:pPr algn="l" marL="305276" indent="-152638" lvl="1">
              <a:lnSpc>
                <a:spcPts val="4049"/>
              </a:lnSpc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Duplicate Removal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Apply </a:t>
            </a:r>
            <a:r>
              <a:rPr lang="en-US" b="true" sz="2249">
                <a:solidFill>
                  <a:srgbClr val="D97706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Non-Maximum Suppression (NMS)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to eliminate overlapping detections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713108" y="9713605"/>
            <a:ext cx="1071353" cy="357121"/>
            <a:chOff x="0" y="0"/>
            <a:chExt cx="1428471" cy="4761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28471" cy="476157"/>
            </a:xfrm>
            <a:custGeom>
              <a:avLst/>
              <a:gdLst/>
              <a:ahLst/>
              <a:cxnLst/>
              <a:rect r="r" b="b" t="t" l="l"/>
              <a:pathLst>
                <a:path h="476157" w="1428471">
                  <a:moveTo>
                    <a:pt x="0" y="0"/>
                  </a:moveTo>
                  <a:lnTo>
                    <a:pt x="1428471" y="0"/>
                  </a:lnTo>
                  <a:lnTo>
                    <a:pt x="1428471" y="476157"/>
                  </a:lnTo>
                  <a:lnTo>
                    <a:pt x="0" y="476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4" r="0" b="-84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1428471" cy="552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5"/>
                </a:lnSpc>
              </a:pPr>
              <a:r>
                <a:rPr lang="en-US" sz="1574">
                  <a:solidFill>
                    <a:srgbClr val="64748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04 / 07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428539"/>
            <a:ext cx="9999297" cy="571386"/>
            <a:chOff x="0" y="0"/>
            <a:chExt cx="1333239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2396" cy="761851"/>
            </a:xfrm>
            <a:custGeom>
              <a:avLst/>
              <a:gdLst/>
              <a:ahLst/>
              <a:cxnLst/>
              <a:rect r="r" b="b" t="t" l="l"/>
              <a:pathLst>
                <a:path h="761851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13332396" cy="8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3"/>
                </a:lnSpc>
              </a:pPr>
              <a:r>
                <a:rPr lang="en-US" sz="31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Magnitude Pruning Workflow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5657" y="1049922"/>
            <a:ext cx="1185634" cy="42853"/>
            <a:chOff x="0" y="0"/>
            <a:chExt cx="1580845" cy="571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0896" cy="57150"/>
            </a:xfrm>
            <a:custGeom>
              <a:avLst/>
              <a:gdLst/>
              <a:ahLst/>
              <a:cxnLst/>
              <a:rect r="r" b="b" t="t" l="l"/>
              <a:pathLst>
                <a:path h="57150" w="1580896">
                  <a:moveTo>
                    <a:pt x="0" y="0"/>
                  </a:moveTo>
                  <a:lnTo>
                    <a:pt x="1580896" y="571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88993" r="3" b="-488971"/>
              </a:stretch>
            </a:blipFill>
            <a:ln w="42854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42781" y="1857013"/>
            <a:ext cx="3285487" cy="1142781"/>
            <a:chOff x="0" y="0"/>
            <a:chExt cx="4380649" cy="15237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0611" cy="1523746"/>
            </a:xfrm>
            <a:custGeom>
              <a:avLst/>
              <a:gdLst/>
              <a:ahLst/>
              <a:cxnLst/>
              <a:rect r="r" b="b" t="t" l="l"/>
              <a:pathLst>
                <a:path h="1523746" w="4380611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258691" y="0"/>
                  </a:lnTo>
                  <a:cubicBezTo>
                    <a:pt x="4326001" y="0"/>
                    <a:pt x="4380611" y="54610"/>
                    <a:pt x="4380611" y="121920"/>
                  </a:cubicBezTo>
                  <a:lnTo>
                    <a:pt x="4380611" y="1401826"/>
                  </a:lnTo>
                  <a:cubicBezTo>
                    <a:pt x="4380611" y="1469136"/>
                    <a:pt x="4326001" y="1523746"/>
                    <a:pt x="4258691" y="1523746"/>
                  </a:cubicBezTo>
                  <a:lnTo>
                    <a:pt x="121920" y="1523746"/>
                  </a:lnTo>
                  <a:cubicBezTo>
                    <a:pt x="54610" y="1523746"/>
                    <a:pt x="0" y="1469136"/>
                    <a:pt x="0" y="140182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2781" y="1857013"/>
            <a:ext cx="3285487" cy="1142781"/>
            <a:chOff x="0" y="0"/>
            <a:chExt cx="4380649" cy="1523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0644" cy="1523702"/>
            </a:xfrm>
            <a:custGeom>
              <a:avLst/>
              <a:gdLst/>
              <a:ahLst/>
              <a:cxnLst/>
              <a:rect r="r" b="b" t="t" l="l"/>
              <a:pathLst>
                <a:path h="1523702" w="4380644">
                  <a:moveTo>
                    <a:pt x="0" y="0"/>
                  </a:moveTo>
                  <a:lnTo>
                    <a:pt x="4380644" y="0"/>
                  </a:lnTo>
                  <a:lnTo>
                    <a:pt x="4380644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" r="0" b="-60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380649" cy="158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 b="true">
                  <a:solidFill>
                    <a:srgbClr val="F1F5F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Baseline Model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13971" y="2342693"/>
            <a:ext cx="885654" cy="28565"/>
            <a:chOff x="0" y="0"/>
            <a:chExt cx="1180871" cy="380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0846" cy="38100"/>
            </a:xfrm>
            <a:custGeom>
              <a:avLst/>
              <a:gdLst/>
              <a:ahLst/>
              <a:cxnLst/>
              <a:rect r="r" b="b" t="t" l="l"/>
              <a:pathLst>
                <a:path h="38100" w="1180846">
                  <a:moveTo>
                    <a:pt x="0" y="0"/>
                  </a:moveTo>
                  <a:lnTo>
                    <a:pt x="1180846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53935" r="-2" b="-553902"/>
              </a:stretch>
            </a:blipFill>
            <a:ln w="28569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285346" y="1857013"/>
            <a:ext cx="3285487" cy="1142781"/>
            <a:chOff x="0" y="0"/>
            <a:chExt cx="4380649" cy="15237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0611" cy="1523746"/>
            </a:xfrm>
            <a:custGeom>
              <a:avLst/>
              <a:gdLst/>
              <a:ahLst/>
              <a:cxnLst/>
              <a:rect r="r" b="b" t="t" l="l"/>
              <a:pathLst>
                <a:path h="1523746" w="4380611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258691" y="0"/>
                  </a:lnTo>
                  <a:cubicBezTo>
                    <a:pt x="4326001" y="0"/>
                    <a:pt x="4380611" y="54610"/>
                    <a:pt x="4380611" y="121920"/>
                  </a:cubicBezTo>
                  <a:lnTo>
                    <a:pt x="4380611" y="1401826"/>
                  </a:lnTo>
                  <a:cubicBezTo>
                    <a:pt x="4380611" y="1469136"/>
                    <a:pt x="4326001" y="1523746"/>
                    <a:pt x="4258691" y="1523746"/>
                  </a:cubicBezTo>
                  <a:lnTo>
                    <a:pt x="121920" y="1523746"/>
                  </a:lnTo>
                  <a:cubicBezTo>
                    <a:pt x="54610" y="1523746"/>
                    <a:pt x="0" y="1469136"/>
                    <a:pt x="0" y="1401826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285346" y="1857013"/>
            <a:ext cx="3285487" cy="1142781"/>
            <a:chOff x="0" y="0"/>
            <a:chExt cx="4380649" cy="15237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0644" cy="1523702"/>
            </a:xfrm>
            <a:custGeom>
              <a:avLst/>
              <a:gdLst/>
              <a:ahLst/>
              <a:cxnLst/>
              <a:rect r="r" b="b" t="t" l="l"/>
              <a:pathLst>
                <a:path h="1523702" w="4380644">
                  <a:moveTo>
                    <a:pt x="0" y="0"/>
                  </a:moveTo>
                  <a:lnTo>
                    <a:pt x="4380644" y="0"/>
                  </a:lnTo>
                  <a:lnTo>
                    <a:pt x="4380644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" r="0" b="-601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380649" cy="158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 b="true">
                  <a:solidFill>
                    <a:srgbClr val="F1F5F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L1 Pruning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56546" y="2342693"/>
            <a:ext cx="885654" cy="28565"/>
            <a:chOff x="0" y="0"/>
            <a:chExt cx="1180871" cy="380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0846" cy="38100"/>
            </a:xfrm>
            <a:custGeom>
              <a:avLst/>
              <a:gdLst/>
              <a:ahLst/>
              <a:cxnLst/>
              <a:rect r="r" b="b" t="t" l="l"/>
              <a:pathLst>
                <a:path h="38100" w="1180846">
                  <a:moveTo>
                    <a:pt x="0" y="0"/>
                  </a:moveTo>
                  <a:lnTo>
                    <a:pt x="1180846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53935" r="-2" b="-553902"/>
              </a:stretch>
            </a:blipFill>
            <a:ln w="28569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27912" y="1857013"/>
            <a:ext cx="3285487" cy="1142781"/>
            <a:chOff x="0" y="0"/>
            <a:chExt cx="4380649" cy="15237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0611" cy="1523746"/>
            </a:xfrm>
            <a:custGeom>
              <a:avLst/>
              <a:gdLst/>
              <a:ahLst/>
              <a:cxnLst/>
              <a:rect r="r" b="b" t="t" l="l"/>
              <a:pathLst>
                <a:path h="1523746" w="4380611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258691" y="0"/>
                  </a:lnTo>
                  <a:cubicBezTo>
                    <a:pt x="4326001" y="0"/>
                    <a:pt x="4380611" y="54610"/>
                    <a:pt x="4380611" y="121920"/>
                  </a:cubicBezTo>
                  <a:lnTo>
                    <a:pt x="4380611" y="1401826"/>
                  </a:lnTo>
                  <a:cubicBezTo>
                    <a:pt x="4380611" y="1469136"/>
                    <a:pt x="4326001" y="1523746"/>
                    <a:pt x="4258691" y="1523746"/>
                  </a:cubicBezTo>
                  <a:lnTo>
                    <a:pt x="121920" y="1523746"/>
                  </a:lnTo>
                  <a:cubicBezTo>
                    <a:pt x="54610" y="1523746"/>
                    <a:pt x="0" y="1469136"/>
                    <a:pt x="0" y="140182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27912" y="1857013"/>
            <a:ext cx="3285487" cy="1142781"/>
            <a:chOff x="0" y="0"/>
            <a:chExt cx="4380649" cy="15237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0644" cy="1523702"/>
            </a:xfrm>
            <a:custGeom>
              <a:avLst/>
              <a:gdLst/>
              <a:ahLst/>
              <a:cxnLst/>
              <a:rect r="r" b="b" t="t" l="l"/>
              <a:pathLst>
                <a:path h="1523702" w="4380644">
                  <a:moveTo>
                    <a:pt x="0" y="0"/>
                  </a:moveTo>
                  <a:lnTo>
                    <a:pt x="4380644" y="0"/>
                  </a:lnTo>
                  <a:lnTo>
                    <a:pt x="4380644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" r="0" b="-601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380649" cy="158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 b="true">
                  <a:solidFill>
                    <a:srgbClr val="F1F5F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Sparse Model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699111" y="2342693"/>
            <a:ext cx="885654" cy="28565"/>
            <a:chOff x="0" y="0"/>
            <a:chExt cx="1180871" cy="3808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80846" cy="38100"/>
            </a:xfrm>
            <a:custGeom>
              <a:avLst/>
              <a:gdLst/>
              <a:ahLst/>
              <a:cxnLst/>
              <a:rect r="r" b="b" t="t" l="l"/>
              <a:pathLst>
                <a:path h="38100" w="1180846">
                  <a:moveTo>
                    <a:pt x="0" y="0"/>
                  </a:moveTo>
                  <a:lnTo>
                    <a:pt x="1180846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53935" r="-2" b="-553902"/>
              </a:stretch>
            </a:blipFill>
            <a:ln w="28569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570477" y="1857013"/>
            <a:ext cx="3285487" cy="1142781"/>
            <a:chOff x="0" y="0"/>
            <a:chExt cx="4380649" cy="15237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80611" cy="1523746"/>
            </a:xfrm>
            <a:custGeom>
              <a:avLst/>
              <a:gdLst/>
              <a:ahLst/>
              <a:cxnLst/>
              <a:rect r="r" b="b" t="t" l="l"/>
              <a:pathLst>
                <a:path h="1523746" w="4380611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258691" y="0"/>
                  </a:lnTo>
                  <a:cubicBezTo>
                    <a:pt x="4326001" y="0"/>
                    <a:pt x="4380611" y="54610"/>
                    <a:pt x="4380611" y="121920"/>
                  </a:cubicBezTo>
                  <a:lnTo>
                    <a:pt x="4380611" y="1401826"/>
                  </a:lnTo>
                  <a:cubicBezTo>
                    <a:pt x="4380611" y="1469136"/>
                    <a:pt x="4326001" y="1523746"/>
                    <a:pt x="4258691" y="1523746"/>
                  </a:cubicBezTo>
                  <a:lnTo>
                    <a:pt x="121920" y="1523746"/>
                  </a:lnTo>
                  <a:cubicBezTo>
                    <a:pt x="54610" y="1523746"/>
                    <a:pt x="0" y="1469136"/>
                    <a:pt x="0" y="140182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570477" y="1857013"/>
            <a:ext cx="3285487" cy="1142781"/>
            <a:chOff x="0" y="0"/>
            <a:chExt cx="4380649" cy="15237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0644" cy="1523702"/>
            </a:xfrm>
            <a:custGeom>
              <a:avLst/>
              <a:gdLst/>
              <a:ahLst/>
              <a:cxnLst/>
              <a:rect r="r" b="b" t="t" l="l"/>
              <a:pathLst>
                <a:path h="1523702" w="4380644">
                  <a:moveTo>
                    <a:pt x="0" y="0"/>
                  </a:moveTo>
                  <a:lnTo>
                    <a:pt x="4380644" y="0"/>
                  </a:lnTo>
                  <a:lnTo>
                    <a:pt x="4380644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" r="0" b="-601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4380649" cy="158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 b="true">
                  <a:solidFill>
                    <a:srgbClr val="F1F5F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Benchmark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49944" y="3564036"/>
            <a:ext cx="16584549" cy="4442546"/>
            <a:chOff x="0" y="0"/>
            <a:chExt cx="22112732" cy="59233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12732" cy="5923407"/>
            </a:xfrm>
            <a:custGeom>
              <a:avLst/>
              <a:gdLst/>
              <a:ahLst/>
              <a:cxnLst/>
              <a:rect r="r" b="b" t="t" l="l"/>
              <a:pathLst>
                <a:path h="5923407" w="22112732">
                  <a:moveTo>
                    <a:pt x="0" y="0"/>
                  </a:moveTo>
                  <a:lnTo>
                    <a:pt x="22112732" y="0"/>
                  </a:lnTo>
                  <a:lnTo>
                    <a:pt x="22112732" y="5923407"/>
                  </a:lnTo>
                  <a:lnTo>
                    <a:pt x="0" y="5923407"/>
                  </a:lnTo>
                  <a:close/>
                </a:path>
              </a:pathLst>
            </a:custGeom>
            <a:solidFill>
              <a:srgbClr val="FFFFFF"/>
            </a:solidFill>
            <a:ln w="1428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14199" y="3785445"/>
            <a:ext cx="5713886" cy="428539"/>
            <a:chOff x="0" y="0"/>
            <a:chExt cx="7618514" cy="57138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18512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7618514" cy="6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0"/>
                </a:lnSpc>
              </a:pPr>
              <a:r>
                <a:rPr lang="en-US" sz="2474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Pruning Details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14199" y="4223490"/>
            <a:ext cx="15856029" cy="198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Unstructured L1 magnitude pruning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— removes weights with smallest absolute values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Configurable sparsity ratio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— target sparsity: 30%, 50%, 70%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Model protection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— critical layers preserved (batch norm, first/last layers)</a:t>
            </a:r>
          </a:p>
          <a:p>
            <a:pPr algn="l" marL="305276" indent="-152638" lvl="1">
              <a:lnSpc>
                <a:spcPts val="4049"/>
              </a:lnSpc>
              <a:buFont typeface="Arial"/>
              <a:buChar char="•"/>
            </a:pPr>
            <a:r>
              <a:rPr lang="en-US" b="true" sz="2249">
                <a:solidFill>
                  <a:srgbClr val="0F172A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Sparse checkpoint saved</a:t>
            </a:r>
            <a:r>
              <a:rPr lang="en-US" sz="2249">
                <a:solidFill>
                  <a:srgbClr val="0F172A"/>
                </a:solidFill>
                <a:latin typeface="Quattrocento"/>
                <a:ea typeface="Quattrocento"/>
                <a:cs typeface="Quattrocento"/>
                <a:sym typeface="Quattrocento"/>
              </a:rPr>
              <a:t> for evaluation and deployment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6713108" y="9713605"/>
            <a:ext cx="1071353" cy="357121"/>
            <a:chOff x="0" y="0"/>
            <a:chExt cx="1428471" cy="47616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28471" cy="476157"/>
            </a:xfrm>
            <a:custGeom>
              <a:avLst/>
              <a:gdLst/>
              <a:ahLst/>
              <a:cxnLst/>
              <a:rect r="r" b="b" t="t" l="l"/>
              <a:pathLst>
                <a:path h="476157" w="1428471">
                  <a:moveTo>
                    <a:pt x="0" y="0"/>
                  </a:moveTo>
                  <a:lnTo>
                    <a:pt x="1428471" y="0"/>
                  </a:lnTo>
                  <a:lnTo>
                    <a:pt x="1428471" y="476157"/>
                  </a:lnTo>
                  <a:lnTo>
                    <a:pt x="0" y="476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4" r="0" b="-84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428471" cy="552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5"/>
                </a:lnSpc>
              </a:pPr>
              <a:r>
                <a:rPr lang="en-US" sz="1574">
                  <a:solidFill>
                    <a:srgbClr val="64748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05 / 07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2184" y="1781901"/>
            <a:ext cx="14704756" cy="533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6"/>
              </a:lnSpc>
              <a:spcBef>
                <a:spcPct val="0"/>
              </a:spcBef>
            </a:pPr>
            <a:r>
              <a:rPr lang="en-US" b="true" sz="2928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Conventional Solution</a:t>
            </a:r>
          </a:p>
          <a:p>
            <a:pPr algn="l" marL="632186" indent="-316093" lvl="1">
              <a:lnSpc>
                <a:spcPts val="4216"/>
              </a:lnSpc>
              <a:buFont typeface="Arial"/>
              <a:buChar char="•"/>
            </a:pPr>
            <a:r>
              <a:rPr lang="en-US" b="true" sz="2928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Unstructured Pruning removes individual weights, producing a sparse matrix.</a:t>
            </a:r>
          </a:p>
          <a:p>
            <a:pPr algn="l" marL="632186" indent="-316093" lvl="1">
              <a:lnSpc>
                <a:spcPts val="4216"/>
              </a:lnSpc>
              <a:buFont typeface="Arial"/>
              <a:buChar char="•"/>
            </a:pPr>
            <a:r>
              <a:rPr lang="en-US" b="true" sz="2928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Requires specialized sparse hardware or software optimization to achieve inference speedup.</a:t>
            </a:r>
          </a:p>
          <a:p>
            <a:pPr algn="l">
              <a:lnSpc>
                <a:spcPts val="4216"/>
              </a:lnSpc>
              <a:spcBef>
                <a:spcPct val="0"/>
              </a:spcBef>
            </a:pPr>
            <a:r>
              <a:rPr lang="en-US" b="true" sz="2928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Proposed Solution</a:t>
            </a:r>
          </a:p>
          <a:p>
            <a:pPr algn="l" marL="632186" indent="-316093" lvl="1">
              <a:lnSpc>
                <a:spcPts val="4216"/>
              </a:lnSpc>
              <a:buFont typeface="Arial"/>
              <a:buChar char="•"/>
            </a:pPr>
            <a:r>
              <a:rPr lang="en-US" b="true" sz="2928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Structured Channel Pruning (Filter Pruning)</a:t>
            </a:r>
          </a:p>
          <a:p>
            <a:pPr algn="l" marL="632186" indent="-316093" lvl="1">
              <a:lnSpc>
                <a:spcPts val="4216"/>
              </a:lnSpc>
              <a:buFont typeface="Arial"/>
              <a:buChar char="•"/>
            </a:pPr>
            <a:r>
              <a:rPr lang="en-US" b="true" sz="2928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Completely removes less important convolutional filters.</a:t>
            </a:r>
          </a:p>
          <a:p>
            <a:pPr algn="l" marL="632186" indent="-316093" lvl="1">
              <a:lnSpc>
                <a:spcPts val="4216"/>
              </a:lnSpc>
              <a:buFont typeface="Arial"/>
              <a:buChar char="•"/>
            </a:pPr>
            <a:r>
              <a:rPr lang="en-US" b="true" sz="2928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Physically reduces the size of the weight tensors.</a:t>
            </a:r>
          </a:p>
          <a:p>
            <a:pPr algn="l" marL="632186" indent="-316093" lvl="1">
              <a:lnSpc>
                <a:spcPts val="4216"/>
              </a:lnSpc>
              <a:buFont typeface="Arial"/>
              <a:buChar char="•"/>
            </a:pPr>
            <a:r>
              <a:rPr lang="en-US" b="true" sz="2928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Enables direct inference acceleration on standard CPUs and GPUs without requiring specialized hardware.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7079" y="428539"/>
            <a:ext cx="9999297" cy="615811"/>
            <a:chOff x="0" y="0"/>
            <a:chExt cx="13332396" cy="8210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396" cy="821085"/>
            </a:xfrm>
            <a:custGeom>
              <a:avLst/>
              <a:gdLst/>
              <a:ahLst/>
              <a:cxnLst/>
              <a:rect r="r" b="b" t="t" l="l"/>
              <a:pathLst>
                <a:path h="821085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21085"/>
                  </a:lnTo>
                  <a:lnTo>
                    <a:pt x="0" y="8210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996" r="0" b="-2627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13332396" cy="96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49"/>
                </a:lnSpc>
              </a:pP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Structure </a:t>
              </a: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Pruning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9802" y="1301431"/>
            <a:ext cx="12175590" cy="227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  <a:spcBef>
                <a:spcPct val="0"/>
              </a:spcBef>
            </a:pPr>
            <a:r>
              <a:rPr lang="en-US" b="true" sz="2524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Core Principle: Domino Effect in Structured Pruning</a:t>
            </a:r>
          </a:p>
          <a:p>
            <a:pPr algn="l">
              <a:lnSpc>
                <a:spcPts val="3635"/>
              </a:lnSpc>
              <a:spcBef>
                <a:spcPct val="0"/>
              </a:spcBef>
            </a:pPr>
          </a:p>
          <a:p>
            <a:pPr algn="l">
              <a:lnSpc>
                <a:spcPts val="3635"/>
              </a:lnSpc>
              <a:spcBef>
                <a:spcPct val="0"/>
              </a:spcBef>
            </a:pPr>
            <a:r>
              <a:rPr lang="en-US" b="true" sz="2524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When a filter is removed from Layer L, all dependent layers must be updated accordingly.</a:t>
            </a:r>
          </a:p>
          <a:p>
            <a:pPr algn="l">
              <a:lnSpc>
                <a:spcPts val="3635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7079" y="428539"/>
            <a:ext cx="9999297" cy="615811"/>
            <a:chOff x="0" y="0"/>
            <a:chExt cx="13332396" cy="8210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396" cy="821085"/>
            </a:xfrm>
            <a:custGeom>
              <a:avLst/>
              <a:gdLst/>
              <a:ahLst/>
              <a:cxnLst/>
              <a:rect r="r" b="b" t="t" l="l"/>
              <a:pathLst>
                <a:path h="821085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21085"/>
                  </a:lnTo>
                  <a:lnTo>
                    <a:pt x="0" y="8210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996" r="0" b="-2627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13332396" cy="96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49"/>
                </a:lnSpc>
              </a:pP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Structure </a:t>
              </a: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Pruning </a:t>
              </a: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1415695" y="3476720"/>
          <a:ext cx="5657850" cy="1257300"/>
        </p:xfrm>
        <a:graphic>
          <a:graphicData uri="http://schemas.openxmlformats.org/presentationml/2006/ole">
            <p:oleObj imgW="6781800" imgH="23876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438294" y="6305723"/>
            <a:ext cx="12879790" cy="273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  <a:spcBef>
                <a:spcPct val="0"/>
              </a:spcBef>
            </a:pPr>
            <a:r>
              <a:rPr lang="en-US" b="true" sz="2524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Key Insight</a:t>
            </a:r>
          </a:p>
          <a:p>
            <a:pPr algn="l" marL="545059" indent="-272529" lvl="1">
              <a:lnSpc>
                <a:spcPts val="3635"/>
              </a:lnSpc>
              <a:buFont typeface="Arial"/>
              <a:buChar char="•"/>
            </a:pPr>
            <a:r>
              <a:rPr lang="en-US" b="true" sz="2524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Filter Pruning at Layer L and Channel Pruning at Layer L+1 are two aspects of the same physical pruning operation.</a:t>
            </a:r>
          </a:p>
          <a:p>
            <a:pPr algn="l" marL="545059" indent="-272529" lvl="1">
              <a:lnSpc>
                <a:spcPts val="3635"/>
              </a:lnSpc>
              <a:buFont typeface="Arial"/>
              <a:buChar char="•"/>
            </a:pPr>
            <a:r>
              <a:rPr lang="en-US" b="true" sz="2524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Maintaining tensor consistency becomes particularly challenging in architectures containing skip connections and concatenation operations, such as the PANet used in YOLOv5.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428539"/>
            <a:ext cx="9999297" cy="615811"/>
            <a:chOff x="0" y="0"/>
            <a:chExt cx="13332396" cy="821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2396" cy="821085"/>
            </a:xfrm>
            <a:custGeom>
              <a:avLst/>
              <a:gdLst/>
              <a:ahLst/>
              <a:cxnLst/>
              <a:rect r="r" b="b" t="t" l="l"/>
              <a:pathLst>
                <a:path h="821085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21085"/>
                  </a:lnTo>
                  <a:lnTo>
                    <a:pt x="0" y="8210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96" r="0" b="-26278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42875"/>
              <a:ext cx="13332396" cy="96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49"/>
                </a:lnSpc>
              </a:pP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Structure </a:t>
              </a: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Pruning Workflow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5657" y="1049922"/>
            <a:ext cx="1185634" cy="42853"/>
            <a:chOff x="0" y="0"/>
            <a:chExt cx="1580845" cy="571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0896" cy="57150"/>
            </a:xfrm>
            <a:custGeom>
              <a:avLst/>
              <a:gdLst/>
              <a:ahLst/>
              <a:cxnLst/>
              <a:rect r="r" b="b" t="t" l="l"/>
              <a:pathLst>
                <a:path h="57150" w="1580896">
                  <a:moveTo>
                    <a:pt x="0" y="0"/>
                  </a:moveTo>
                  <a:lnTo>
                    <a:pt x="1580896" y="571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88993" r="3" b="-488971"/>
              </a:stretch>
            </a:blipFill>
            <a:ln w="42854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713108" y="9713605"/>
            <a:ext cx="1071353" cy="357121"/>
            <a:chOff x="0" y="0"/>
            <a:chExt cx="1428471" cy="4761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8471" cy="476157"/>
            </a:xfrm>
            <a:custGeom>
              <a:avLst/>
              <a:gdLst/>
              <a:ahLst/>
              <a:cxnLst/>
              <a:rect r="r" b="b" t="t" l="l"/>
              <a:pathLst>
                <a:path h="476157" w="1428471">
                  <a:moveTo>
                    <a:pt x="0" y="0"/>
                  </a:moveTo>
                  <a:lnTo>
                    <a:pt x="1428471" y="0"/>
                  </a:lnTo>
                  <a:lnTo>
                    <a:pt x="1428471" y="476157"/>
                  </a:lnTo>
                  <a:lnTo>
                    <a:pt x="0" y="476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4" r="0" b="-84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428471" cy="552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5"/>
                </a:lnSpc>
              </a:pPr>
              <a:r>
                <a:rPr lang="en-US" sz="1574">
                  <a:solidFill>
                    <a:srgbClr val="64748B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05 / 07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36981" y="1769620"/>
            <a:ext cx="15722319" cy="615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STEP 1 : S</a:t>
            </a: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ensitivity Analysis</a:t>
            </a:r>
          </a:p>
          <a:p>
            <a:pPr algn="l">
              <a:lnSpc>
                <a:spcPts val="3774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Objective</a:t>
            </a:r>
          </a:p>
          <a:p>
            <a:pPr algn="l" marL="565949" indent="-282975" lvl="1">
              <a:lnSpc>
                <a:spcPts val="3774"/>
              </a:lnSpc>
              <a:buFont typeface="Arial"/>
              <a:buChar char="•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Evaluate the impact of pruning each convolutional layer individually.</a:t>
            </a:r>
          </a:p>
          <a:p>
            <a:pPr algn="l">
              <a:lnSpc>
                <a:spcPts val="3774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Methodology</a:t>
            </a:r>
          </a:p>
          <a:p>
            <a:pPr algn="l" marL="565949" indent="-282975" lvl="1">
              <a:lnSpc>
                <a:spcPts val="3774"/>
              </a:lnSpc>
              <a:buFont typeface="Arial"/>
              <a:buChar char="•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Analyze 60 convolutional layers in YOLOv5s independently.</a:t>
            </a:r>
          </a:p>
          <a:p>
            <a:pPr algn="l" marL="565949" indent="-282975" lvl="1">
              <a:lnSpc>
                <a:spcPts val="3774"/>
              </a:lnSpc>
              <a:buFont typeface="Arial"/>
              <a:buChar char="•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Evaluate three pruning ratios:</a:t>
            </a:r>
          </a:p>
          <a:p>
            <a:pPr algn="l" marL="1131898" indent="-377299" lvl="2">
              <a:lnSpc>
                <a:spcPts val="3774"/>
              </a:lnSpc>
              <a:buFont typeface="Arial"/>
              <a:buChar char="⚬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25%</a:t>
            </a:r>
          </a:p>
          <a:p>
            <a:pPr algn="l" marL="1131898" indent="-377299" lvl="2">
              <a:lnSpc>
                <a:spcPts val="3774"/>
              </a:lnSpc>
              <a:buFont typeface="Arial"/>
              <a:buChar char="⚬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50%</a:t>
            </a:r>
          </a:p>
          <a:p>
            <a:pPr algn="l" marL="1131898" indent="-377299" lvl="2">
              <a:lnSpc>
                <a:spcPts val="3774"/>
              </a:lnSpc>
              <a:buFont typeface="Arial"/>
              <a:buChar char="⚬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75%</a:t>
            </a:r>
          </a:p>
          <a:p>
            <a:pPr algn="l" marL="565949" indent="-282975" lvl="1">
              <a:lnSpc>
                <a:spcPts val="3774"/>
              </a:lnSpc>
              <a:buFont typeface="Arial"/>
              <a:buChar char="•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Perform 180 evaluations (60 × 3).</a:t>
            </a:r>
          </a:p>
          <a:p>
            <a:pPr algn="l">
              <a:lnSpc>
                <a:spcPts val="3774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Importance Criterion</a:t>
            </a:r>
          </a:p>
          <a:p>
            <a:pPr algn="l" marL="565949" indent="-282975" lvl="1">
              <a:lnSpc>
                <a:spcPts val="3774"/>
              </a:lnSpc>
              <a:buFont typeface="Arial"/>
              <a:buChar char="•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L2-norm of convolution filters</a:t>
            </a:r>
          </a:p>
          <a:p>
            <a:pPr algn="l" marL="565949" indent="-282975" lvl="1">
              <a:lnSpc>
                <a:spcPts val="3774"/>
              </a:lnSpc>
              <a:buFont typeface="Arial"/>
              <a:buChar char="•"/>
            </a:pPr>
            <a:r>
              <a:rPr lang="en-US" b="true" sz="2621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Filters with smaller L2 norms are considered less important and are pruned first.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63694" y="2714310"/>
            <a:ext cx="11157042" cy="2318978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7079" y="428539"/>
            <a:ext cx="9999297" cy="615811"/>
            <a:chOff x="0" y="0"/>
            <a:chExt cx="13332396" cy="8210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396" cy="821085"/>
            </a:xfrm>
            <a:custGeom>
              <a:avLst/>
              <a:gdLst/>
              <a:ahLst/>
              <a:cxnLst/>
              <a:rect r="r" b="b" t="t" l="l"/>
              <a:pathLst>
                <a:path h="821085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21085"/>
                  </a:lnTo>
                  <a:lnTo>
                    <a:pt x="0" y="8210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96" r="0" b="-2627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13332396" cy="96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49"/>
                </a:lnSpc>
              </a:pP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Structure </a:t>
              </a: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Pruning Workflow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52581" y="4954456"/>
            <a:ext cx="12065633" cy="4803630"/>
          </a:xfrm>
          <a:custGeom>
            <a:avLst/>
            <a:gdLst/>
            <a:ahLst/>
            <a:cxnLst/>
            <a:rect r="r" b="b" t="t" l="l"/>
            <a:pathLst>
              <a:path h="4803630" w="12065633">
                <a:moveTo>
                  <a:pt x="0" y="0"/>
                </a:moveTo>
                <a:lnTo>
                  <a:pt x="12065633" y="0"/>
                </a:lnTo>
                <a:lnTo>
                  <a:pt x="12065633" y="4803630"/>
                </a:lnTo>
                <a:lnTo>
                  <a:pt x="0" y="4803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27360" y="1475302"/>
            <a:ext cx="7658488" cy="2114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2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STEP 2: </a:t>
            </a:r>
            <a:r>
              <a:rPr lang="en-US" b="true" sz="2700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Layer Selection</a:t>
            </a:r>
          </a:p>
          <a:p>
            <a:pPr algn="just">
              <a:lnSpc>
                <a:spcPts val="4212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Layer Ranking Strategy</a:t>
            </a:r>
          </a:p>
          <a:p>
            <a:pPr algn="just">
              <a:lnSpc>
                <a:spcPts val="4212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Each candidate layer is assigned a score:</a:t>
            </a:r>
          </a:p>
          <a:p>
            <a:pPr algn="just">
              <a:lnSpc>
                <a:spcPts val="421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00650" y="4219175"/>
            <a:ext cx="2417118" cy="51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Selected Layers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6407" y="1442080"/>
            <a:ext cx="11432828" cy="660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Pruning Mechanism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</a:p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For each selected layer, three synchronized operations are performed: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Filter Pruning (Layer L)</a:t>
            </a:r>
          </a:p>
          <a:p>
            <a:pPr algn="l" marL="604519" indent="-302260" lvl="1">
              <a:lnSpc>
                <a:spcPts val="4367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Remove low-importance filters based on L2-norm.</a:t>
            </a:r>
          </a:p>
          <a:p>
            <a:pPr algn="l" marL="604519" indent="-302260" lvl="1">
              <a:lnSpc>
                <a:spcPts val="4367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Reduce the number of output channels.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BatchNorm Synchronization</a:t>
            </a:r>
          </a:p>
          <a:p>
            <a:pPr algn="l" marL="604519" indent="-302260" lvl="1">
              <a:lnSpc>
                <a:spcPts val="4367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Update BatchNorm parameters (γ, β, μ, σ²)</a:t>
            </a:r>
          </a:p>
          <a:p>
            <a:pPr algn="l" marL="604519" indent="-302260" lvl="1">
              <a:lnSpc>
                <a:spcPts val="4367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Ensure consistency with the remaining filters.</a:t>
            </a:r>
          </a:p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Channel Pruning (Layer L+1)</a:t>
            </a:r>
          </a:p>
          <a:p>
            <a:pPr algn="l" marL="604519" indent="-302260" lvl="1">
              <a:lnSpc>
                <a:spcPts val="4367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Remove the corresponding input channels.</a:t>
            </a:r>
          </a:p>
          <a:p>
            <a:pPr algn="l" marL="604519" indent="-302260" lvl="1">
              <a:lnSpc>
                <a:spcPts val="4367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Maintain tensor compatibility across consecutive layers.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4428" cy="71428"/>
            <a:chOff x="0" y="0"/>
            <a:chExt cx="24379238" cy="952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79301" cy="95250"/>
            </a:xfrm>
            <a:custGeom>
              <a:avLst/>
              <a:gdLst/>
              <a:ahLst/>
              <a:cxnLst/>
              <a:rect r="r" b="b" t="t" l="l"/>
              <a:pathLst>
                <a:path h="9525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7079" y="428539"/>
            <a:ext cx="9999297" cy="615811"/>
            <a:chOff x="0" y="0"/>
            <a:chExt cx="13332396" cy="8210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396" cy="821085"/>
            </a:xfrm>
            <a:custGeom>
              <a:avLst/>
              <a:gdLst/>
              <a:ahLst/>
              <a:cxnLst/>
              <a:rect r="r" b="b" t="t" l="l"/>
              <a:pathLst>
                <a:path h="821085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21085"/>
                  </a:lnTo>
                  <a:lnTo>
                    <a:pt x="0" y="8210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996" r="0" b="-2627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13332396" cy="963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49"/>
                </a:lnSpc>
              </a:pP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Structure </a:t>
              </a:r>
              <a:r>
                <a:rPr lang="en-US" sz="3749" b="true">
                  <a:solidFill>
                    <a:srgbClr val="1E293B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Pruning Workflow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085680" y="3285613"/>
            <a:ext cx="5749661" cy="5810504"/>
          </a:xfrm>
          <a:custGeom>
            <a:avLst/>
            <a:gdLst/>
            <a:ahLst/>
            <a:cxnLst/>
            <a:rect r="r" b="b" t="t" l="l"/>
            <a:pathLst>
              <a:path h="5810504" w="5749661">
                <a:moveTo>
                  <a:pt x="0" y="0"/>
                </a:moveTo>
                <a:lnTo>
                  <a:pt x="5749661" y="0"/>
                </a:lnTo>
                <a:lnTo>
                  <a:pt x="5749661" y="5810504"/>
                </a:lnTo>
                <a:lnTo>
                  <a:pt x="0" y="5810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2477" y="4504527"/>
            <a:ext cx="16703047" cy="5674667"/>
          </a:xfrm>
          <a:custGeom>
            <a:avLst/>
            <a:gdLst/>
            <a:ahLst/>
            <a:cxnLst/>
            <a:rect r="r" b="b" t="t" l="l"/>
            <a:pathLst>
              <a:path h="5674667" w="16703047">
                <a:moveTo>
                  <a:pt x="0" y="0"/>
                </a:moveTo>
                <a:lnTo>
                  <a:pt x="16703046" y="0"/>
                </a:lnTo>
                <a:lnTo>
                  <a:pt x="16703046" y="5674667"/>
                </a:lnTo>
                <a:lnTo>
                  <a:pt x="0" y="567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1" t="0" r="-128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288" y="563782"/>
            <a:ext cx="14822329" cy="3300173"/>
          </a:xfrm>
          <a:custGeom>
            <a:avLst/>
            <a:gdLst/>
            <a:ahLst/>
            <a:cxnLst/>
            <a:rect r="r" b="b" t="t" l="l"/>
            <a:pathLst>
              <a:path h="3300173" w="14822329">
                <a:moveTo>
                  <a:pt x="0" y="0"/>
                </a:moveTo>
                <a:lnTo>
                  <a:pt x="14822328" y="0"/>
                </a:lnTo>
                <a:lnTo>
                  <a:pt x="14822328" y="3300173"/>
                </a:lnTo>
                <a:lnTo>
                  <a:pt x="0" y="3300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DAHOH82JJgE</dc:identifier>
  <dcterms:modified xsi:type="dcterms:W3CDTF">2011-08-01T06:04:30Z</dcterms:modified>
  <cp:revision>1</cp:revision>
  <dc:title>Pruning Pipeline for YOLOv5s and DETR.pptx</dc:title>
</cp:coreProperties>
</file>