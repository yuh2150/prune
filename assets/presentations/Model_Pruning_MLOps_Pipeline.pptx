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mở đầu tổng quan về quy trình Pruning mô hình Deep Learning chuẩn MLOps.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0.1 tập trung vào giai đoạn business gathering. Cần chốt ROI và mục tiêu thực tế trước khi đụng vào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0.2 định nghĩa môi trường chạy. Nêu rõ giới hạn VRAM và TDP để định hướng structured vs unstructured pruning.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0.3 đặt các con số KPI cụ thể. Ví dụ latency &lt; 15ms và accuracy drop tối đa 1.0%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0.4 chốt target runtime là ONNX / TensorRT. Tránh tình trạng prune xong không export được sang engine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0.5 khép lại Phase 0 bằng bộ DoD ký kết giữa các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1.1 audit model gốc (ví dụ YOLOv5s mAP50=0.568).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1.2 kiểm tra license và versioning data bằng DVC.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2.1 phân tích kiến trúc model để xác định hot-spot tính toán.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2.2 nhấn mạnh tầm quan trọng của DepGraph để tránh crash tensor khi prune ResNet/YOLO.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2.3 so sánh L1/L2 norm với Taylor expansion (dùng gradient).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2.4 lập Sensitivity Profile để định hướng layer-wise pruning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3.1 quy đổi latency target thành tỷ lệ cắt tỉa FLOPs/Params.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3.2 quyết định dùng First-order Taylor expansion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3.3 so sánh và chọn Global Pruning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4.1 chọn Structured Channel Pruning cho mục tiêu tăng tốc thực tế.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4.2 giải thích tầm quan trọng của Channel Rounding (bội số của 8) cho Tensor 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5.1 fine-tuning phục hồi mAP sau prune.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5.2 sử dụng Knowledge Distillation để kéo mAP về cực cận gốc.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5.3 điều chỉnh hyperparameters phù hợp cho pruned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6.1 bóc tách Inference Latency vs NMS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6.2 minh họa bảng số liệu cụ thể trước và sau khi prune.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7.0 giải thích logic quyết định quay lại loop back hay đi tiếp sang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8.1 export ONNX và tối ưu graph bằng onnxsim.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8.2 đảm bảo sai số số học giữa PyTorch và ONNX &lt; 1e-4.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9.1 biên dịch TensorRT engine FP16.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9.2 quy trình Go-live với A/B testing và Rollback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28 tổng hợp 4 bài học kinh nghiệm và cạm bẫy quan trọng nhất trong MLOps Model Pruning.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058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STANDARD OPERATING PROCEDURE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PRUNING MÔ HÌNH DEEP LEARNING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21488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Requirement Gathering Đến Production Deployment Trên Edge &amp; Server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 gia thực hiện: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&amp; Model Optimization Specialist
</a:t>
            </a:r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minh họa: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YOLOv5 / ResNet50 (PyTorch, ONNX, TensorRT)
</a:t>
            </a:r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bài trình bày: </a:t>
            </a:r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Micro-Slides (1 Slide = 1 Quyết định / 1 Bước chi tiết)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0: REQUIREMENT GATHERING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 Xác Định Yêu Cầu Kinh Doanh (Business Requirements)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bài toán kinh doanh, ngân sách phần cứng và thời hạn hoàn thành dự án optimization.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Tránh việc nén mô hình lãng phí tài nguyên khi không mang lại giá trị kinh tế hoặc vi phạm SLA.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Phỏng vấn Product Owner, tính toán chi phí vận hành (OpEx) và chi phí phần cứng (CapEx).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Jira, Confluence, ROI Calculator Spreadsheet.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use case (ví dụ: Camera giao thông thông minh đếm xe thời gian thực).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Business Requirement Specification (BRS) đã được phê duyệt.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số ROI rõ ràng và ngân sách mua sắm/nâng cấp phần cứng hạ tầng được ký duyệt.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587829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2/28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0: REQUIREMENT GATHERING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 Xác Định Môi Trường Triển Khai (Target Environment)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chi tiết thông số môi trường phần cứng chạy mô hình final (Edge/Server/Mobile).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pruning phụ thuộc trực tiếp vào kiến trúc chip (NVIDIA GPU, ARM CPU, NPU).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thiết bị đích, đo giới hạn RAM, VRAM, TDP power limit và hệ điều hành.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nvidia-smi, lscpu, Jetson Power GUI, Android Profiler.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phần cứng mục tiêu (ví dụ: NVIDIA Jetson Orin Nano 8GB, ARM Cortex-A78).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thông số giới hạn phần cứng (Target Hardware Constraint Profile).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chính xác VRAM giới hạn (&lt; 2GB) và mức tiêu thụ điện tối đa (&lt; 15W).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881743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3/28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0: REQUIREMENT GATHERING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 Thiết Lập Ràng Buộc Kỹ Thuật (Technical Constraints)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lập các KPI định lượng cụ thể: Latency (ms), FPS, Model Size (MB), Accuracy Tolerance.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ranh giới rõ ràng giữa việc tăng tốc độ và giữ chất lượng dự đoán của mô hình.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đổi từ UX SLA thành Latency target và thiết lập ngưỡng chấp nhận suy giảm độ chính xác.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 Analyzer, Benchmark Suite, SLA Matrix.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trải nghiệm người dùng + Chỉ số baseline của mô hình chưa prune.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SLO Kỹ thuật (Ví dụ: Latency &lt; 15ms, FPS &gt; 60, Accuracy drop &lt;= 1.0% mAP).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chỉ số KPI kỹ thuật được tất cả stakeholder đồng thuận và kiểm chứng tính khả thi.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1175657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4/28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0: REQUIREMENT GATHERING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 Xác Định Ràng Buộc Runtime &amp; Framework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Inference Engine và định dạng mô hình sau xuất (ONNX, TensorRT, TFLite, OpenVINO).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số toán tử (operator) sau khi tỉa có thể không tương thích với Inference Engine.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bảng hỗ trợ toán tử (Operator Compatibility Matrix) của target runtime.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Opset Checker, TensorRT Compatibility Guide.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model ban đầu (PyTorch) + Target Hardware.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Target Runtime (Ví dụ: PyTorch -&gt; ONNX Opset 17 -&gt; TensorRT 8.6 Engine).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custom layer/operator của model được Target Runtime hỗ trợ đầy đủ.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1469571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5/28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0: REQUIREMENT GATHERING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Tiêu Chí Hoàn Thành Dự Án (Definition of Done - DoD)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bộ checklist nghiệm thu toàn diện cho toàn bộ dự án Pruning trước khi go-live.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Đảm bảo mô hình nén không chỉ nhanh mà còn ổn định, dễ bảo trì và dễ tích hợp CI/CD.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nhất tiêu chí từ Business, Tech Constraints, Deployment và Code Quality.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Readiness Checklist, Quality Gate.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Tất cả cam kết từ BRS, Hardware Constraints và Technical SLOs.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Definition of Done (DoD) ký duyệt giữa Data Science và MLOps Team.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phải vượt qua 100% các điều kiện trong DoD trước khi nộp bản Final.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1763486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6/28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INPUT MODEL &amp; 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Kiểm Duyệt Nguồn Gốc &amp; Format Model Đầu Vào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chất lượng mô hình pre-trained gốc, kiểm tra format weight và tính toàn vẹn kiến trúc.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 một mô hình chưa hội tụ hoặc bị lỗi weights sẽ dẫn tới sụp đổ độ chính xác hoàn toàn.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checkpoint, kiểm tra tensor shapes, chạy thử 1 epoch validation để xác nhận baseline.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PyTorch, Netron Visualizer, Checkpoint Inspector.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Checkpoint gốc (Ví dụ: YOLOv5s.pt, FP32, mAP50 = 0.568).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Baseline Checkpoint + Bảng thông số baseline gốc chuẩn hóa.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chính xác của checkpoint trùng khớp 100% với báo cáo huấn luyện ban đầu.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205740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7/28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INPUT MODEL &amp; 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Chuẩn Bị Dataset &amp; Kiểm Tra Giấy Phép (Dataset &amp; License)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bị tập dữ liệu chuẩn cho fine-tuning/validation và kiểm tra tính pháp lý của model/data.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cần tập data chuẩn đại diện đúng thực tế và tránh rủi ro bản quyền khi commercialize.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tập Train/Val/Test, kiểm tra License (Apache 2.0, MIT, GPL, AGPL) của codebase gốc.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 (Data Version Control), Albumentations, License Checker.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Dataset + Commercial Usage License Compliance Guidelines.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Pruning Dataset (Train/Val/Test) + License Audit Report.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sạch 100%, không vi phạm license thương mại, dataset có version rõ ràng.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2351314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8/28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MODEL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Phân Tích Kiến Trúc Mô Hình (Architecture Analysis)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chi tiết từng layer trong mạng để tìm các vị trí tiêu tốn nhiều tài nguyên nhất.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cắt tỉa vào các layer chiếm nhiều FLOPs/Params nhất mang lại hiệu quả nén cao nhất.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Đếm số lượng Parameters và FLOPs theo từng tầng Conv, Bottleneck, C3/C2f.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torchinfo, thop (PyTorch-OpCounter), Netron.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PyTorch Model (`model.eval()`).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phân bổ Params &amp; FLOPs chi tiết theo từng Layer / Sub-module.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Bóc tách 100% các layer chiếm &gt; 80% tổng FLOPs của mô hình (thường là Backbone Conv).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2645229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9/28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MODEL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Phân Tích Phụ Thuộc Layer (Dependency Graph - DepGraph)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biểu đồ phụ thuộc liên kết giữa các channel của các layer liên tiếp.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mạng có Residual Connection (Add/Concat) bắt buộc số channel hai đầu phải khớp nhau.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luồng tensor qua mạng để nhóm các kênh liên kết chặt thành các Group Pruning.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Torch-Pruning (`tp.DependencyGraph`), ONNX Graphsurgeon.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Model + Dummy Input Tensor (`torch.randn(1, 3, 640, 640)`).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Graph phân nhóm các channel bị ràng buộc cứng (Pruning Groups).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DepGraph thành công, không gặp lỗi trôi kênh tại các nút Element-wise Add.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2939143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10/28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MODEL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Đo Độ Quan Trọng Trọng Số (Importance Analysis)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và xếp hạng độ quan trọng của từng Filter/Channel trong toàn bộ mạng.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biết chính xác channel nào đóng góp ít nhất cho dự đoán và có thể xóa bỏ an toàn.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L1/L2 Norm (Magnitude) hoặc Taylor Expansion (Gradient * Weight).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Torch-Pruning Evaluators (`tp.importance.TaylorImportance`).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DepGraph + Validation Data Batches (dùng cho Taylor Expansion).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xếp hạng điểm Importance Score cho từng Group Channels trong network.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Importance Score hoàn chỉnh, không chứa giá trị bất thường (NaN/Inf).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3233057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11/28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MODEL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Phân Tích Mức Độ Nhạy Cảm Layer (Sensitivity Analysis)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lường mức độ suy giảm accuracy khi cắt tỉa từng layer ở các tỷ lệ khác nhau (10%-90%).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layer có độ nhạy cảm khác nhau; layer nhạy cảm cao cần tỉa ít hơn để tránh sụp đổ accuracy.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 thử nghiệm từng tầng độc lập, đo accuracy lập tức trên tập Val mà chưa fine-tune.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Sensitivity Profiler Script.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Model Checkpoint + Validation Dataset.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 Sensitivity Curve (Accuracy Drop vs Pruning Ratio từng layer).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loại rõ ràng nhóm "Sensitive Layers" (gắn ngưỡng prune thấp) và "Robust Layers".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3526971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12/28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PRUNING SELECTION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Xác Định Mục Tiêu Cắt Tỉa (Pruning Targets)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đổi mục tiêu Latency/Size từ Phase 0 thành con số tỷ lệ FLOPs và Parameters cần tỉa.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 toán pruning hoạt động dựa trên chỉ số FLOPs/Params chứ không đo trực tiếp ms.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toán tuyến tính ước lượng: Giảm 35% FLOPs kỳ vọng mang lại ~30-37% giảm Latency.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FLOPs Estimator, Metric Mapping Sheet.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Latency (&lt;15ms) + Baseline Stats (7.2M params, 16.5 GFLOPs).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Pruning Metric (Ví dụ: Giảm 35% FLOPs, giảm 40% Parameters).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lệ cắt tỉa lý thuyết thỏa mãn yêu cầu tăng tốc trên phần cứng target.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3820886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13/28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PRUNING SELECTION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Lựa Chọn Tiêu Chí Cắt Tỉa (Selection Criterion)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Lựa chọn công thức toán học dùng làm căn cứ chọn kênh loại bỏ (Magnitude vs Gradient).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 Norm nhanh nhưng mù tịt về task loss; Taylor Expansion (Gradient) chuẩn xác hơn nhiều.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độ phức tạp: Chọn Taylor Expansion khi mô hình nhỏ/trung bình và cần độ chính xác cao.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Torch-Pruning Criteria Configuration.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Curve + Ngân sách thời gian tính toán của dự án.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Criterion (Ví dụ: First-order Taylor Expansion Criterion).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được chọn đã được kiểm chứng giữ được thông tin quan trọng của nhiệm vụ.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411480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14/28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PRUNING SELECTION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Phân Bổ Tỉ Lệ Pruning (Global vs Local Strategy)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chiến lược phân bổ tỷ lệ tỉa: Global Pruning (xét toàn mạng) hay Local (cố định từng tầng).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Pruning tự động điều chỉnh kênh loại bỏ dựa trên tầm quan trọng tương đối giữa các layer.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Gộp tất cả Importance Scores vào một mảng toàn cục và sắp xếp để lấy ngưỡng threshold.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Pruner Scheduler.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Profile + Global Importance Score Matrix.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phân bổ Pruning Ratio theo từng tầng (Per-layer Ratio Assignment Map).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layer có độ nhạy cảm cao tự động giữ lại tỷ lệ kênh cao hơn các layer linh hoạt.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4408714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15/28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MODEL PRUNING EXECUTION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Thực Thi Cắt Tỉa: Structured vs Unstructured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phương pháp thực thi tỉa: Structured (xóa nguyên Channel/Filter) hay Unstructured.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tỉa weight lẻ tạo ma trận thưa (Sparse) nhưng KHÔNG tăng tốc được trên GPU thông thường.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Structured Channel Pruning để thu nhỏ kích thước tensor vật lý của mô hình.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Torch-Pruning MetaPruner (`tp.pruner.MetaPruner`).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Hardware (NVIDIA Jetson) + Model PyTorch + Pruning Plan.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Physically Pruned PyTorch Model (Kích thước tensor thay đổi thực sự).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sau tỉa thu nhỏ kích thước ma trận thực sự và vẫn thực hiện được Forward Pass.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4702629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16/28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MODEL PRUNING EXECUTION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Trade-off Hiệu Năng Thực Tế Trên Hardware Target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số lượng channel sau tỉa phù hợp với kiến trúc phần cứng (Tensor Alignment).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GPU/TensorRT hoạt động tối ưu khi số kênh là bội số của 8 hoặc 16 (FP16 / INT8 Tensor Cores).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tròn số kênh remaining sau prune về bội số của 8 gần nhất (Channel Rounding).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Torch-Pruning Channel Aligner (`round_to=8`).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Pruned Model Plan + Hardware Tensor Core Alignment Requirement.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Hardware-Aligned Pruned Model (Số kênh mọi lớp Conv đều chia hết cho 8).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các lớp Conv có số channel chia hết cho 8, đảm bảo tận dụng 100% Tensor Cores.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4996543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17/28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MODEL RECOVERY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Khôi Phục Độ Chính Xác Qua Fine-Tuning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 lại mô hình sau khi tỉa để các trọng số còn lại thích nghi và phục hồi accuracy.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cắt tỉa, mAP thường suy giảm nặng (ví dụ: từ 56.8% xuống 42.0%), cần fine-tune để hồi phục.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Retrain 5-10 epochs với Learning Rate thấp hơn và dùng Cosine Annealing.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Training Loop, SGD / AdamW Optimizer.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Pruned Model Checkpoint + Training Dataset.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Model Checkpoint (Độ chính xác hồi phục đáng kể).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chính xác mAP khôi phục lại đạt ít nhất &gt; 95% so với mô hình gốc.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5290457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18/28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MODEL RECOVERY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Kỹ Thuật Khôi Phục Nâng Cao (Distillation &amp; Rewarming)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Knowledge Distillation (KD) và Learning Rate Rewarming để tối ưu hóa recovery.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mô hình gốc làm "Teacher" hướng dẫn model pruned "Student" giúp khôi phục nhanh hơn 2x.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tổng Loss = Hard Label Loss + Distillation Loss (KL Divergence / Feature Map Loss).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Knowledge Distillation Framework.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Unpruned Teacher Model + Pruned Student Model + Train Data.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Recovered Pruned Model (Đạt mAP tiệm cận hoàn toàn model gốc).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Rút ngắn 50% số epochs retrain và mAP phục hồi tốt hơn 1.5% so với retrain thường.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5584371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19/28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MODEL RECOVERY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Tối Ưu Siêu Tham Số Trong Giai Đoạn Recovery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Tinh chỉnh bộ hyperparameter (Learning Rate, Weight Decay, Augmentation) riêng cho recovery.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sau nén có dung lượng nhỏ hơn nên dễ bị overfitting nếu giữ nguyên weight decay gốc.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Weight Decay xuống 50%, giảm LR ban đầu 10x và giảm nhẹ mức độ Data Augmentation.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 Tune, Optuna, YOLOv5 Hyperparameter Config.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Pruned Model Architecture + Recovery Hyperparameter Search Space.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Recovery Hyperparameter Profile (`hyp.prune.yaml`).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hội tụ mượt mà, không gặp hiện tượng nổ gradient hoặc dao động loss.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5878286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20/28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BENCHMARK &amp; VALIDATION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Đo Đạc Metrics &amp; Decoupled Latency (Inference vs NMS)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hiện đo đạc khách quan toàn bộ chỉ số hiệu năng và bóc tách latency.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NMS (Post-processing) chạy trên CPU có thể là nút thắt cổ chai làm mờ đi hiệu quả prune GPU.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độc lập: (1) Forward Pass Latency trên GPU và (2) NMS / Post-processing Latency.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CUDA Events, Decoupled Profiling Benchmark Script.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Pruned Model + Target Hardware + Test Set.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Decoupled Latency &amp; Metrics Report (Độ chính xác, Latency, FPS, Memory).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Pass Latency giảm tỷ lệ thuận với lượng FLOPs được cắt giảm.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617220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21/28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BENCHMARK &amp; VALIDATION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So Sánh Đối Chiếu Metrics Trước/Sau Pruning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Số Liệu So Sánh Minh Họa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Model: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7.2M Params | 16.5G FLOPs | mAP50: 56.8% | Latency: 22.4ms | Size: 14.4MB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Pruned Model: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4.3M Params (-40%) | 10.7G FLOPs (-35%) | mAP50: 55.6% (-1.2%) | Latency: 14.1ms (-37%) | Size: 8.6MB (-40%)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chung: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37% Latency thực tế và 40% dung lượng trong khi độ chính xác chỉ giảm 1.2%.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Benchmark Report Generator.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đo đạc thực tế từ Baseline và Pruned Checkpoints.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đối chiếu tổng hợp Comprehensive Benchmark Metrics Table.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Đạt target Latency &lt; 15ms và sụt giảm mAP &lt;= 1.5% (Thực tế chỉ giảm 1.2%).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6466114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22/28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7: DECISION GATE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 Điểm Quyết Định "TARGET MET?" (Loop-back vs Export)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Luồng Quyết Định (Decision Logic)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xem mô hình pruned có đạt đủ điều kiện để đi tiếp sang Export hay phải Loop-back.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Fail 1: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drop &gt; 1.5% -&gt; Loop-back Phase 3: Giảm Pruning Ratio hoặc đổi sang Taylor Importance.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Fail 2: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vẫn &gt; 15ms -&gt; Loop-back Phase 3: Tăng tỷ lệ tỉa ở các layer ít nhạy cảm.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Decision Gate Script.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Kiện Pass Để Đi Tiếp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Accuracy: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drop = 1.2% (ĐẠT tolerance &lt;= 1.5%).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Latency: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= 14.1ms (ĐẠT target &lt; 15ms).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Model Size: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= 8.6MB (ĐẠT target &lt; 10MB).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Authorization Sign-off -&gt; Cho phép chuyển sang Phase 8 (Export).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6760029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23/28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8: EXPORT &amp; VERIFICATION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 Xuất Mô Hình ONNX &amp; Graph Optimization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Xuất mô hình PyTorch pruned sang định dạng chuẩn ONNX và tối ưu hóa đồ thị tính toán.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dạng ONNX giúp loại bỏ phụ thuộc PyTorch và cho phép biên dịch sang các Inference Engine.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với Opset 17, thực hiện Constant Folding, Fuse Conv+BN và xóa node thừa.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`torch.onnx.export`, ONNX Simplifier (`onnxsim`), ONNX Optimizer.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PyTorch Model Checkpoint (.pt) đã được nghiệm thu.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`.onnx` Model File đã làm sạch graph.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ONNX hợp lệ, chạy qua `onnx.checker.check_model()` không phát sinh lỗi.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7053943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24/28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8: EXPORT &amp; VERIFICATION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 Kiểm Tra Phù Hợp Sai Số Số Học (Numeric Verification)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đầu ra giữa PyTorch model gốc và ONNX model để đảm bảo tính đồng nhất số học.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Quá trình export/graph optimization có thể gây ra hiện tượng lệch số liệu (Numerical Drift).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cùng 1000 mẫu ngẫu nhiên vào cả 2 model, tính L1/L2 Max Error và Cosine Similarity.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`np.testing.assert_allclose`, ONNX Runtime Python API.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Checkpoint + ONNX Model File + Test Input Tensors.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Numerical Divergence Report (L1 Max Error &lt; 1e-4).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số tuyệt đối tối đa giữa PyTorch và ONNX &lt; 1e-4 trên 100% mẫu thử.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7347857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25/28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9: DEPLOYMENT &amp; GO-LIVE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 Biên Dịch TensorRT Engine &amp; Triển Khai Edge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Biên dịch ONNX model thành TensorRT Plan Engine chạy tối ưu nhất trên phần cứng GPU target.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TensorRT thực hiện layer fusion và chọn CUDA kernel tối ưu nhất cho thiết bị cụ thể.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`trtexec` để biên dịch sang FP16 precision engine trên thiết bị Jetson/GPU thật.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TensorRT `trtexec`, DeepStream SDK / Triton Server.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`.onnx` Model + Target Hardware Environment.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TensorRT Binary Engine File (`model_fp16.engine`).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nạp thành công vào C++ Inference Runtime và đạt tốc độ FPS &gt; 60 ổn định.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7641771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26/28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9: DEPLOYMENT &amp; GO-LIVE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 Production Go-Live Checklist &amp; Monitoring Plan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Hoạt Động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gì: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hiện quy trình go-live an toàn với A/B Testing, Canary Release và giám sát realtime.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Đảm bảo mô hình pruned hoạt động ổn định trên traffic thật và có phương án cấp cứu lập tức.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làm: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hướng 10% traffic sang model pruned, theo dõi latency, CPU/GPU load và prediction distribution.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Prometheus, Grafana, Feature Flags / Traffic Splitter.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&amp; Gate 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cần: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Engine File + Readiness Infrastructure + Rollback Script.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tạo: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Release Approval + Active Canary Deployment.
</a:t>
            </a:r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Pass: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không phát sinh bất kỳ lỗi dị thường nào trong 48h, sẵn sàng scale 100% traffic.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7935686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27/28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10: LESSONS LEARNED &amp; PITFALLS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 Bài Học Kinh Nghiệm &amp; Cạm Bẫy Thường Gặp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Cạm Bẫy Kỹ Thuật 1 &amp;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Over-Pruning: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Tỉa quá aggressive (&gt; 60% 1 lần) gây sụp đổ không gian biểu diễn. Giải pháp: Prune lặp lại từng bước nhỏ (Iterative Pruning).
</a:t>
            </a:r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Quên Retrain: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Xuất mô hình trực tiếp sau tỉa mà không fine-tune. Giải pháp: Luôn luôn dành ít nhất 5-10 epochs để recovery accuracy.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Cạm Bẫy Kỹ Thuật 3 &amp; 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03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Trôi Kênh Layer: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Cắt tỉa lệch channel tại các nút Residual Add gây crash tensor. Giải pháp: Bắt buộc dùng DepGraph để đồng bộ nhóm kênh.
</a:t>
            </a:r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Unstructured Mis-fit: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Unstructured Pruning nhưng kỳ vọng tăng tốc trên GPU chuẩn. Giải pháp: Luôn chọn Structured Channel Pruning cho production speedup.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773168"/>
            <a:ext cx="822960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Pruning MLOps Pipeline | Micro-Slide 28/28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2026-08-27T07:37:10Z</dcterms:created>
  <dcterms:modified xsi:type="dcterms:W3CDTF">2026-08-27T07:37:10Z</dcterms:modified>
</cp:coreProperties>
</file>